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22f435-fa66-652e-1901-4b72314dee33}">
          <p14:sldIdLst>
            <p14:sldId id="256"/>
          </p14:sldIdLst>
        </p14:section>
        <p14:section name="Customer side of the canvas" id="{38b23651-7aa8-cf79-cbf9-6fcd943b78d1}">
          <p14:sldIdLst>
            <p14:sldId id="257"/>
            <p14:sldId id="258"/>
            <p14:sldId id="259"/>
            <p14:sldId id="260"/>
            <p14:sldId id="261"/>
            <p14:sldId id="262"/>
          </p14:sldIdLst>
        </p14:section>
        <p14:section name="Close" id="{c90c3b94-cd9a-94d7-ef6d-083779e7c7a5}">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15 seconds). Introduce the group and the idea name. Before presenting: replace 'Group [number]' and '[Member names]' with your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under 1 minute. Idea: students in dormitories have no easy way to wash and dry clothes. WashGo collects the bag at the dorm, a partner laundry washes, dries and folds it, and we return it within 48 hours. Changes after Task 2 feedback: we narrowed the scope to three dormitories, switched from buying machines to a partner laundry, moved from per-kg to per-bag pricing because interviewees found per-kg confusing, and replaced on-demand delivery with two fixed slots to keep courier costs down. REPLACE: make these four changes match the feedback your group actually received in Task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Our customers are people who need clean clothes but lack time, machines or space. Segment type is segmented: the groups are related, but differ in how much they will pay, where we reach them and which extras they want, so each would need a slightly different offer. We serve dorm students first: they are concentrated in a few buildings, which makes pick-up cheap; their pain was strongest in our interviews; and we can reach them ourselves. B2B (dorm administrations and hostels) is a later option, not part of the first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Read the sentence once, slowly. It follows the Week 3 template: For [customer] who [problem], our [product] [benefit]. Unlike [alternative], we [difference]. Pains come from the interviews: queues and broken machines, no drying space, time spent hand-washing. Gains: time back, a predictable schedule and a fixed price. The main value elements are convenience, getting the job done 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for both blocks. Channels: mostly owned and direct. Students already live in dorm Telegram groups, so the bot is where they hear about us, check prices, order and pay. Partners handle payments (Click, Payme) and the washing itself. We chose owned channels because they cost little to start and keep us close to the customer. Relationships: to win the first customers we use personal assistance (ambassadors, a launch-day stand, referrals). To keep them we automate: reminders, saved preferences and a monthly plan. To grow, we sell add-ons and use ratings after each order (co-creation).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student pays, usually from their own allowance, sometimes with parents' money. They pay for wash, dry and fold of one bag. Two streams: a transaction usage fee (45,000 UZS per bag) and a recurring monthly plan (160,000 UZS for 4 bags). Link to Task 2: each single bag leaves 15,000 UZS contribution (33%), each plan bag 10,000 UZS (25%). Courier cost only works if we batch about 15 bags per trip, which is why we start with dense dormitories. REPLACE: put your real Task 2 unit economics into this table if they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Segments and the value proposition rest on our Task 2 interviews. Channels are half evidence, half assumption. Relationships and revenue are assumptions. We are least sure about revenue: interviewees described the pain, but none has paid. Following The Mom Test, we will ask for a commitment: a two-week pre-sale in one dorm at full price. REPLACE: change '6 of 8' and 'all 8' to the real numbers from your Task 2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Summarise the five customer-side blocks on the canvas and open for questions. Every group member should be ready to answer questions on any block, especially the revenue test and why dorm students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246120"/>
            <a:ext cx="6949440" cy="1097280"/>
          </a:xfrm>
          <a:prstGeom prst="rect">
            <a:avLst/>
          </a:prstGeom>
          <a:noFill/>
          <a:ln/>
        </p:spPr>
        <p:txBody>
          <a:bodyPr wrap="square" rtlCol="0"/>
          <a:lstStyle>
            <a:lvl1pPr algn="l" indent="0" marL="0">
              <a:buNone/>
              <a:defRPr lang="en-US" sz="2400" dirty="0">
                <a:solidFill>
                  <a:schemeClr val="accent6"/>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UMMARY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32688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WashGo  ·  Task 3: Business Model Canvas I (Customer side)</a:t>
            </a:r>
            <a:endParaRPr lang="en-US" sz="1000" dirty="0"/>
          </a:p>
        </p:txBody>
      </p:sp>
      <p:sp>
        <p:nvSpPr>
          <p:cNvPr id="3" name="Text 1"/>
          <p:cNvSpPr/>
          <p:nvPr>
            <p:ph idx="101" type="title" hasCustomPrompt="1"/>
          </p:nvPr>
        </p:nvSpPr>
        <p:spPr>
          <a:xfrm>
            <a:off x="548640" y="365760"/>
            <a:ext cx="932688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280160"/>
          </a:xfrm>
          <a:prstGeom prst="rect">
            <a:avLst/>
          </a:prstGeom>
          <a:noFill/>
          <a:ln/>
        </p:spPr>
        <p:txBody>
          <a:bodyPr wrap="square" lIns="0" tIns="0" rIns="0" bIns="0" rtlCol="0" anchor="b"/>
          <a:lstStyle/>
          <a:p>
            <a:pPr algn="l" indent="0" marL="0">
              <a:buNone/>
            </a:pPr>
            <a:r>
              <a:rPr lang="en-US" sz="6000" b="1" dirty="0">
                <a:solidFill>
                  <a:schemeClr val="bg1"/>
                </a:solidFill>
              </a:rPr>
              <a:t>WashGo</a:t>
            </a:r>
            <a:endParaRPr lang="en-US" sz="6000" dirty="0"/>
          </a:p>
        </p:txBody>
      </p:sp>
      <p:sp>
        <p:nvSpPr>
          <p:cNvPr id="3" name="Text 0"/>
          <p:cNvSpPr/>
          <p:nvPr>
            <p:ph idx="101" type="body" hasCustomPrompt="1"/>
          </p:nvPr>
        </p:nvSpPr>
        <p:spPr>
          <a:xfrm>
            <a:off x="731520" y="3246120"/>
            <a:ext cx="6949440" cy="1097280"/>
          </a:xfrm>
          <a:prstGeom prst="rect">
            <a:avLst/>
          </a:prstGeom>
          <a:noFill/>
          <a:ln/>
        </p:spPr>
        <p:txBody>
          <a:bodyPr wrap="square" lIns="0" tIns="0" rIns="0" bIns="0" rtlCol="0" anchor="t"/>
          <a:lstStyle/>
          <a:p>
            <a:pPr algn="l" indent="0" marL="0">
              <a:buNone/>
            </a:pPr>
            <a:r>
              <a:rPr lang="en-US" sz="2400" dirty="0">
                <a:solidFill>
                  <a:schemeClr val="accent6"/>
                </a:solidFill>
              </a:rPr>
              <a:t>Laundry pick-up for students in Tashkent dormitories</a:t>
            </a:r>
            <a:endParaRPr lang="en-US" sz="2400" dirty="0"/>
          </a:p>
        </p:txBody>
      </p:sp>
      <p:sp>
        <p:nvSpPr>
          <p:cNvPr id="4" name="Text 2"/>
          <p:cNvSpPr txBox="1"/>
          <p:nvPr/>
        </p:nvSpPr>
        <p:spPr>
          <a:xfrm>
            <a:off x="731520" y="4572000"/>
            <a:ext cx="6949440" cy="365760"/>
          </a:xfrm>
          <a:prstGeom prst="rect">
            <a:avLst/>
          </a:prstGeom>
          <a:noFill/>
          <a:ln/>
        </p:spPr>
        <p:txBody>
          <a:bodyPr wrap="square" lIns="0" tIns="0" rIns="0" bIns="0" rtlCol="0" anchor="t"/>
          <a:lstStyle/>
          <a:p>
            <a:pPr indent="0" marL="0">
              <a:buNone/>
            </a:pPr>
            <a:r>
              <a:rPr lang="en-US" sz="1600" b="1" dirty="0">
                <a:solidFill>
                  <a:schemeClr val="bg1"/>
                </a:solidFill>
              </a:rPr>
              <a:t>Task 3 · Business Model Canvas I: the customer side</a:t>
            </a:r>
            <a:endParaRPr lang="en-US" sz="1600" dirty="0"/>
          </a:p>
        </p:txBody>
      </p:sp>
      <p:sp>
        <p:nvSpPr>
          <p:cNvPr id="5" name="Text 3"/>
          <p:cNvSpPr txBox="1"/>
          <p:nvPr/>
        </p:nvSpPr>
        <p:spPr>
          <a:xfrm>
            <a:off x="731520" y="4983480"/>
            <a:ext cx="6949440" cy="365760"/>
          </a:xfrm>
          <a:prstGeom prst="rect">
            <a:avLst/>
          </a:prstGeom>
          <a:noFill/>
          <a:ln/>
        </p:spPr>
        <p:txBody>
          <a:bodyPr wrap="square" lIns="0" tIns="0" rIns="0" bIns="0" rtlCol="0" anchor="t"/>
          <a:lstStyle/>
          <a:p>
            <a:pPr indent="0" marL="0">
              <a:buNone/>
            </a:pPr>
            <a:r>
              <a:rPr lang="en-US" sz="1400" dirty="0">
                <a:solidFill>
                  <a:schemeClr val="accent6"/>
                </a:solidFill>
              </a:rPr>
              <a:t>Group [number]  ·  [Member names]  ·  Entrepreneurship 2026–2027</a:t>
            </a:r>
            <a:endParaRPr lang="en-US" sz="1400" dirty="0"/>
          </a:p>
        </p:txBody>
      </p:sp>
      <p:sp>
        <p:nvSpPr>
          <p:cNvPr id="6" name="Hero circle"/>
          <p:cNvSpPr/>
          <p:nvPr/>
        </p:nvSpPr>
        <p:spPr>
          <a:xfrm>
            <a:off x="8138160" y="1325880"/>
            <a:ext cx="3566160" cy="3566160"/>
          </a:xfrm>
          <a:prstGeom prst="ellipse">
            <a:avLst/>
          </a:prstGeom>
          <a:solidFill>
            <a:schemeClr val="accent1"/>
          </a:solidFill>
          <a:ln/>
        </p:spPr>
      </p:sp>
      <p:pic>
        <p:nvPicPr>
          <p:cNvPr id="7" name="Hero shirt icon" descr="preencoded.png">    </p:cNvPr>
          <p:cNvPicPr>
            <a:picLocks noChangeAspect="1"/>
          </p:cNvPicPr>
          <p:nvPr/>
        </p:nvPicPr>
        <p:blipFill>
          <a:blip r:embed="rId1"/>
          <a:stretch>
            <a:fillRect/>
          </a:stretch>
        </p:blipFill>
        <p:spPr>
          <a:xfrm>
            <a:off x="9006840" y="219456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The idea: we do the laundry for dorm students</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 1 of 7</a:t>
            </a:r>
            <a:endParaRPr lang="en-US" sz="1200" dirty="0"/>
          </a:p>
        </p:txBody>
      </p:sp>
      <p:sp>
        <p:nvSpPr>
          <p:cNvPr id="4" name="Idea card"/>
          <p:cNvSpPr/>
          <p:nvPr/>
        </p:nvSpPr>
        <p:spPr>
          <a:xfrm>
            <a:off x="548640" y="1371600"/>
            <a:ext cx="6035040" cy="1417320"/>
          </a:xfrm>
          <a:prstGeom prst="roundRect">
            <a:avLst>
              <a:gd name="adj" fmla="val 7742"/>
            </a:avLst>
          </a:prstGeom>
          <a:solidFill>
            <a:schemeClr val="bg2"/>
          </a:solidFill>
          <a:ln/>
        </p:spPr>
      </p:sp>
      <p:sp>
        <p:nvSpPr>
          <p:cNvPr id="5" name="Text 3"/>
          <p:cNvSpPr txBox="1"/>
          <p:nvPr/>
        </p:nvSpPr>
        <p:spPr>
          <a:xfrm>
            <a:off x="777240" y="1554480"/>
            <a:ext cx="5577840" cy="1097280"/>
          </a:xfrm>
          <a:prstGeom prst="rect">
            <a:avLst/>
          </a:prstGeom>
          <a:noFill/>
          <a:ln/>
        </p:spPr>
        <p:txBody>
          <a:bodyPr wrap="square" lIns="0" tIns="0" rIns="0" bIns="0" rtlCol="0" anchor="ctr"/>
          <a:lstStyle/>
          <a:p>
            <a:pPr indent="0" marL="0">
              <a:buNone/>
            </a:pPr>
            <a:r>
              <a:rPr lang="en-US" sz="1800" b="1" dirty="0">
                <a:solidFill>
                  <a:schemeClr val="tx2"/>
                </a:solidFill>
              </a:rPr>
              <a:t>Students order in our Telegram bot. </a:t>
            </a:r>
            <a:pPr indent="0" marL="0">
              <a:buNone/>
            </a:pPr>
            <a:r>
              <a:rPr lang="en-US" sz="1800" dirty="0">
                <a:solidFill>
                  <a:schemeClr val="tx1"/>
                </a:solidFill>
              </a:rPr>
              <a:t>We collect the bag at the dorm entrance, a partner laundry washes, dries and folds it, and we bring it back within 48 hours.</a:t>
            </a:r>
            <a:endParaRPr lang="en-US" sz="1800" dirty="0"/>
          </a:p>
        </p:txBody>
      </p:sp>
      <p:sp>
        <p:nvSpPr>
          <p:cNvPr id="6" name="Step 1 circle"/>
          <p:cNvSpPr/>
          <p:nvPr/>
        </p:nvSpPr>
        <p:spPr>
          <a:xfrm>
            <a:off x="886968" y="3429000"/>
            <a:ext cx="731520" cy="731520"/>
          </a:xfrm>
          <a:prstGeom prst="ellipse">
            <a:avLst/>
          </a:prstGeom>
          <a:solidFill>
            <a:schemeClr val="accent1"/>
          </a:solidFill>
          <a:ln/>
        </p:spPr>
      </p:sp>
      <p:pic>
        <p:nvPicPr>
          <p:cNvPr id="7" name="Step 1 icon" descr="preencoded.png">    </p:cNvPr>
          <p:cNvPicPr>
            <a:picLocks noChangeAspect="1"/>
          </p:cNvPicPr>
          <p:nvPr/>
        </p:nvPicPr>
        <p:blipFill>
          <a:blip r:embed="rId1"/>
          <a:stretch>
            <a:fillRect/>
          </a:stretch>
        </p:blipFill>
        <p:spPr>
          <a:xfrm>
            <a:off x="1062533" y="3604565"/>
            <a:ext cx="380390" cy="380390"/>
          </a:xfrm>
          <a:prstGeom prst="rect">
            <a:avLst/>
          </a:prstGeom>
        </p:spPr>
      </p:pic>
      <p:sp>
        <p:nvSpPr>
          <p:cNvPr id="8" name="Text 5"/>
          <p:cNvSpPr txBox="1"/>
          <p:nvPr/>
        </p:nvSpPr>
        <p:spPr>
          <a:xfrm>
            <a:off x="548640" y="4297680"/>
            <a:ext cx="1417320" cy="320040"/>
          </a:xfrm>
          <a:prstGeom prst="rect">
            <a:avLst/>
          </a:prstGeom>
          <a:noFill/>
          <a:ln/>
        </p:spPr>
        <p:txBody>
          <a:bodyPr wrap="square" lIns="0" tIns="0" rIns="0" bIns="0" rtlCol="0" anchor="t"/>
          <a:lstStyle/>
          <a:p>
            <a:pPr algn="ctr" indent="0" marL="0">
              <a:buNone/>
            </a:pPr>
            <a:r>
              <a:rPr lang="en-US" sz="1500" b="1" dirty="0">
                <a:solidFill>
                  <a:schemeClr val="tx2"/>
                </a:solidFill>
              </a:rPr>
              <a:t>Order</a:t>
            </a:r>
            <a:endParaRPr lang="en-US" sz="1500" dirty="0"/>
          </a:p>
        </p:txBody>
      </p:sp>
      <p:sp>
        <p:nvSpPr>
          <p:cNvPr id="9" name="Text 6"/>
          <p:cNvSpPr txBox="1"/>
          <p:nvPr/>
        </p:nvSpPr>
        <p:spPr>
          <a:xfrm>
            <a:off x="548640" y="4645152"/>
            <a:ext cx="1417320" cy="640080"/>
          </a:xfrm>
          <a:prstGeom prst="rect">
            <a:avLst/>
          </a:prstGeom>
          <a:noFill/>
          <a:ln/>
        </p:spPr>
        <p:txBody>
          <a:bodyPr wrap="square" lIns="0" tIns="0" rIns="0" bIns="0" rtlCol="0" anchor="t"/>
          <a:lstStyle/>
          <a:p>
            <a:pPr algn="ctr" indent="0" marL="0">
              <a:buNone/>
            </a:pPr>
            <a:r>
              <a:rPr lang="en-US" sz="1300" dirty="0">
                <a:solidFill>
                  <a:schemeClr val="accent5"/>
                </a:solidFill>
              </a:rPr>
              <a:t>in the Telegram bot</a:t>
            </a:r>
            <a:endParaRPr lang="en-US" sz="1300" dirty="0"/>
          </a:p>
        </p:txBody>
      </p:sp>
      <p:pic>
        <p:nvPicPr>
          <p:cNvPr id="10" name="Step arrow 1" descr="preencoded.png">    </p:cNvPr>
          <p:cNvPicPr>
            <a:picLocks noChangeAspect="1"/>
          </p:cNvPicPr>
          <p:nvPr/>
        </p:nvPicPr>
        <p:blipFill>
          <a:blip r:embed="rId2"/>
          <a:stretch>
            <a:fillRect/>
          </a:stretch>
        </p:blipFill>
        <p:spPr>
          <a:xfrm>
            <a:off x="1920240" y="3675888"/>
            <a:ext cx="237744" cy="237744"/>
          </a:xfrm>
          <a:prstGeom prst="rect">
            <a:avLst/>
          </a:prstGeom>
        </p:spPr>
      </p:pic>
      <p:sp>
        <p:nvSpPr>
          <p:cNvPr id="11" name="Step 2 circle"/>
          <p:cNvSpPr/>
          <p:nvPr/>
        </p:nvSpPr>
        <p:spPr>
          <a:xfrm>
            <a:off x="2459736" y="3429000"/>
            <a:ext cx="731520" cy="731520"/>
          </a:xfrm>
          <a:prstGeom prst="ellipse">
            <a:avLst/>
          </a:prstGeom>
          <a:solidFill>
            <a:schemeClr val="tx2"/>
          </a:solidFill>
          <a:ln/>
        </p:spPr>
      </p:sp>
      <p:pic>
        <p:nvPicPr>
          <p:cNvPr id="12" name="Step 2 icon" descr="preencoded.png">    </p:cNvPr>
          <p:cNvPicPr>
            <a:picLocks noChangeAspect="1"/>
          </p:cNvPicPr>
          <p:nvPr/>
        </p:nvPicPr>
        <p:blipFill>
          <a:blip r:embed="rId3"/>
          <a:stretch>
            <a:fillRect/>
          </a:stretch>
        </p:blipFill>
        <p:spPr>
          <a:xfrm>
            <a:off x="2635301" y="3604565"/>
            <a:ext cx="380390" cy="380390"/>
          </a:xfrm>
          <a:prstGeom prst="rect">
            <a:avLst/>
          </a:prstGeom>
        </p:spPr>
      </p:pic>
      <p:sp>
        <p:nvSpPr>
          <p:cNvPr id="13" name="Text 8"/>
          <p:cNvSpPr txBox="1"/>
          <p:nvPr/>
        </p:nvSpPr>
        <p:spPr>
          <a:xfrm>
            <a:off x="2121408" y="4297680"/>
            <a:ext cx="1417320" cy="320040"/>
          </a:xfrm>
          <a:prstGeom prst="rect">
            <a:avLst/>
          </a:prstGeom>
          <a:noFill/>
          <a:ln/>
        </p:spPr>
        <p:txBody>
          <a:bodyPr wrap="square" lIns="0" tIns="0" rIns="0" bIns="0" rtlCol="0" anchor="t"/>
          <a:lstStyle/>
          <a:p>
            <a:pPr algn="ctr" indent="0" marL="0">
              <a:buNone/>
            </a:pPr>
            <a:r>
              <a:rPr lang="en-US" sz="1500" b="1" dirty="0">
                <a:solidFill>
                  <a:schemeClr val="tx2"/>
                </a:solidFill>
              </a:rPr>
              <a:t>Pick-up</a:t>
            </a:r>
            <a:endParaRPr lang="en-US" sz="1500" dirty="0"/>
          </a:p>
        </p:txBody>
      </p:sp>
      <p:sp>
        <p:nvSpPr>
          <p:cNvPr id="14" name="Text 9"/>
          <p:cNvSpPr txBox="1"/>
          <p:nvPr/>
        </p:nvSpPr>
        <p:spPr>
          <a:xfrm>
            <a:off x="2121408" y="4645152"/>
            <a:ext cx="1417320" cy="640080"/>
          </a:xfrm>
          <a:prstGeom prst="rect">
            <a:avLst/>
          </a:prstGeom>
          <a:noFill/>
          <a:ln/>
        </p:spPr>
        <p:txBody>
          <a:bodyPr wrap="square" lIns="0" tIns="0" rIns="0" bIns="0" rtlCol="0" anchor="t"/>
          <a:lstStyle/>
          <a:p>
            <a:pPr algn="ctr" indent="0" marL="0">
              <a:buNone/>
            </a:pPr>
            <a:r>
              <a:rPr lang="en-US" sz="1300" dirty="0">
                <a:solidFill>
                  <a:schemeClr val="accent5"/>
                </a:solidFill>
              </a:rPr>
              <a:t>Tue &amp; Fri evenings at the dorm</a:t>
            </a:r>
            <a:endParaRPr lang="en-US" sz="1300" dirty="0"/>
          </a:p>
        </p:txBody>
      </p:sp>
      <p:pic>
        <p:nvPicPr>
          <p:cNvPr id="15" name="Step arrow 2" descr="preencoded.png">    </p:cNvPr>
          <p:cNvPicPr>
            <a:picLocks noChangeAspect="1"/>
          </p:cNvPicPr>
          <p:nvPr/>
        </p:nvPicPr>
        <p:blipFill>
          <a:blip r:embed="rId4"/>
          <a:stretch>
            <a:fillRect/>
          </a:stretch>
        </p:blipFill>
        <p:spPr>
          <a:xfrm>
            <a:off x="3493008" y="3675888"/>
            <a:ext cx="237744" cy="237744"/>
          </a:xfrm>
          <a:prstGeom prst="rect">
            <a:avLst/>
          </a:prstGeom>
        </p:spPr>
      </p:pic>
      <p:sp>
        <p:nvSpPr>
          <p:cNvPr id="16" name="Step 3 circle"/>
          <p:cNvSpPr/>
          <p:nvPr/>
        </p:nvSpPr>
        <p:spPr>
          <a:xfrm>
            <a:off x="4032504" y="3429000"/>
            <a:ext cx="731520" cy="731520"/>
          </a:xfrm>
          <a:prstGeom prst="ellipse">
            <a:avLst/>
          </a:prstGeom>
          <a:solidFill>
            <a:schemeClr val="accent1"/>
          </a:solidFill>
          <a:ln/>
        </p:spPr>
      </p:sp>
      <p:pic>
        <p:nvPicPr>
          <p:cNvPr id="17" name="Step 3 icon" descr="preencoded.png">    </p:cNvPr>
          <p:cNvPicPr>
            <a:picLocks noChangeAspect="1"/>
          </p:cNvPicPr>
          <p:nvPr/>
        </p:nvPicPr>
        <p:blipFill>
          <a:blip r:embed="rId5"/>
          <a:stretch>
            <a:fillRect/>
          </a:stretch>
        </p:blipFill>
        <p:spPr>
          <a:xfrm>
            <a:off x="4208069" y="3604565"/>
            <a:ext cx="380390" cy="380390"/>
          </a:xfrm>
          <a:prstGeom prst="rect">
            <a:avLst/>
          </a:prstGeom>
        </p:spPr>
      </p:pic>
      <p:sp>
        <p:nvSpPr>
          <p:cNvPr id="18" name="Text 11"/>
          <p:cNvSpPr txBox="1"/>
          <p:nvPr/>
        </p:nvSpPr>
        <p:spPr>
          <a:xfrm>
            <a:off x="3694176" y="4297680"/>
            <a:ext cx="1417320" cy="320040"/>
          </a:xfrm>
          <a:prstGeom prst="rect">
            <a:avLst/>
          </a:prstGeom>
          <a:noFill/>
          <a:ln/>
        </p:spPr>
        <p:txBody>
          <a:bodyPr wrap="square" lIns="0" tIns="0" rIns="0" bIns="0" rtlCol="0" anchor="t"/>
          <a:lstStyle/>
          <a:p>
            <a:pPr algn="ctr" indent="0" marL="0">
              <a:buNone/>
            </a:pPr>
            <a:r>
              <a:rPr lang="en-US" sz="1500" b="1" dirty="0">
                <a:solidFill>
                  <a:schemeClr val="tx2"/>
                </a:solidFill>
              </a:rPr>
              <a:t>Wash &amp; fold</a:t>
            </a:r>
            <a:endParaRPr lang="en-US" sz="1500" dirty="0"/>
          </a:p>
        </p:txBody>
      </p:sp>
      <p:sp>
        <p:nvSpPr>
          <p:cNvPr id="19" name="Text 12"/>
          <p:cNvSpPr txBox="1"/>
          <p:nvPr/>
        </p:nvSpPr>
        <p:spPr>
          <a:xfrm>
            <a:off x="3694176" y="4645152"/>
            <a:ext cx="1417320" cy="640080"/>
          </a:xfrm>
          <a:prstGeom prst="rect">
            <a:avLst/>
          </a:prstGeom>
          <a:noFill/>
          <a:ln/>
        </p:spPr>
        <p:txBody>
          <a:bodyPr wrap="square" lIns="0" tIns="0" rIns="0" bIns="0" rtlCol="0" anchor="t"/>
          <a:lstStyle/>
          <a:p>
            <a:pPr algn="ctr" indent="0" marL="0">
              <a:buNone/>
            </a:pPr>
            <a:r>
              <a:rPr lang="en-US" sz="1300" dirty="0">
                <a:solidFill>
                  <a:schemeClr val="accent5"/>
                </a:solidFill>
              </a:rPr>
              <a:t>at a partner laundry</a:t>
            </a:r>
            <a:endParaRPr lang="en-US" sz="1300" dirty="0"/>
          </a:p>
        </p:txBody>
      </p:sp>
      <p:pic>
        <p:nvPicPr>
          <p:cNvPr id="20" name="Step arrow 3" descr="preencoded.png">    </p:cNvPr>
          <p:cNvPicPr>
            <a:picLocks noChangeAspect="1"/>
          </p:cNvPicPr>
          <p:nvPr/>
        </p:nvPicPr>
        <p:blipFill>
          <a:blip r:embed="rId6"/>
          <a:stretch>
            <a:fillRect/>
          </a:stretch>
        </p:blipFill>
        <p:spPr>
          <a:xfrm>
            <a:off x="5065776" y="3675888"/>
            <a:ext cx="237744" cy="237744"/>
          </a:xfrm>
          <a:prstGeom prst="rect">
            <a:avLst/>
          </a:prstGeom>
        </p:spPr>
      </p:pic>
      <p:sp>
        <p:nvSpPr>
          <p:cNvPr id="21" name="Step 4 circle"/>
          <p:cNvSpPr/>
          <p:nvPr/>
        </p:nvSpPr>
        <p:spPr>
          <a:xfrm>
            <a:off x="5605272" y="3429000"/>
            <a:ext cx="731520" cy="731520"/>
          </a:xfrm>
          <a:prstGeom prst="ellipse">
            <a:avLst/>
          </a:prstGeom>
          <a:solidFill>
            <a:schemeClr val="tx2"/>
          </a:solidFill>
          <a:ln/>
        </p:spPr>
      </p:sp>
      <p:pic>
        <p:nvPicPr>
          <p:cNvPr id="22" name="Step 4 icon" descr="preencoded.png">    </p:cNvPr>
          <p:cNvPicPr>
            <a:picLocks noChangeAspect="1"/>
          </p:cNvPicPr>
          <p:nvPr/>
        </p:nvPicPr>
        <p:blipFill>
          <a:blip r:embed="rId7"/>
          <a:stretch>
            <a:fillRect/>
          </a:stretch>
        </p:blipFill>
        <p:spPr>
          <a:xfrm>
            <a:off x="5780837" y="3604565"/>
            <a:ext cx="380390" cy="380390"/>
          </a:xfrm>
          <a:prstGeom prst="rect">
            <a:avLst/>
          </a:prstGeom>
        </p:spPr>
      </p:pic>
      <p:sp>
        <p:nvSpPr>
          <p:cNvPr id="23" name="Text 14"/>
          <p:cNvSpPr txBox="1"/>
          <p:nvPr/>
        </p:nvSpPr>
        <p:spPr>
          <a:xfrm>
            <a:off x="5266944" y="4297680"/>
            <a:ext cx="1417320" cy="320040"/>
          </a:xfrm>
          <a:prstGeom prst="rect">
            <a:avLst/>
          </a:prstGeom>
          <a:noFill/>
          <a:ln/>
        </p:spPr>
        <p:txBody>
          <a:bodyPr wrap="square" lIns="0" tIns="0" rIns="0" bIns="0" rtlCol="0" anchor="t"/>
          <a:lstStyle/>
          <a:p>
            <a:pPr algn="ctr" indent="0" marL="0">
              <a:buNone/>
            </a:pPr>
            <a:r>
              <a:rPr lang="en-US" sz="1500" b="1" dirty="0">
                <a:solidFill>
                  <a:schemeClr val="tx2"/>
                </a:solidFill>
              </a:rPr>
              <a:t>Return</a:t>
            </a:r>
            <a:endParaRPr lang="en-US" sz="1500" dirty="0"/>
          </a:p>
        </p:txBody>
      </p:sp>
      <p:sp>
        <p:nvSpPr>
          <p:cNvPr id="24" name="Text 15"/>
          <p:cNvSpPr txBox="1"/>
          <p:nvPr/>
        </p:nvSpPr>
        <p:spPr>
          <a:xfrm>
            <a:off x="5266944" y="4645152"/>
            <a:ext cx="1417320" cy="640080"/>
          </a:xfrm>
          <a:prstGeom prst="rect">
            <a:avLst/>
          </a:prstGeom>
          <a:noFill/>
          <a:ln/>
        </p:spPr>
        <p:txBody>
          <a:bodyPr wrap="square" lIns="0" tIns="0" rIns="0" bIns="0" rtlCol="0" anchor="t"/>
          <a:lstStyle/>
          <a:p>
            <a:pPr algn="ctr" indent="0" marL="0">
              <a:buNone/>
            </a:pPr>
            <a:r>
              <a:rPr lang="en-US" sz="1300" dirty="0">
                <a:solidFill>
                  <a:schemeClr val="accent5"/>
                </a:solidFill>
              </a:rPr>
              <a:t>within 48 hours</a:t>
            </a:r>
            <a:endParaRPr lang="en-US" sz="1300" dirty="0"/>
          </a:p>
        </p:txBody>
      </p:sp>
      <p:sp>
        <p:nvSpPr>
          <p:cNvPr id="25" name="Changes card"/>
          <p:cNvSpPr/>
          <p:nvPr/>
        </p:nvSpPr>
        <p:spPr>
          <a:xfrm>
            <a:off x="6949440" y="1371600"/>
            <a:ext cx="4709160" cy="4754880"/>
          </a:xfrm>
          <a:prstGeom prst="roundRect">
            <a:avLst>
              <a:gd name="adj" fmla="val 2330"/>
            </a:avLst>
          </a:prstGeom>
          <a:solidFill>
            <a:schemeClr val="bg1"/>
          </a:solidFill>
          <a:ln/>
          <a:effectLst>
            <a:outerShdw sx="100000" sy="100000" kx="0" ky="0" algn="bl" rotWithShape="0" blurRad="76200" dist="25400" dir="5400000">
              <a:srgbClr val="000000">
                <a:alpha val="12000"/>
              </a:srgbClr>
            </a:outerShdw>
          </a:effectLst>
        </p:spPr>
      </p:sp>
      <p:sp>
        <p:nvSpPr>
          <p:cNvPr id="26" name="Text 17"/>
          <p:cNvSpPr txBox="1"/>
          <p:nvPr/>
        </p:nvSpPr>
        <p:spPr>
          <a:xfrm>
            <a:off x="7223760" y="1554480"/>
            <a:ext cx="4206240" cy="365760"/>
          </a:xfrm>
          <a:prstGeom prst="rect">
            <a:avLst/>
          </a:prstGeom>
          <a:noFill/>
          <a:ln/>
        </p:spPr>
        <p:txBody>
          <a:bodyPr wrap="square" lIns="0" tIns="0" rIns="0" bIns="0" rtlCol="0" anchor="t"/>
          <a:lstStyle/>
          <a:p>
            <a:pPr indent="0" marL="0">
              <a:buNone/>
            </a:pPr>
            <a:r>
              <a:rPr lang="en-US" sz="1700" b="1" dirty="0">
                <a:solidFill>
                  <a:schemeClr val="tx2"/>
                </a:solidFill>
              </a:rPr>
              <a:t>What changed after the Task 2 feedback</a:t>
            </a:r>
            <a:endParaRPr lang="en-US" sz="1700" dirty="0"/>
          </a:p>
        </p:txBody>
      </p:sp>
      <p:sp>
        <p:nvSpPr>
          <p:cNvPr id="27" name="Text 18"/>
          <p:cNvSpPr txBox="1"/>
          <p:nvPr/>
        </p:nvSpPr>
        <p:spPr>
          <a:xfrm>
            <a:off x="7223760" y="2103120"/>
            <a:ext cx="4206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SCOPE</a:t>
            </a:r>
            <a:endParaRPr lang="en-US" sz="1100" dirty="0"/>
          </a:p>
        </p:txBody>
      </p:sp>
      <p:sp>
        <p:nvSpPr>
          <p:cNvPr id="28" name="Text 19"/>
          <p:cNvSpPr txBox="1"/>
          <p:nvPr/>
        </p:nvSpPr>
        <p:spPr>
          <a:xfrm>
            <a:off x="7223760" y="2377440"/>
            <a:ext cx="4206240" cy="548640"/>
          </a:xfrm>
          <a:prstGeom prst="rect">
            <a:avLst/>
          </a:prstGeom>
          <a:noFill/>
          <a:ln/>
        </p:spPr>
        <p:txBody>
          <a:bodyPr wrap="square" lIns="0" tIns="0" rIns="0" bIns="0" rtlCol="0" anchor="t"/>
          <a:lstStyle/>
          <a:p>
            <a:pPr indent="0" marL="0">
              <a:buNone/>
            </a:pPr>
            <a:r>
              <a:rPr lang="en-US" sz="1400" strike="sngStrike" dirty="0">
                <a:solidFill>
                  <a:schemeClr val="accent5"/>
                </a:solidFill>
              </a:rPr>
              <a:t>All of Tashkent</a:t>
            </a:r>
            <a:pPr indent="0" marL="0">
              <a:buNone/>
            </a:pPr>
            <a:r>
              <a:rPr lang="en-US" sz="1400" dirty="0">
                <a:solidFill>
                  <a:schemeClr val="accent5"/>
                </a:solidFill>
              </a:rPr>
              <a:t>  →  </a:t>
            </a:r>
            <a:pPr indent="0" marL="0">
              <a:buNone/>
            </a:pPr>
            <a:r>
              <a:rPr lang="en-US" sz="1400" b="1" dirty="0">
                <a:solidFill>
                  <a:schemeClr val="tx1"/>
                </a:solidFill>
              </a:rPr>
              <a:t>3 dormitories near our campus</a:t>
            </a:r>
            <a:endParaRPr lang="en-US" sz="1400" dirty="0"/>
          </a:p>
        </p:txBody>
      </p:sp>
      <p:sp>
        <p:nvSpPr>
          <p:cNvPr id="29" name="Text 20"/>
          <p:cNvSpPr txBox="1"/>
          <p:nvPr/>
        </p:nvSpPr>
        <p:spPr>
          <a:xfrm>
            <a:off x="7223760" y="3090672"/>
            <a:ext cx="4206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WASHING</a:t>
            </a:r>
            <a:endParaRPr lang="en-US" sz="1100" dirty="0"/>
          </a:p>
        </p:txBody>
      </p:sp>
      <p:sp>
        <p:nvSpPr>
          <p:cNvPr id="30" name="Text 21"/>
          <p:cNvSpPr txBox="1"/>
          <p:nvPr/>
        </p:nvSpPr>
        <p:spPr>
          <a:xfrm>
            <a:off x="7223760" y="3364992"/>
            <a:ext cx="4206240" cy="548640"/>
          </a:xfrm>
          <a:prstGeom prst="rect">
            <a:avLst/>
          </a:prstGeom>
          <a:noFill/>
          <a:ln/>
        </p:spPr>
        <p:txBody>
          <a:bodyPr wrap="square" lIns="0" tIns="0" rIns="0" bIns="0" rtlCol="0" anchor="t"/>
          <a:lstStyle/>
          <a:p>
            <a:pPr indent="0" marL="0">
              <a:buNone/>
            </a:pPr>
            <a:r>
              <a:rPr lang="en-US" sz="1400" strike="sngStrike" dirty="0">
                <a:solidFill>
                  <a:schemeClr val="accent5"/>
                </a:solidFill>
              </a:rPr>
              <a:t>Buying our own machines</a:t>
            </a:r>
            <a:pPr indent="0" marL="0">
              <a:buNone/>
            </a:pPr>
            <a:r>
              <a:rPr lang="en-US" sz="1400" dirty="0">
                <a:solidFill>
                  <a:schemeClr val="accent5"/>
                </a:solidFill>
              </a:rPr>
              <a:t>  →  </a:t>
            </a:r>
            <a:pPr indent="0" marL="0">
              <a:buNone/>
            </a:pPr>
            <a:r>
              <a:rPr lang="en-US" sz="1400" b="1" dirty="0">
                <a:solidFill>
                  <a:schemeClr val="tx1"/>
                </a:solidFill>
              </a:rPr>
              <a:t>Partner laundry, no equipment cost</a:t>
            </a:r>
            <a:endParaRPr lang="en-US" sz="1400" dirty="0"/>
          </a:p>
        </p:txBody>
      </p:sp>
      <p:sp>
        <p:nvSpPr>
          <p:cNvPr id="31" name="Text 22"/>
          <p:cNvSpPr txBox="1"/>
          <p:nvPr/>
        </p:nvSpPr>
        <p:spPr>
          <a:xfrm>
            <a:off x="7223760" y="4078224"/>
            <a:ext cx="4206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PRICE</a:t>
            </a:r>
            <a:endParaRPr lang="en-US" sz="1100" dirty="0"/>
          </a:p>
        </p:txBody>
      </p:sp>
      <p:sp>
        <p:nvSpPr>
          <p:cNvPr id="32" name="Text 23"/>
          <p:cNvSpPr txBox="1"/>
          <p:nvPr/>
        </p:nvSpPr>
        <p:spPr>
          <a:xfrm>
            <a:off x="7223760" y="4352544"/>
            <a:ext cx="4206240" cy="548640"/>
          </a:xfrm>
          <a:prstGeom prst="rect">
            <a:avLst/>
          </a:prstGeom>
          <a:noFill/>
          <a:ln/>
        </p:spPr>
        <p:txBody>
          <a:bodyPr wrap="square" lIns="0" tIns="0" rIns="0" bIns="0" rtlCol="0" anchor="t"/>
          <a:lstStyle/>
          <a:p>
            <a:pPr indent="0" marL="0">
              <a:buNone/>
            </a:pPr>
            <a:r>
              <a:rPr lang="en-US" sz="1400" strike="sngStrike" dirty="0">
                <a:solidFill>
                  <a:schemeClr val="accent5"/>
                </a:solidFill>
              </a:rPr>
              <a:t>Per kilogram</a:t>
            </a:r>
            <a:pPr indent="0" marL="0">
              <a:buNone/>
            </a:pPr>
            <a:r>
              <a:rPr lang="en-US" sz="1400" dirty="0">
                <a:solidFill>
                  <a:schemeClr val="accent5"/>
                </a:solidFill>
              </a:rPr>
              <a:t>  →  </a:t>
            </a:r>
            <a:pPr indent="0" marL="0">
              <a:buNone/>
            </a:pPr>
            <a:r>
              <a:rPr lang="en-US" sz="1400" b="1" dirty="0">
                <a:solidFill>
                  <a:schemeClr val="tx1"/>
                </a:solidFill>
              </a:rPr>
              <a:t>One price per bag (up to 6 kg)</a:t>
            </a:r>
            <a:endParaRPr lang="en-US" sz="1400" dirty="0"/>
          </a:p>
        </p:txBody>
      </p:sp>
      <p:sp>
        <p:nvSpPr>
          <p:cNvPr id="33" name="Text 24"/>
          <p:cNvSpPr txBox="1"/>
          <p:nvPr/>
        </p:nvSpPr>
        <p:spPr>
          <a:xfrm>
            <a:off x="7223760" y="5065776"/>
            <a:ext cx="4206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DELIVERY</a:t>
            </a:r>
            <a:endParaRPr lang="en-US" sz="1100" dirty="0"/>
          </a:p>
        </p:txBody>
      </p:sp>
      <p:sp>
        <p:nvSpPr>
          <p:cNvPr id="34" name="Text 25"/>
          <p:cNvSpPr txBox="1"/>
          <p:nvPr/>
        </p:nvSpPr>
        <p:spPr>
          <a:xfrm>
            <a:off x="7223760" y="5340096"/>
            <a:ext cx="4206240" cy="548640"/>
          </a:xfrm>
          <a:prstGeom prst="rect">
            <a:avLst/>
          </a:prstGeom>
          <a:noFill/>
          <a:ln/>
        </p:spPr>
        <p:txBody>
          <a:bodyPr wrap="square" lIns="0" tIns="0" rIns="0" bIns="0" rtlCol="0" anchor="t"/>
          <a:lstStyle/>
          <a:p>
            <a:pPr indent="0" marL="0">
              <a:buNone/>
            </a:pPr>
            <a:r>
              <a:rPr lang="en-US" sz="1400" strike="sngStrike" dirty="0">
                <a:solidFill>
                  <a:schemeClr val="accent5"/>
                </a:solidFill>
              </a:rPr>
              <a:t>On demand</a:t>
            </a:r>
            <a:pPr indent="0" marL="0">
              <a:buNone/>
            </a:pPr>
            <a:r>
              <a:rPr lang="en-US" sz="1400" dirty="0">
                <a:solidFill>
                  <a:schemeClr val="accent5"/>
                </a:solidFill>
              </a:rPr>
              <a:t>  →  </a:t>
            </a:r>
            <a:pPr indent="0" marL="0">
              <a:buNone/>
            </a:pPr>
            <a:r>
              <a:rPr lang="en-US" sz="1400" b="1" dirty="0">
                <a:solidFill>
                  <a:schemeClr val="tx1"/>
                </a:solidFill>
              </a:rPr>
              <a:t>Two fixed pick-up slots a week</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Customer segments: dorm students first</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 2 of 7</a:t>
            </a:r>
            <a:endParaRPr lang="en-US" sz="1200" dirty="0"/>
          </a:p>
        </p:txBody>
      </p:sp>
      <p:sp>
        <p:nvSpPr>
          <p:cNvPr id="4" name="Text 2"/>
          <p:cNvSpPr txBox="1"/>
          <p:nvPr/>
        </p:nvSpPr>
        <p:spPr>
          <a:xfrm>
            <a:off x="548640" y="1325880"/>
            <a:ext cx="11064240" cy="411480"/>
          </a:xfrm>
          <a:prstGeom prst="rect">
            <a:avLst/>
          </a:prstGeom>
          <a:noFill/>
          <a:ln/>
        </p:spPr>
        <p:txBody>
          <a:bodyPr wrap="square" lIns="0" tIns="0" rIns="0" bIns="0" rtlCol="0" anchor="t"/>
          <a:lstStyle/>
          <a:p>
            <a:pPr indent="0" marL="0">
              <a:buNone/>
            </a:pPr>
            <a:r>
              <a:rPr lang="en-US" sz="1600" b="1" dirty="0">
                <a:solidFill>
                  <a:schemeClr val="tx2"/>
                </a:solidFill>
              </a:rPr>
              <a:t>Segment type: segmented. </a:t>
            </a:r>
            <a:pPr indent="0" marL="0">
              <a:buNone/>
            </a:pPr>
            <a:r>
              <a:rPr lang="en-US" sz="1600" dirty="0">
                <a:solidFill>
                  <a:schemeClr val="tx1"/>
                </a:solidFill>
              </a:rPr>
              <a:t>Related groups that all need clean clothes, but differ in price sensitivity, channels and add-ons.</a:t>
            </a:r>
            <a:endParaRPr lang="en-US" sz="1600" dirty="0"/>
          </a:p>
        </p:txBody>
      </p:sp>
      <p:sp>
        <p:nvSpPr>
          <p:cNvPr id="5" name="Segment 1"/>
          <p:cNvSpPr/>
          <p:nvPr/>
        </p:nvSpPr>
        <p:spPr>
          <a:xfrm>
            <a:off x="548640" y="1965960"/>
            <a:ext cx="2651760" cy="2606040"/>
          </a:xfrm>
          <a:prstGeom prst="roundRect">
            <a:avLst>
              <a:gd name="adj" fmla="val 4211"/>
            </a:avLst>
          </a:prstGeom>
          <a:solidFill>
            <a:schemeClr val="accent1"/>
          </a:solidFill>
          <a:ln/>
          <a:effectLst>
            <a:outerShdw sx="100000" sy="100000" kx="0" ky="0" algn="bl" rotWithShape="0" blurRad="76200" dist="25400" dir="5400000">
              <a:srgbClr val="000000">
                <a:alpha val="12000"/>
              </a:srgbClr>
            </a:outerShdw>
          </a:effectLst>
        </p:spPr>
      </p:sp>
      <p:sp>
        <p:nvSpPr>
          <p:cNvPr id="6" name="Segment 1 circle"/>
          <p:cNvSpPr/>
          <p:nvPr/>
        </p:nvSpPr>
        <p:spPr>
          <a:xfrm>
            <a:off x="777240" y="2240280"/>
            <a:ext cx="640080" cy="640080"/>
          </a:xfrm>
          <a:prstGeom prst="ellipse">
            <a:avLst/>
          </a:prstGeom>
          <a:solidFill>
            <a:schemeClr val="tx2"/>
          </a:solidFill>
          <a:ln/>
        </p:spPr>
      </p:sp>
      <p:pic>
        <p:nvPicPr>
          <p:cNvPr id="7" name="Segment 1 icon" descr="preencoded.png">    </p:cNvPr>
          <p:cNvPicPr>
            <a:picLocks noChangeAspect="1"/>
          </p:cNvPicPr>
          <p:nvPr/>
        </p:nvPicPr>
        <p:blipFill>
          <a:blip r:embed="rId1"/>
          <a:stretch>
            <a:fillRect/>
          </a:stretch>
        </p:blipFill>
        <p:spPr>
          <a:xfrm>
            <a:off x="930859" y="2393899"/>
            <a:ext cx="332842" cy="332842"/>
          </a:xfrm>
          <a:prstGeom prst="rect">
            <a:avLst/>
          </a:prstGeom>
        </p:spPr>
      </p:pic>
      <p:sp>
        <p:nvSpPr>
          <p:cNvPr id="8" name="Serve first tag"/>
          <p:cNvSpPr txBox="1"/>
          <p:nvPr/>
        </p:nvSpPr>
        <p:spPr>
          <a:xfrm>
            <a:off x="1645920" y="2377440"/>
            <a:ext cx="1325880" cy="347472"/>
          </a:xfrm>
          <a:prstGeom prst="roundRect">
            <a:avLst>
              <a:gd name="adj" fmla="val 39474"/>
            </a:avLst>
          </a:prstGeom>
          <a:solidFill>
            <a:schemeClr val="accent2"/>
          </a:solidFill>
          <a:ln/>
        </p:spPr>
        <p:txBody>
          <a:bodyPr wrap="square" lIns="0" tIns="0" rIns="0" bIns="0" rtlCol="0" anchor="ctr"/>
          <a:lstStyle/>
          <a:p>
            <a:pPr algn="ctr" indent="0" marL="0">
              <a:buNone/>
            </a:pPr>
            <a:r>
              <a:rPr lang="en-US" sz="1100" b="1" dirty="0">
                <a:solidFill>
                  <a:schemeClr val="tx1"/>
                </a:solidFill>
              </a:rPr>
              <a:t>SERVE FIRST</a:t>
            </a:r>
            <a:endParaRPr lang="en-US" sz="1100" dirty="0"/>
          </a:p>
        </p:txBody>
      </p:sp>
      <p:sp>
        <p:nvSpPr>
          <p:cNvPr id="9" name="Text 6"/>
          <p:cNvSpPr txBox="1"/>
          <p:nvPr/>
        </p:nvSpPr>
        <p:spPr>
          <a:xfrm>
            <a:off x="777240" y="3017520"/>
            <a:ext cx="2194560" cy="365760"/>
          </a:xfrm>
          <a:prstGeom prst="rect">
            <a:avLst/>
          </a:prstGeom>
          <a:noFill/>
          <a:ln/>
        </p:spPr>
        <p:txBody>
          <a:bodyPr wrap="square" lIns="0" tIns="0" rIns="0" bIns="0" rtlCol="0" anchor="t"/>
          <a:lstStyle/>
          <a:p>
            <a:pPr indent="0" marL="0">
              <a:buNone/>
            </a:pPr>
            <a:r>
              <a:rPr lang="en-US" sz="1600" b="1" dirty="0">
                <a:solidFill>
                  <a:schemeClr val="bg1"/>
                </a:solidFill>
              </a:rPr>
              <a:t>Students in dormitories</a:t>
            </a:r>
            <a:endParaRPr lang="en-US" sz="1600" dirty="0"/>
          </a:p>
        </p:txBody>
      </p:sp>
      <p:sp>
        <p:nvSpPr>
          <p:cNvPr id="10" name="Text 7"/>
          <p:cNvSpPr txBox="1"/>
          <p:nvPr/>
        </p:nvSpPr>
        <p:spPr>
          <a:xfrm>
            <a:off x="777240" y="3429000"/>
            <a:ext cx="2194560" cy="1051560"/>
          </a:xfrm>
          <a:prstGeom prst="rect">
            <a:avLst/>
          </a:prstGeom>
          <a:noFill/>
          <a:ln/>
        </p:spPr>
        <p:txBody>
          <a:bodyPr wrap="square" lIns="0" tIns="0" rIns="0" bIns="0" rtlCol="0" anchor="t"/>
          <a:lstStyle/>
          <a:p>
            <a:pPr indent="0" marL="0">
              <a:buNone/>
            </a:pPr>
            <a:r>
              <a:rPr lang="en-US" sz="1300" dirty="0">
                <a:solidFill>
                  <a:schemeClr val="bg1"/>
                </a:solidFill>
              </a:rPr>
              <a:t>Shared or broken machines, no drying space, tight budget. Reached through dorm Telegram groups.</a:t>
            </a:r>
            <a:endParaRPr lang="en-US" sz="1300" dirty="0"/>
          </a:p>
        </p:txBody>
      </p:sp>
      <p:sp>
        <p:nvSpPr>
          <p:cNvPr id="11" name="Segment 2"/>
          <p:cNvSpPr/>
          <p:nvPr/>
        </p:nvSpPr>
        <p:spPr>
          <a:xfrm>
            <a:off x="3355848" y="1965960"/>
            <a:ext cx="2651760" cy="2606040"/>
          </a:xfrm>
          <a:prstGeom prst="roundRect">
            <a:avLst>
              <a:gd name="adj" fmla="val 4211"/>
            </a:avLst>
          </a:prstGeom>
          <a:solidFill>
            <a:schemeClr val="bg2"/>
          </a:solidFill>
          <a:ln/>
        </p:spPr>
      </p:sp>
      <p:sp>
        <p:nvSpPr>
          <p:cNvPr id="12" name="Segment 2 circle"/>
          <p:cNvSpPr/>
          <p:nvPr/>
        </p:nvSpPr>
        <p:spPr>
          <a:xfrm>
            <a:off x="3584448" y="2240280"/>
            <a:ext cx="640080" cy="640080"/>
          </a:xfrm>
          <a:prstGeom prst="ellipse">
            <a:avLst/>
          </a:prstGeom>
          <a:solidFill>
            <a:schemeClr val="accent1"/>
          </a:solidFill>
          <a:ln/>
        </p:spPr>
      </p:sp>
      <p:pic>
        <p:nvPicPr>
          <p:cNvPr id="13" name="Segment 2 icon" descr="preencoded.png">    </p:cNvPr>
          <p:cNvPicPr>
            <a:picLocks noChangeAspect="1"/>
          </p:cNvPicPr>
          <p:nvPr/>
        </p:nvPicPr>
        <p:blipFill>
          <a:blip r:embed="rId2"/>
          <a:stretch>
            <a:fillRect/>
          </a:stretch>
        </p:blipFill>
        <p:spPr>
          <a:xfrm>
            <a:off x="3738067" y="2393899"/>
            <a:ext cx="332842" cy="332842"/>
          </a:xfrm>
          <a:prstGeom prst="rect">
            <a:avLst/>
          </a:prstGeom>
        </p:spPr>
      </p:pic>
      <p:sp>
        <p:nvSpPr>
          <p:cNvPr id="14" name="Text 10"/>
          <p:cNvSpPr txBox="1"/>
          <p:nvPr/>
        </p:nvSpPr>
        <p:spPr>
          <a:xfrm>
            <a:off x="3584448" y="30175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Students in shared flats</a:t>
            </a:r>
            <a:endParaRPr lang="en-US" sz="1600" dirty="0"/>
          </a:p>
        </p:txBody>
      </p:sp>
      <p:sp>
        <p:nvSpPr>
          <p:cNvPr id="15" name="Text 11"/>
          <p:cNvSpPr txBox="1"/>
          <p:nvPr/>
        </p:nvSpPr>
        <p:spPr>
          <a:xfrm>
            <a:off x="3584448" y="3429000"/>
            <a:ext cx="2194560" cy="1051560"/>
          </a:xfrm>
          <a:prstGeom prst="rect">
            <a:avLst/>
          </a:prstGeom>
          <a:noFill/>
          <a:ln/>
        </p:spPr>
        <p:txBody>
          <a:bodyPr wrap="square" lIns="0" tIns="0" rIns="0" bIns="0" rtlCol="0" anchor="t"/>
          <a:lstStyle/>
          <a:p>
            <a:pPr indent="0" marL="0">
              <a:buNone/>
            </a:pPr>
            <a:r>
              <a:rPr lang="en-US" sz="1300" dirty="0">
                <a:solidFill>
                  <a:schemeClr val="tx1"/>
                </a:solidFill>
              </a:rPr>
              <a:t>Have a machine but little time. Reached through university channels.</a:t>
            </a:r>
            <a:endParaRPr lang="en-US" sz="1300" dirty="0"/>
          </a:p>
        </p:txBody>
      </p:sp>
      <p:sp>
        <p:nvSpPr>
          <p:cNvPr id="16" name="Segment 3"/>
          <p:cNvSpPr/>
          <p:nvPr/>
        </p:nvSpPr>
        <p:spPr>
          <a:xfrm>
            <a:off x="6163056" y="1965960"/>
            <a:ext cx="2651760" cy="2606040"/>
          </a:xfrm>
          <a:prstGeom prst="roundRect">
            <a:avLst>
              <a:gd name="adj" fmla="val 4211"/>
            </a:avLst>
          </a:prstGeom>
          <a:solidFill>
            <a:schemeClr val="bg2"/>
          </a:solidFill>
          <a:ln/>
        </p:spPr>
      </p:sp>
      <p:sp>
        <p:nvSpPr>
          <p:cNvPr id="17" name="Segment 3 circle"/>
          <p:cNvSpPr/>
          <p:nvPr/>
        </p:nvSpPr>
        <p:spPr>
          <a:xfrm>
            <a:off x="6391656" y="2240280"/>
            <a:ext cx="640080" cy="640080"/>
          </a:xfrm>
          <a:prstGeom prst="ellipse">
            <a:avLst/>
          </a:prstGeom>
          <a:solidFill>
            <a:schemeClr val="accent1"/>
          </a:solidFill>
          <a:ln/>
        </p:spPr>
      </p:sp>
      <p:pic>
        <p:nvPicPr>
          <p:cNvPr id="18" name="Segment 3 icon" descr="preencoded.png">    </p:cNvPr>
          <p:cNvPicPr>
            <a:picLocks noChangeAspect="1"/>
          </p:cNvPicPr>
          <p:nvPr/>
        </p:nvPicPr>
        <p:blipFill>
          <a:blip r:embed="rId3"/>
          <a:stretch>
            <a:fillRect/>
          </a:stretch>
        </p:blipFill>
        <p:spPr>
          <a:xfrm>
            <a:off x="6545275" y="2393899"/>
            <a:ext cx="332842" cy="332842"/>
          </a:xfrm>
          <a:prstGeom prst="rect">
            <a:avLst/>
          </a:prstGeom>
        </p:spPr>
      </p:pic>
      <p:sp>
        <p:nvSpPr>
          <p:cNvPr id="19" name="Text 14"/>
          <p:cNvSpPr txBox="1"/>
          <p:nvPr/>
        </p:nvSpPr>
        <p:spPr>
          <a:xfrm>
            <a:off x="6391656" y="30175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Young professionals</a:t>
            </a:r>
            <a:endParaRPr lang="en-US" sz="1600" dirty="0"/>
          </a:p>
        </p:txBody>
      </p:sp>
      <p:sp>
        <p:nvSpPr>
          <p:cNvPr id="20" name="Text 15"/>
          <p:cNvSpPr txBox="1"/>
          <p:nvPr/>
        </p:nvSpPr>
        <p:spPr>
          <a:xfrm>
            <a:off x="6391656" y="3429000"/>
            <a:ext cx="2194560" cy="1051560"/>
          </a:xfrm>
          <a:prstGeom prst="rect">
            <a:avLst/>
          </a:prstGeom>
          <a:noFill/>
          <a:ln/>
        </p:spPr>
        <p:txBody>
          <a:bodyPr wrap="square" lIns="0" tIns="0" rIns="0" bIns="0" rtlCol="0" anchor="t"/>
          <a:lstStyle/>
          <a:p>
            <a:pPr indent="0" marL="0">
              <a:buNone/>
            </a:pPr>
            <a:r>
              <a:rPr lang="en-US" sz="1300" dirty="0">
                <a:solidFill>
                  <a:schemeClr val="tx1"/>
                </a:solidFill>
              </a:rPr>
              <a:t>Less price-sensitive, want ironing. Reached through Instagram.</a:t>
            </a:r>
            <a:endParaRPr lang="en-US" sz="1300" dirty="0"/>
          </a:p>
        </p:txBody>
      </p:sp>
      <p:sp>
        <p:nvSpPr>
          <p:cNvPr id="21" name="Segment 4"/>
          <p:cNvSpPr/>
          <p:nvPr/>
        </p:nvSpPr>
        <p:spPr>
          <a:xfrm>
            <a:off x="8970264" y="1965960"/>
            <a:ext cx="2651760" cy="2606040"/>
          </a:xfrm>
          <a:prstGeom prst="roundRect">
            <a:avLst>
              <a:gd name="adj" fmla="val 4211"/>
            </a:avLst>
          </a:prstGeom>
          <a:solidFill>
            <a:schemeClr val="bg2"/>
          </a:solidFill>
          <a:ln/>
        </p:spPr>
      </p:sp>
      <p:sp>
        <p:nvSpPr>
          <p:cNvPr id="22" name="Segment 4 circle"/>
          <p:cNvSpPr/>
          <p:nvPr/>
        </p:nvSpPr>
        <p:spPr>
          <a:xfrm>
            <a:off x="9198864" y="2240280"/>
            <a:ext cx="640080" cy="640080"/>
          </a:xfrm>
          <a:prstGeom prst="ellipse">
            <a:avLst/>
          </a:prstGeom>
          <a:solidFill>
            <a:schemeClr val="accent1"/>
          </a:solidFill>
          <a:ln/>
        </p:spPr>
      </p:sp>
      <p:pic>
        <p:nvPicPr>
          <p:cNvPr id="23" name="Segment 4 icon" descr="preencoded.png">    </p:cNvPr>
          <p:cNvPicPr>
            <a:picLocks noChangeAspect="1"/>
          </p:cNvPicPr>
          <p:nvPr/>
        </p:nvPicPr>
        <p:blipFill>
          <a:blip r:embed="rId4"/>
          <a:stretch>
            <a:fillRect/>
          </a:stretch>
        </p:blipFill>
        <p:spPr>
          <a:xfrm>
            <a:off x="9352483" y="2393899"/>
            <a:ext cx="332842" cy="332842"/>
          </a:xfrm>
          <a:prstGeom prst="rect">
            <a:avLst/>
          </a:prstGeom>
        </p:spPr>
      </p:pic>
      <p:sp>
        <p:nvSpPr>
          <p:cNvPr id="24" name="Text 18"/>
          <p:cNvSpPr txBox="1"/>
          <p:nvPr/>
        </p:nvSpPr>
        <p:spPr>
          <a:xfrm>
            <a:off x="9198864" y="30175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Dorms and hostels (B2B)</a:t>
            </a:r>
            <a:endParaRPr lang="en-US" sz="1600" dirty="0"/>
          </a:p>
        </p:txBody>
      </p:sp>
      <p:sp>
        <p:nvSpPr>
          <p:cNvPr id="25" name="Text 19"/>
          <p:cNvSpPr txBox="1"/>
          <p:nvPr/>
        </p:nvSpPr>
        <p:spPr>
          <a:xfrm>
            <a:off x="9198864" y="3429000"/>
            <a:ext cx="2194560" cy="1051560"/>
          </a:xfrm>
          <a:prstGeom prst="rect">
            <a:avLst/>
          </a:prstGeom>
          <a:noFill/>
          <a:ln/>
        </p:spPr>
        <p:txBody>
          <a:bodyPr wrap="square" lIns="0" tIns="0" rIns="0" bIns="0" rtlCol="0" anchor="t"/>
          <a:lstStyle/>
          <a:p>
            <a:pPr indent="0" marL="0">
              <a:buNone/>
            </a:pPr>
            <a:r>
              <a:rPr lang="en-US" sz="1300" dirty="0">
                <a:solidFill>
                  <a:schemeClr val="tx1"/>
                </a:solidFill>
              </a:rPr>
              <a:t>Bulk bedding laundry. Personal sales. Later, not now.</a:t>
            </a:r>
            <a:endParaRPr lang="en-US" sz="1300" dirty="0"/>
          </a:p>
        </p:txBody>
      </p:sp>
      <p:sp>
        <p:nvSpPr>
          <p:cNvPr id="26" name="Text 20"/>
          <p:cNvSpPr txBox="1"/>
          <p:nvPr/>
        </p:nvSpPr>
        <p:spPr>
          <a:xfrm>
            <a:off x="548640" y="4800600"/>
            <a:ext cx="5486400" cy="320040"/>
          </a:xfrm>
          <a:prstGeom prst="rect">
            <a:avLst/>
          </a:prstGeom>
          <a:noFill/>
          <a:ln/>
        </p:spPr>
        <p:txBody>
          <a:bodyPr wrap="square" lIns="0" tIns="0" rIns="0" bIns="0" rtlCol="0" anchor="t"/>
          <a:lstStyle/>
          <a:p>
            <a:pPr indent="0" marL="0">
              <a:buNone/>
            </a:pPr>
            <a:r>
              <a:rPr lang="en-US" sz="1600" b="1" dirty="0">
                <a:solidFill>
                  <a:schemeClr val="tx2"/>
                </a:solidFill>
              </a:rPr>
              <a:t>Why dorm students first?</a:t>
            </a:r>
            <a:endParaRPr lang="en-US" sz="1600" dirty="0"/>
          </a:p>
        </p:txBody>
      </p:sp>
      <p:sp>
        <p:nvSpPr>
          <p:cNvPr id="27" name="Text 21"/>
          <p:cNvSpPr txBox="1"/>
          <p:nvPr/>
        </p:nvSpPr>
        <p:spPr>
          <a:xfrm>
            <a:off x="548640" y="5212080"/>
            <a:ext cx="3520440" cy="822960"/>
          </a:xfrm>
          <a:prstGeom prst="rect">
            <a:avLst/>
          </a:prstGeom>
          <a:noFill/>
          <a:ln/>
        </p:spPr>
        <p:txBody>
          <a:bodyPr wrap="square" lIns="0" tIns="0" rIns="0" bIns="0" rtlCol="0" anchor="t"/>
          <a:lstStyle/>
          <a:p>
            <a:pPr indent="0" marL="0">
              <a:buNone/>
            </a:pPr>
            <a:r>
              <a:rPr lang="en-US" sz="1400" b="1" dirty="0">
                <a:solidFill>
                  <a:schemeClr val="accent1"/>
                </a:solidFill>
              </a:rPr>
              <a:t>Dense: </a:t>
            </a:r>
            <a:pPr indent="0" marL="0">
              <a:buNone/>
            </a:pPr>
            <a:r>
              <a:rPr lang="en-US" sz="1400" dirty="0">
                <a:solidFill>
                  <a:schemeClr val="tx1"/>
                </a:solidFill>
              </a:rPr>
              <a:t>hundreds of customers in one building, so one trip collects many bags</a:t>
            </a:r>
            <a:endParaRPr lang="en-US" sz="1400" dirty="0"/>
          </a:p>
        </p:txBody>
      </p:sp>
      <p:sp>
        <p:nvSpPr>
          <p:cNvPr id="28" name="Text 22"/>
          <p:cNvSpPr txBox="1"/>
          <p:nvPr/>
        </p:nvSpPr>
        <p:spPr>
          <a:xfrm>
            <a:off x="4297680" y="5212080"/>
            <a:ext cx="3520440" cy="822960"/>
          </a:xfrm>
          <a:prstGeom prst="rect">
            <a:avLst/>
          </a:prstGeom>
          <a:noFill/>
          <a:ln/>
        </p:spPr>
        <p:txBody>
          <a:bodyPr wrap="square" lIns="0" tIns="0" rIns="0" bIns="0" rtlCol="0" anchor="t"/>
          <a:lstStyle/>
          <a:p>
            <a:pPr indent="0" marL="0">
              <a:buNone/>
            </a:pPr>
            <a:r>
              <a:rPr lang="en-US" sz="1400" b="1" dirty="0">
                <a:solidFill>
                  <a:schemeClr val="accent1"/>
                </a:solidFill>
              </a:rPr>
              <a:t>Strongest pain: </a:t>
            </a:r>
            <a:pPr indent="0" marL="0">
              <a:buNone/>
            </a:pPr>
            <a:r>
              <a:rPr lang="en-US" sz="1400" dirty="0">
                <a:solidFill>
                  <a:schemeClr val="tx1"/>
                </a:solidFill>
              </a:rPr>
              <a:t>the problem came up most often in our interviews</a:t>
            </a:r>
            <a:endParaRPr lang="en-US" sz="1400" dirty="0"/>
          </a:p>
        </p:txBody>
      </p:sp>
      <p:sp>
        <p:nvSpPr>
          <p:cNvPr id="29" name="Text 23"/>
          <p:cNvSpPr txBox="1"/>
          <p:nvPr/>
        </p:nvSpPr>
        <p:spPr>
          <a:xfrm>
            <a:off x="8046720" y="5212080"/>
            <a:ext cx="3520440" cy="822960"/>
          </a:xfrm>
          <a:prstGeom prst="rect">
            <a:avLst/>
          </a:prstGeom>
          <a:noFill/>
          <a:ln/>
        </p:spPr>
        <p:txBody>
          <a:bodyPr wrap="square" lIns="0" tIns="0" rIns="0" bIns="0" rtlCol="0" anchor="t"/>
          <a:lstStyle/>
          <a:p>
            <a:pPr indent="0" marL="0">
              <a:buNone/>
            </a:pPr>
            <a:r>
              <a:rPr lang="en-US" sz="1400" b="1" dirty="0">
                <a:solidFill>
                  <a:schemeClr val="accent1"/>
                </a:solidFill>
              </a:rPr>
              <a:t>Easy to reach: </a:t>
            </a:r>
            <a:pPr indent="0" marL="0">
              <a:buNone/>
            </a:pPr>
            <a:r>
              <a:rPr lang="en-US" sz="1400" dirty="0">
                <a:solidFill>
                  <a:schemeClr val="tx1"/>
                </a:solidFill>
              </a:rPr>
              <a:t>we study next to these dorms and are in their chats</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Value proposition</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 3 of 7</a:t>
            </a:r>
            <a:endParaRPr lang="en-US" sz="1200" dirty="0"/>
          </a:p>
        </p:txBody>
      </p:sp>
      <p:sp>
        <p:nvSpPr>
          <p:cNvPr id="4" name="Value proposition card"/>
          <p:cNvSpPr/>
          <p:nvPr/>
        </p:nvSpPr>
        <p:spPr>
          <a:xfrm>
            <a:off x="548640" y="1325880"/>
            <a:ext cx="11109960" cy="1783080"/>
          </a:xfrm>
          <a:prstGeom prst="roundRect">
            <a:avLst>
              <a:gd name="adj" fmla="val 6154"/>
            </a:avLst>
          </a:prstGeom>
          <a:solidFill>
            <a:schemeClr val="tx2"/>
          </a:solidFill>
          <a:ln/>
        </p:spPr>
      </p:sp>
      <p:sp>
        <p:nvSpPr>
          <p:cNvPr id="5" name="Text 3"/>
          <p:cNvSpPr txBox="1"/>
          <p:nvPr/>
        </p:nvSpPr>
        <p:spPr>
          <a:xfrm>
            <a:off x="868680" y="1463040"/>
            <a:ext cx="10469880" cy="1508760"/>
          </a:xfrm>
          <a:prstGeom prst="rect">
            <a:avLst/>
          </a:prstGeom>
          <a:noFill/>
          <a:ln/>
        </p:spPr>
        <p:txBody>
          <a:bodyPr wrap="square" lIns="0" tIns="0" rIns="0" bIns="0" rtlCol="0" anchor="ctr"/>
          <a:lstStyle/>
          <a:p>
            <a:pPr indent="0" marL="0">
              <a:lnSpc>
                <a:spcPct val="105000"/>
              </a:lnSpc>
              <a:buNone/>
            </a:pPr>
            <a:r>
              <a:rPr lang="en-US" sz="1900" dirty="0">
                <a:solidFill>
                  <a:schemeClr val="bg1"/>
                </a:solidFill>
              </a:rPr>
              <a:t>For </a:t>
            </a:r>
            <a:pPr indent="0" marL="0">
              <a:lnSpc>
                <a:spcPct val="105000"/>
              </a:lnSpc>
              <a:buNone/>
            </a:pPr>
            <a:r>
              <a:rPr lang="en-US" sz="1900" b="1" dirty="0">
                <a:solidFill>
                  <a:schemeClr val="accent2"/>
                </a:solidFill>
              </a:rPr>
              <a:t>students in Tashkent dormitories</a:t>
            </a:r>
            <a:pPr indent="0" marL="0">
              <a:lnSpc>
                <a:spcPct val="105000"/>
              </a:lnSpc>
              <a:buNone/>
            </a:pPr>
            <a:r>
              <a:rPr lang="en-US" sz="1900" dirty="0">
                <a:solidFill>
                  <a:schemeClr val="bg1"/>
                </a:solidFill>
              </a:rPr>
              <a:t> who </a:t>
            </a:r>
            <a:pPr indent="0" marL="0">
              <a:lnSpc>
                <a:spcPct val="105000"/>
              </a:lnSpc>
              <a:buNone/>
            </a:pPr>
            <a:r>
              <a:rPr lang="en-US" sz="1900" b="1" dirty="0">
                <a:solidFill>
                  <a:schemeClr val="accent2"/>
                </a:solidFill>
              </a:rPr>
              <a:t>lose hours every week queuing for shared machines and drying clothes in their rooms</a:t>
            </a:r>
            <a:pPr indent="0" marL="0">
              <a:lnSpc>
                <a:spcPct val="105000"/>
              </a:lnSpc>
              <a:buNone/>
            </a:pPr>
            <a:r>
              <a:rPr lang="en-US" sz="1900" dirty="0">
                <a:solidFill>
                  <a:schemeClr val="bg1"/>
                </a:solidFill>
              </a:rPr>
              <a:t>, WashGo </a:t>
            </a:r>
            <a:pPr indent="0" marL="0">
              <a:lnSpc>
                <a:spcPct val="105000"/>
              </a:lnSpc>
              <a:buNone/>
            </a:pPr>
            <a:r>
              <a:rPr lang="en-US" sz="1900" b="1" dirty="0">
                <a:solidFill>
                  <a:schemeClr val="accent2"/>
                </a:solidFill>
              </a:rPr>
              <a:t>collects, washes, dries and folds their laundry and returns it within 48 hours</a:t>
            </a:r>
            <a:pPr indent="0" marL="0">
              <a:lnSpc>
                <a:spcPct val="105000"/>
              </a:lnSpc>
              <a:buNone/>
            </a:pPr>
            <a:r>
              <a:rPr lang="en-US" sz="1900" dirty="0">
                <a:solidFill>
                  <a:schemeClr val="bg1"/>
                </a:solidFill>
              </a:rPr>
              <a:t>. Unlike </a:t>
            </a:r>
            <a:pPr indent="0" marL="0">
              <a:lnSpc>
                <a:spcPct val="105000"/>
              </a:lnSpc>
              <a:buNone/>
            </a:pPr>
            <a:r>
              <a:rPr lang="en-US" sz="1900" b="1" dirty="0">
                <a:solidFill>
                  <a:schemeClr val="accent2"/>
                </a:solidFill>
              </a:rPr>
              <a:t>the dorm laundry room or a city laundry</a:t>
            </a:r>
            <a:pPr indent="0" marL="0">
              <a:lnSpc>
                <a:spcPct val="105000"/>
              </a:lnSpc>
              <a:buNone/>
            </a:pPr>
            <a:r>
              <a:rPr lang="en-US" sz="1900" dirty="0">
                <a:solidFill>
                  <a:schemeClr val="bg1"/>
                </a:solidFill>
              </a:rPr>
              <a:t>, we </a:t>
            </a:r>
            <a:pPr indent="0" marL="0">
              <a:lnSpc>
                <a:spcPct val="105000"/>
              </a:lnSpc>
              <a:buNone/>
            </a:pPr>
            <a:r>
              <a:rPr lang="en-US" sz="1900" b="1" dirty="0">
                <a:solidFill>
                  <a:schemeClr val="accent2"/>
                </a:solidFill>
              </a:rPr>
              <a:t>come to the dorm door at a student price, booked in Telegram in under a minute</a:t>
            </a:r>
            <a:pPr indent="0" marL="0">
              <a:lnSpc>
                <a:spcPct val="105000"/>
              </a:lnSpc>
              <a:buNone/>
            </a:pPr>
            <a:r>
              <a:rPr lang="en-US" sz="1900" dirty="0">
                <a:solidFill>
                  <a:schemeClr val="bg1"/>
                </a:solidFill>
              </a:rPr>
              <a:t>.</a:t>
            </a:r>
            <a:endParaRPr lang="en-US" sz="1900" dirty="0"/>
          </a:p>
        </p:txBody>
      </p:sp>
      <p:sp>
        <p:nvSpPr>
          <p:cNvPr id="6" name="Text 4"/>
          <p:cNvSpPr txBox="1"/>
          <p:nvPr/>
        </p:nvSpPr>
        <p:spPr>
          <a:xfrm>
            <a:off x="548640" y="3246120"/>
            <a:ext cx="10972800" cy="320040"/>
          </a:xfrm>
          <a:prstGeom prst="rect">
            <a:avLst/>
          </a:prstGeom>
          <a:noFill/>
          <a:ln/>
        </p:spPr>
        <p:txBody>
          <a:bodyPr wrap="square" lIns="0" tIns="0" rIns="0" bIns="0" rtlCol="0" anchor="t"/>
          <a:lstStyle/>
          <a:p>
            <a:pPr indent="0" marL="0">
              <a:buNone/>
            </a:pPr>
            <a:r>
              <a:rPr lang="en-US" sz="1300" i="1" dirty="0">
                <a:solidFill>
                  <a:schemeClr val="accent5"/>
                </a:solidFill>
              </a:rPr>
              <a:t>Value elements: Convenience  ·  Getting the job done  ·  Price</a:t>
            </a:r>
            <a:endParaRPr lang="en-US" sz="1300" dirty="0"/>
          </a:p>
        </p:txBody>
      </p:sp>
      <p:sp>
        <p:nvSpPr>
          <p:cNvPr id="7" name="Text 5"/>
          <p:cNvSpPr txBox="1"/>
          <p:nvPr/>
        </p:nvSpPr>
        <p:spPr>
          <a:xfrm>
            <a:off x="548640" y="3703320"/>
            <a:ext cx="5303520" cy="365760"/>
          </a:xfrm>
          <a:prstGeom prst="rect">
            <a:avLst/>
          </a:prstGeom>
          <a:noFill/>
          <a:ln/>
        </p:spPr>
        <p:txBody>
          <a:bodyPr wrap="square" lIns="0" tIns="0" rIns="0" bIns="0" rtlCol="0" anchor="t"/>
          <a:lstStyle/>
          <a:p>
            <a:pPr indent="0" marL="0">
              <a:buNone/>
            </a:pPr>
            <a:r>
              <a:rPr lang="en-US" sz="1800" b="1" dirty="0">
                <a:solidFill>
                  <a:schemeClr val="accent3"/>
                </a:solidFill>
              </a:rPr>
              <a:t>Pains we relieve</a:t>
            </a:r>
            <a:endParaRPr lang="en-US" sz="1800" dirty="0"/>
          </a:p>
        </p:txBody>
      </p:sp>
      <p:sp>
        <p:nvSpPr>
          <p:cNvPr id="8" name="Pain 1 circle"/>
          <p:cNvSpPr/>
          <p:nvPr/>
        </p:nvSpPr>
        <p:spPr>
          <a:xfrm>
            <a:off x="548640" y="4206240"/>
            <a:ext cx="420624" cy="420624"/>
          </a:xfrm>
          <a:prstGeom prst="ellipse">
            <a:avLst/>
          </a:prstGeom>
          <a:solidFill>
            <a:schemeClr val="accent3"/>
          </a:solidFill>
          <a:ln/>
        </p:spPr>
      </p:sp>
      <p:pic>
        <p:nvPicPr>
          <p:cNvPr id="9" name="Pain 1 icon" descr="preencoded.png">    </p:cNvPr>
          <p:cNvPicPr>
            <a:picLocks noChangeAspect="1"/>
          </p:cNvPicPr>
          <p:nvPr/>
        </p:nvPicPr>
        <p:blipFill>
          <a:blip r:embed="rId1"/>
          <a:stretch>
            <a:fillRect/>
          </a:stretch>
        </p:blipFill>
        <p:spPr>
          <a:xfrm>
            <a:off x="649590" y="4307190"/>
            <a:ext cx="218724" cy="218724"/>
          </a:xfrm>
          <a:prstGeom prst="rect">
            <a:avLst/>
          </a:prstGeom>
        </p:spPr>
      </p:pic>
      <p:sp>
        <p:nvSpPr>
          <p:cNvPr id="10" name="Text 7"/>
          <p:cNvSpPr txBox="1"/>
          <p:nvPr/>
        </p:nvSpPr>
        <p:spPr>
          <a:xfrm>
            <a:off x="1143000" y="4187952"/>
            <a:ext cx="4663440" cy="502920"/>
          </a:xfrm>
          <a:prstGeom prst="rect">
            <a:avLst/>
          </a:prstGeom>
          <a:noFill/>
          <a:ln/>
        </p:spPr>
        <p:txBody>
          <a:bodyPr wrap="square" lIns="0" tIns="0" rIns="0" bIns="0" rtlCol="0" anchor="ctr"/>
          <a:lstStyle/>
          <a:p>
            <a:pPr indent="0" marL="0">
              <a:buNone/>
            </a:pPr>
            <a:r>
              <a:rPr lang="en-US" sz="1500" dirty="0">
                <a:solidFill>
                  <a:schemeClr val="tx1"/>
                </a:solidFill>
              </a:rPr>
              <a:t>Queues for shared machines that are often broken</a:t>
            </a:r>
            <a:endParaRPr lang="en-US" sz="1500" dirty="0"/>
          </a:p>
        </p:txBody>
      </p:sp>
      <p:sp>
        <p:nvSpPr>
          <p:cNvPr id="11" name="Pain 2 circle"/>
          <p:cNvSpPr/>
          <p:nvPr/>
        </p:nvSpPr>
        <p:spPr>
          <a:xfrm>
            <a:off x="548640" y="4828032"/>
            <a:ext cx="420624" cy="420624"/>
          </a:xfrm>
          <a:prstGeom prst="ellipse">
            <a:avLst/>
          </a:prstGeom>
          <a:solidFill>
            <a:schemeClr val="accent3"/>
          </a:solidFill>
          <a:ln/>
        </p:spPr>
      </p:sp>
      <p:pic>
        <p:nvPicPr>
          <p:cNvPr id="12" name="Pain 2 icon" descr="preencoded.png">    </p:cNvPr>
          <p:cNvPicPr>
            <a:picLocks noChangeAspect="1"/>
          </p:cNvPicPr>
          <p:nvPr/>
        </p:nvPicPr>
        <p:blipFill>
          <a:blip r:embed="rId2"/>
          <a:stretch>
            <a:fillRect/>
          </a:stretch>
        </p:blipFill>
        <p:spPr>
          <a:xfrm>
            <a:off x="649590" y="4928982"/>
            <a:ext cx="218724" cy="218724"/>
          </a:xfrm>
          <a:prstGeom prst="rect">
            <a:avLst/>
          </a:prstGeom>
        </p:spPr>
      </p:pic>
      <p:sp>
        <p:nvSpPr>
          <p:cNvPr id="13" name="Text 9"/>
          <p:cNvSpPr txBox="1"/>
          <p:nvPr/>
        </p:nvSpPr>
        <p:spPr>
          <a:xfrm>
            <a:off x="1143000" y="4809744"/>
            <a:ext cx="4663440" cy="502920"/>
          </a:xfrm>
          <a:prstGeom prst="rect">
            <a:avLst/>
          </a:prstGeom>
          <a:noFill/>
          <a:ln/>
        </p:spPr>
        <p:txBody>
          <a:bodyPr wrap="square" lIns="0" tIns="0" rIns="0" bIns="0" rtlCol="0" anchor="ctr"/>
          <a:lstStyle/>
          <a:p>
            <a:pPr indent="0" marL="0">
              <a:buNone/>
            </a:pPr>
            <a:r>
              <a:rPr lang="en-US" sz="1500" dirty="0">
                <a:solidFill>
                  <a:schemeClr val="tx1"/>
                </a:solidFill>
              </a:rPr>
              <a:t>Nowhere to dry clothes, so rooms stay damp</a:t>
            </a:r>
            <a:endParaRPr lang="en-US" sz="1500" dirty="0"/>
          </a:p>
        </p:txBody>
      </p:sp>
      <p:sp>
        <p:nvSpPr>
          <p:cNvPr id="14" name="Pain 3 circle"/>
          <p:cNvSpPr/>
          <p:nvPr/>
        </p:nvSpPr>
        <p:spPr>
          <a:xfrm>
            <a:off x="548640" y="5449824"/>
            <a:ext cx="420624" cy="420624"/>
          </a:xfrm>
          <a:prstGeom prst="ellipse">
            <a:avLst/>
          </a:prstGeom>
          <a:solidFill>
            <a:schemeClr val="accent3"/>
          </a:solidFill>
          <a:ln/>
        </p:spPr>
      </p:sp>
      <p:pic>
        <p:nvPicPr>
          <p:cNvPr id="15" name="Pain 3 icon" descr="preencoded.png">    </p:cNvPr>
          <p:cNvPicPr>
            <a:picLocks noChangeAspect="1"/>
          </p:cNvPicPr>
          <p:nvPr/>
        </p:nvPicPr>
        <p:blipFill>
          <a:blip r:embed="rId3"/>
          <a:stretch>
            <a:fillRect/>
          </a:stretch>
        </p:blipFill>
        <p:spPr>
          <a:xfrm>
            <a:off x="649590" y="5550774"/>
            <a:ext cx="218724" cy="218724"/>
          </a:xfrm>
          <a:prstGeom prst="rect">
            <a:avLst/>
          </a:prstGeom>
        </p:spPr>
      </p:pic>
      <p:sp>
        <p:nvSpPr>
          <p:cNvPr id="16" name="Text 11"/>
          <p:cNvSpPr txBox="1"/>
          <p:nvPr/>
        </p:nvSpPr>
        <p:spPr>
          <a:xfrm>
            <a:off x="1143000" y="5431536"/>
            <a:ext cx="4663440" cy="502920"/>
          </a:xfrm>
          <a:prstGeom prst="rect">
            <a:avLst/>
          </a:prstGeom>
          <a:noFill/>
          <a:ln/>
        </p:spPr>
        <p:txBody>
          <a:bodyPr wrap="square" lIns="0" tIns="0" rIns="0" bIns="0" rtlCol="0" anchor="ctr"/>
          <a:lstStyle/>
          <a:p>
            <a:pPr indent="0" marL="0">
              <a:buNone/>
            </a:pPr>
            <a:r>
              <a:rPr lang="en-US" sz="1500" dirty="0">
                <a:solidFill>
                  <a:schemeClr val="tx1"/>
                </a:solidFill>
              </a:rPr>
              <a:t>Hand-washing takes 2–3 hours every week</a:t>
            </a:r>
            <a:endParaRPr lang="en-US" sz="1500" dirty="0"/>
          </a:p>
        </p:txBody>
      </p:sp>
      <p:sp>
        <p:nvSpPr>
          <p:cNvPr id="17" name="Text 12"/>
          <p:cNvSpPr txBox="1"/>
          <p:nvPr/>
        </p:nvSpPr>
        <p:spPr>
          <a:xfrm>
            <a:off x="6355080" y="3703320"/>
            <a:ext cx="5303520" cy="365760"/>
          </a:xfrm>
          <a:prstGeom prst="rect">
            <a:avLst/>
          </a:prstGeom>
          <a:noFill/>
          <a:ln/>
        </p:spPr>
        <p:txBody>
          <a:bodyPr wrap="square" lIns="0" tIns="0" rIns="0" bIns="0" rtlCol="0" anchor="t"/>
          <a:lstStyle/>
          <a:p>
            <a:pPr indent="0" marL="0">
              <a:buNone/>
            </a:pPr>
            <a:r>
              <a:rPr lang="en-US" sz="1800" b="1" dirty="0">
                <a:solidFill>
                  <a:schemeClr val="accent4"/>
                </a:solidFill>
              </a:rPr>
              <a:t>Gains we create</a:t>
            </a:r>
            <a:endParaRPr lang="en-US" sz="1800" dirty="0"/>
          </a:p>
        </p:txBody>
      </p:sp>
      <p:sp>
        <p:nvSpPr>
          <p:cNvPr id="18" name="Gain 1 circle"/>
          <p:cNvSpPr/>
          <p:nvPr/>
        </p:nvSpPr>
        <p:spPr>
          <a:xfrm>
            <a:off x="6355080" y="4206240"/>
            <a:ext cx="420624" cy="420624"/>
          </a:xfrm>
          <a:prstGeom prst="ellipse">
            <a:avLst/>
          </a:prstGeom>
          <a:solidFill>
            <a:schemeClr val="accent4"/>
          </a:solidFill>
          <a:ln/>
        </p:spPr>
      </p:sp>
      <p:pic>
        <p:nvPicPr>
          <p:cNvPr id="19" name="Gain 1 icon" descr="preencoded.png">    </p:cNvPr>
          <p:cNvPicPr>
            <a:picLocks noChangeAspect="1"/>
          </p:cNvPicPr>
          <p:nvPr/>
        </p:nvPicPr>
        <p:blipFill>
          <a:blip r:embed="rId4"/>
          <a:stretch>
            <a:fillRect/>
          </a:stretch>
        </p:blipFill>
        <p:spPr>
          <a:xfrm>
            <a:off x="6456030" y="4307190"/>
            <a:ext cx="218724" cy="218724"/>
          </a:xfrm>
          <a:prstGeom prst="rect">
            <a:avLst/>
          </a:prstGeom>
        </p:spPr>
      </p:pic>
      <p:sp>
        <p:nvSpPr>
          <p:cNvPr id="20" name="Text 14"/>
          <p:cNvSpPr txBox="1"/>
          <p:nvPr/>
        </p:nvSpPr>
        <p:spPr>
          <a:xfrm>
            <a:off x="6949440" y="4187952"/>
            <a:ext cx="4663440" cy="502920"/>
          </a:xfrm>
          <a:prstGeom prst="rect">
            <a:avLst/>
          </a:prstGeom>
          <a:noFill/>
          <a:ln/>
        </p:spPr>
        <p:txBody>
          <a:bodyPr wrap="square" lIns="0" tIns="0" rIns="0" bIns="0" rtlCol="0" anchor="ctr"/>
          <a:lstStyle/>
          <a:p>
            <a:pPr indent="0" marL="0">
              <a:buNone/>
            </a:pPr>
            <a:r>
              <a:rPr lang="en-US" sz="1500" dirty="0">
                <a:solidFill>
                  <a:schemeClr val="tx1"/>
                </a:solidFill>
              </a:rPr>
              <a:t>More free time for study, work and rest</a:t>
            </a:r>
            <a:endParaRPr lang="en-US" sz="1500" dirty="0"/>
          </a:p>
        </p:txBody>
      </p:sp>
      <p:sp>
        <p:nvSpPr>
          <p:cNvPr id="21" name="Gain 2 circle"/>
          <p:cNvSpPr/>
          <p:nvPr/>
        </p:nvSpPr>
        <p:spPr>
          <a:xfrm>
            <a:off x="6355080" y="4828032"/>
            <a:ext cx="420624" cy="420624"/>
          </a:xfrm>
          <a:prstGeom prst="ellipse">
            <a:avLst/>
          </a:prstGeom>
          <a:solidFill>
            <a:schemeClr val="accent4"/>
          </a:solidFill>
          <a:ln/>
        </p:spPr>
      </p:sp>
      <p:pic>
        <p:nvPicPr>
          <p:cNvPr id="22" name="Gain 2 icon" descr="preencoded.png">    </p:cNvPr>
          <p:cNvPicPr>
            <a:picLocks noChangeAspect="1"/>
          </p:cNvPicPr>
          <p:nvPr/>
        </p:nvPicPr>
        <p:blipFill>
          <a:blip r:embed="rId5"/>
          <a:stretch>
            <a:fillRect/>
          </a:stretch>
        </p:blipFill>
        <p:spPr>
          <a:xfrm>
            <a:off x="6456030" y="4928982"/>
            <a:ext cx="218724" cy="218724"/>
          </a:xfrm>
          <a:prstGeom prst="rect">
            <a:avLst/>
          </a:prstGeom>
        </p:spPr>
      </p:pic>
      <p:sp>
        <p:nvSpPr>
          <p:cNvPr id="23" name="Text 16"/>
          <p:cNvSpPr txBox="1"/>
          <p:nvPr/>
        </p:nvSpPr>
        <p:spPr>
          <a:xfrm>
            <a:off x="6949440" y="4809744"/>
            <a:ext cx="4663440" cy="502920"/>
          </a:xfrm>
          <a:prstGeom prst="rect">
            <a:avLst/>
          </a:prstGeom>
          <a:noFill/>
          <a:ln/>
        </p:spPr>
        <p:txBody>
          <a:bodyPr wrap="square" lIns="0" tIns="0" rIns="0" bIns="0" rtlCol="0" anchor="ctr"/>
          <a:lstStyle/>
          <a:p>
            <a:pPr indent="0" marL="0">
              <a:buNone/>
            </a:pPr>
            <a:r>
              <a:rPr lang="en-US" sz="1500" dirty="0">
                <a:solidFill>
                  <a:schemeClr val="tx1"/>
                </a:solidFill>
              </a:rPr>
              <a:t>Clean, folded clothes on a fixed schedule</a:t>
            </a:r>
            <a:endParaRPr lang="en-US" sz="1500" dirty="0"/>
          </a:p>
        </p:txBody>
      </p:sp>
      <p:sp>
        <p:nvSpPr>
          <p:cNvPr id="24" name="Gain 3 circle"/>
          <p:cNvSpPr/>
          <p:nvPr/>
        </p:nvSpPr>
        <p:spPr>
          <a:xfrm>
            <a:off x="6355080" y="5449824"/>
            <a:ext cx="420624" cy="420624"/>
          </a:xfrm>
          <a:prstGeom prst="ellipse">
            <a:avLst/>
          </a:prstGeom>
          <a:solidFill>
            <a:schemeClr val="accent4"/>
          </a:solidFill>
          <a:ln/>
        </p:spPr>
      </p:sp>
      <p:pic>
        <p:nvPicPr>
          <p:cNvPr id="25" name="Gain 3 icon" descr="preencoded.png">    </p:cNvPr>
          <p:cNvPicPr>
            <a:picLocks noChangeAspect="1"/>
          </p:cNvPicPr>
          <p:nvPr/>
        </p:nvPicPr>
        <p:blipFill>
          <a:blip r:embed="rId6"/>
          <a:stretch>
            <a:fillRect/>
          </a:stretch>
        </p:blipFill>
        <p:spPr>
          <a:xfrm>
            <a:off x="6456030" y="5550774"/>
            <a:ext cx="218724" cy="218724"/>
          </a:xfrm>
          <a:prstGeom prst="rect">
            <a:avLst/>
          </a:prstGeom>
        </p:spPr>
      </p:pic>
      <p:sp>
        <p:nvSpPr>
          <p:cNvPr id="26" name="Text 18"/>
          <p:cNvSpPr txBox="1"/>
          <p:nvPr/>
        </p:nvSpPr>
        <p:spPr>
          <a:xfrm>
            <a:off x="6949440" y="5431536"/>
            <a:ext cx="4663440" cy="502920"/>
          </a:xfrm>
          <a:prstGeom prst="rect">
            <a:avLst/>
          </a:prstGeom>
          <a:noFill/>
          <a:ln/>
        </p:spPr>
        <p:txBody>
          <a:bodyPr wrap="square" lIns="0" tIns="0" rIns="0" bIns="0" rtlCol="0" anchor="ctr"/>
          <a:lstStyle/>
          <a:p>
            <a:pPr indent="0" marL="0">
              <a:buNone/>
            </a:pPr>
            <a:r>
              <a:rPr lang="en-US" sz="1500" dirty="0">
                <a:solidFill>
                  <a:schemeClr val="tx1"/>
                </a:solidFill>
              </a:rPr>
              <a:t>A known price per bag, paid by Click or Payme</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Channels and customer relationships</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Points 4–5 of 7</a:t>
            </a:r>
            <a:endParaRPr lang="en-US" sz="1200" dirty="0"/>
          </a:p>
        </p:txBody>
      </p:sp>
      <p:sp>
        <p:nvSpPr>
          <p:cNvPr id="4" name="Text 2"/>
          <p:cNvSpPr txBox="1"/>
          <p:nvPr/>
        </p:nvSpPr>
        <p:spPr>
          <a:xfrm>
            <a:off x="548640" y="128016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Channels: how students find us, buy and receive the service</a:t>
            </a:r>
            <a:endParaRPr lang="en-US" sz="1600" dirty="0"/>
          </a:p>
        </p:txBody>
      </p:sp>
      <p:sp>
        <p:nvSpPr>
          <p:cNvPr id="5" name="Channel Awareness"/>
          <p:cNvSpPr/>
          <p:nvPr/>
        </p:nvSpPr>
        <p:spPr>
          <a:xfrm>
            <a:off x="548640" y="1737360"/>
            <a:ext cx="2130552" cy="1828800"/>
          </a:xfrm>
          <a:prstGeom prst="roundRect">
            <a:avLst>
              <a:gd name="adj" fmla="val 6000"/>
            </a:avLst>
          </a:prstGeom>
          <a:solidFill>
            <a:schemeClr val="bg2"/>
          </a:solidFill>
          <a:ln/>
        </p:spPr>
      </p:sp>
      <p:sp>
        <p:nvSpPr>
          <p:cNvPr id="6" name="Channel Awareness circle"/>
          <p:cNvSpPr/>
          <p:nvPr/>
        </p:nvSpPr>
        <p:spPr>
          <a:xfrm>
            <a:off x="731520" y="1920240"/>
            <a:ext cx="502920" cy="502920"/>
          </a:xfrm>
          <a:prstGeom prst="ellipse">
            <a:avLst/>
          </a:prstGeom>
          <a:solidFill>
            <a:schemeClr val="accent1"/>
          </a:solidFill>
          <a:ln/>
        </p:spPr>
      </p:sp>
      <p:pic>
        <p:nvPicPr>
          <p:cNvPr id="7" name="Channel Awareness icon" descr="preencoded.png">    </p:cNvPr>
          <p:cNvPicPr>
            <a:picLocks noChangeAspect="1"/>
          </p:cNvPicPr>
          <p:nvPr/>
        </p:nvPicPr>
        <p:blipFill>
          <a:blip r:embed="rId1"/>
          <a:stretch>
            <a:fillRect/>
          </a:stretch>
        </p:blipFill>
        <p:spPr>
          <a:xfrm>
            <a:off x="852221" y="2040941"/>
            <a:ext cx="261518" cy="261518"/>
          </a:xfrm>
          <a:prstGeom prst="rect">
            <a:avLst/>
          </a:prstGeom>
        </p:spPr>
      </p:pic>
      <p:sp>
        <p:nvSpPr>
          <p:cNvPr id="8" name="Text 5"/>
          <p:cNvSpPr txBox="1"/>
          <p:nvPr/>
        </p:nvSpPr>
        <p:spPr>
          <a:xfrm>
            <a:off x="1325880" y="198424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Awareness</a:t>
            </a:r>
            <a:endParaRPr lang="en-US" sz="1500" dirty="0"/>
          </a:p>
        </p:txBody>
      </p:sp>
      <p:sp>
        <p:nvSpPr>
          <p:cNvPr id="9" name="Text 6"/>
          <p:cNvSpPr txBox="1"/>
          <p:nvPr/>
        </p:nvSpPr>
        <p:spPr>
          <a:xfrm>
            <a:off x="731520" y="2542032"/>
            <a:ext cx="1764792" cy="640080"/>
          </a:xfrm>
          <a:prstGeom prst="rect">
            <a:avLst/>
          </a:prstGeom>
          <a:noFill/>
          <a:ln/>
        </p:spPr>
        <p:txBody>
          <a:bodyPr wrap="square" lIns="0" tIns="0" rIns="0" bIns="0" rtlCol="0" anchor="t"/>
          <a:lstStyle/>
          <a:p>
            <a:pPr indent="0" marL="0">
              <a:buNone/>
            </a:pPr>
            <a:r>
              <a:rPr lang="en-US" sz="1300" dirty="0">
                <a:solidFill>
                  <a:schemeClr val="tx1"/>
                </a:solidFill>
              </a:rPr>
              <a:t>Floor ambassadors, posters, dorm Telegram groups</a:t>
            </a:r>
            <a:endParaRPr lang="en-US" sz="1300" dirty="0"/>
          </a:p>
        </p:txBody>
      </p:sp>
      <p:sp>
        <p:nvSpPr>
          <p:cNvPr id="10" name="Text 7"/>
          <p:cNvSpPr txBox="1"/>
          <p:nvPr/>
        </p:nvSpPr>
        <p:spPr>
          <a:xfrm>
            <a:off x="731520" y="3200400"/>
            <a:ext cx="1764792" cy="274320"/>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11" name="Channel Evaluation"/>
          <p:cNvSpPr/>
          <p:nvPr/>
        </p:nvSpPr>
        <p:spPr>
          <a:xfrm>
            <a:off x="2788920" y="1737360"/>
            <a:ext cx="2130552" cy="1828800"/>
          </a:xfrm>
          <a:prstGeom prst="roundRect">
            <a:avLst>
              <a:gd name="adj" fmla="val 6000"/>
            </a:avLst>
          </a:prstGeom>
          <a:solidFill>
            <a:schemeClr val="bg2"/>
          </a:solidFill>
          <a:ln/>
        </p:spPr>
      </p:sp>
      <p:sp>
        <p:nvSpPr>
          <p:cNvPr id="12" name="Channel Evaluation circle"/>
          <p:cNvSpPr/>
          <p:nvPr/>
        </p:nvSpPr>
        <p:spPr>
          <a:xfrm>
            <a:off x="2971800" y="1920240"/>
            <a:ext cx="502920" cy="502920"/>
          </a:xfrm>
          <a:prstGeom prst="ellipse">
            <a:avLst/>
          </a:prstGeom>
          <a:solidFill>
            <a:schemeClr val="accent1"/>
          </a:solidFill>
          <a:ln/>
        </p:spPr>
      </p:sp>
      <p:pic>
        <p:nvPicPr>
          <p:cNvPr id="13" name="Channel Evaluation icon" descr="preencoded.png">    </p:cNvPr>
          <p:cNvPicPr>
            <a:picLocks noChangeAspect="1"/>
          </p:cNvPicPr>
          <p:nvPr/>
        </p:nvPicPr>
        <p:blipFill>
          <a:blip r:embed="rId2"/>
          <a:stretch>
            <a:fillRect/>
          </a:stretch>
        </p:blipFill>
        <p:spPr>
          <a:xfrm>
            <a:off x="3092501" y="2040941"/>
            <a:ext cx="261518" cy="261518"/>
          </a:xfrm>
          <a:prstGeom prst="rect">
            <a:avLst/>
          </a:prstGeom>
        </p:spPr>
      </p:pic>
      <p:sp>
        <p:nvSpPr>
          <p:cNvPr id="14" name="Text 10"/>
          <p:cNvSpPr txBox="1"/>
          <p:nvPr/>
        </p:nvSpPr>
        <p:spPr>
          <a:xfrm>
            <a:off x="3566160" y="198424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Evaluation</a:t>
            </a:r>
            <a:endParaRPr lang="en-US" sz="1500" dirty="0"/>
          </a:p>
        </p:txBody>
      </p:sp>
      <p:sp>
        <p:nvSpPr>
          <p:cNvPr id="15" name="Text 11"/>
          <p:cNvSpPr txBox="1"/>
          <p:nvPr/>
        </p:nvSpPr>
        <p:spPr>
          <a:xfrm>
            <a:off x="2971800" y="2542032"/>
            <a:ext cx="1764792" cy="640080"/>
          </a:xfrm>
          <a:prstGeom prst="rect">
            <a:avLst/>
          </a:prstGeom>
          <a:noFill/>
          <a:ln/>
        </p:spPr>
        <p:txBody>
          <a:bodyPr wrap="square" lIns="0" tIns="0" rIns="0" bIns="0" rtlCol="0" anchor="t"/>
          <a:lstStyle/>
          <a:p>
            <a:pPr indent="0" marL="0">
              <a:buNone/>
            </a:pPr>
            <a:r>
              <a:rPr lang="en-US" sz="1300" dirty="0">
                <a:solidFill>
                  <a:schemeClr val="tx1"/>
                </a:solidFill>
              </a:rPr>
              <a:t>First bag at half price; prices shown in the bot</a:t>
            </a:r>
            <a:endParaRPr lang="en-US" sz="1300" dirty="0"/>
          </a:p>
        </p:txBody>
      </p:sp>
      <p:sp>
        <p:nvSpPr>
          <p:cNvPr id="16" name="Text 12"/>
          <p:cNvSpPr txBox="1"/>
          <p:nvPr/>
        </p:nvSpPr>
        <p:spPr>
          <a:xfrm>
            <a:off x="2971800" y="3200400"/>
            <a:ext cx="1764792" cy="274320"/>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17" name="Channel Purchase"/>
          <p:cNvSpPr/>
          <p:nvPr/>
        </p:nvSpPr>
        <p:spPr>
          <a:xfrm>
            <a:off x="5029200" y="1737360"/>
            <a:ext cx="2130552" cy="1828800"/>
          </a:xfrm>
          <a:prstGeom prst="roundRect">
            <a:avLst>
              <a:gd name="adj" fmla="val 6000"/>
            </a:avLst>
          </a:prstGeom>
          <a:solidFill>
            <a:schemeClr val="bg2"/>
          </a:solidFill>
          <a:ln/>
        </p:spPr>
      </p:sp>
      <p:sp>
        <p:nvSpPr>
          <p:cNvPr id="18" name="Channel Purchase circle"/>
          <p:cNvSpPr/>
          <p:nvPr/>
        </p:nvSpPr>
        <p:spPr>
          <a:xfrm>
            <a:off x="5212080" y="1920240"/>
            <a:ext cx="502920" cy="502920"/>
          </a:xfrm>
          <a:prstGeom prst="ellipse">
            <a:avLst/>
          </a:prstGeom>
          <a:solidFill>
            <a:schemeClr val="accent1"/>
          </a:solidFill>
          <a:ln/>
        </p:spPr>
      </p:sp>
      <p:pic>
        <p:nvPicPr>
          <p:cNvPr id="19" name="Channel Purchase icon" descr="preencoded.png">    </p:cNvPr>
          <p:cNvPicPr>
            <a:picLocks noChangeAspect="1"/>
          </p:cNvPicPr>
          <p:nvPr/>
        </p:nvPicPr>
        <p:blipFill>
          <a:blip r:embed="rId3"/>
          <a:stretch>
            <a:fillRect/>
          </a:stretch>
        </p:blipFill>
        <p:spPr>
          <a:xfrm>
            <a:off x="5332781" y="2040941"/>
            <a:ext cx="261518" cy="261518"/>
          </a:xfrm>
          <a:prstGeom prst="rect">
            <a:avLst/>
          </a:prstGeom>
        </p:spPr>
      </p:pic>
      <p:sp>
        <p:nvSpPr>
          <p:cNvPr id="20" name="Text 15"/>
          <p:cNvSpPr txBox="1"/>
          <p:nvPr/>
        </p:nvSpPr>
        <p:spPr>
          <a:xfrm>
            <a:off x="5806440" y="198424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Purchase</a:t>
            </a:r>
            <a:endParaRPr lang="en-US" sz="1500" dirty="0"/>
          </a:p>
        </p:txBody>
      </p:sp>
      <p:sp>
        <p:nvSpPr>
          <p:cNvPr id="21" name="Text 16"/>
          <p:cNvSpPr txBox="1"/>
          <p:nvPr/>
        </p:nvSpPr>
        <p:spPr>
          <a:xfrm>
            <a:off x="5212080" y="2542032"/>
            <a:ext cx="1764792" cy="640080"/>
          </a:xfrm>
          <a:prstGeom prst="rect">
            <a:avLst/>
          </a:prstGeom>
          <a:noFill/>
          <a:ln/>
        </p:spPr>
        <p:txBody>
          <a:bodyPr wrap="square" lIns="0" tIns="0" rIns="0" bIns="0" rtlCol="0" anchor="t"/>
          <a:lstStyle/>
          <a:p>
            <a:pPr indent="0" marL="0">
              <a:buNone/>
            </a:pPr>
            <a:r>
              <a:rPr lang="en-US" sz="1300" dirty="0">
                <a:solidFill>
                  <a:schemeClr val="tx1"/>
                </a:solidFill>
              </a:rPr>
              <a:t>Telegram bot; pay with Click or Payme</a:t>
            </a:r>
            <a:endParaRPr lang="en-US" sz="1300" dirty="0"/>
          </a:p>
        </p:txBody>
      </p:sp>
      <p:sp>
        <p:nvSpPr>
          <p:cNvPr id="22" name="Text 17"/>
          <p:cNvSpPr txBox="1"/>
          <p:nvPr/>
        </p:nvSpPr>
        <p:spPr>
          <a:xfrm>
            <a:off x="5212080" y="3200400"/>
            <a:ext cx="1764792" cy="274320"/>
          </a:xfrm>
          <a:prstGeom prst="rect">
            <a:avLst/>
          </a:prstGeom>
          <a:noFill/>
          <a:ln/>
        </p:spPr>
        <p:txBody>
          <a:bodyPr wrap="square" lIns="0" tIns="0" rIns="0" bIns="0" rtlCol="0" anchor="t"/>
          <a:lstStyle/>
          <a:p>
            <a:pPr indent="0" marL="0">
              <a:buNone/>
            </a:pPr>
            <a:r>
              <a:rPr lang="en-US" sz="1100" b="1" dirty="0">
                <a:solidFill>
                  <a:schemeClr val="accent5"/>
                </a:solidFill>
              </a:rPr>
              <a:t>Owned + partner</a:t>
            </a:r>
            <a:endParaRPr lang="en-US" sz="1100" dirty="0"/>
          </a:p>
        </p:txBody>
      </p:sp>
      <p:sp>
        <p:nvSpPr>
          <p:cNvPr id="23" name="Channel Delivery"/>
          <p:cNvSpPr/>
          <p:nvPr/>
        </p:nvSpPr>
        <p:spPr>
          <a:xfrm>
            <a:off x="7269480" y="1737360"/>
            <a:ext cx="2130552" cy="1828800"/>
          </a:xfrm>
          <a:prstGeom prst="roundRect">
            <a:avLst>
              <a:gd name="adj" fmla="val 6000"/>
            </a:avLst>
          </a:prstGeom>
          <a:solidFill>
            <a:schemeClr val="bg2"/>
          </a:solidFill>
          <a:ln/>
        </p:spPr>
      </p:sp>
      <p:sp>
        <p:nvSpPr>
          <p:cNvPr id="24" name="Channel Delivery circle"/>
          <p:cNvSpPr/>
          <p:nvPr/>
        </p:nvSpPr>
        <p:spPr>
          <a:xfrm>
            <a:off x="7452360" y="1920240"/>
            <a:ext cx="502920" cy="502920"/>
          </a:xfrm>
          <a:prstGeom prst="ellipse">
            <a:avLst/>
          </a:prstGeom>
          <a:solidFill>
            <a:schemeClr val="accent1"/>
          </a:solidFill>
          <a:ln/>
        </p:spPr>
      </p:sp>
      <p:pic>
        <p:nvPicPr>
          <p:cNvPr id="25" name="Channel Delivery icon" descr="preencoded.png">    </p:cNvPr>
          <p:cNvPicPr>
            <a:picLocks noChangeAspect="1"/>
          </p:cNvPicPr>
          <p:nvPr/>
        </p:nvPicPr>
        <p:blipFill>
          <a:blip r:embed="rId4"/>
          <a:stretch>
            <a:fillRect/>
          </a:stretch>
        </p:blipFill>
        <p:spPr>
          <a:xfrm>
            <a:off x="7573061" y="2040941"/>
            <a:ext cx="261518" cy="261518"/>
          </a:xfrm>
          <a:prstGeom prst="rect">
            <a:avLst/>
          </a:prstGeom>
        </p:spPr>
      </p:pic>
      <p:sp>
        <p:nvSpPr>
          <p:cNvPr id="26" name="Text 20"/>
          <p:cNvSpPr txBox="1"/>
          <p:nvPr/>
        </p:nvSpPr>
        <p:spPr>
          <a:xfrm>
            <a:off x="8046720" y="198424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Delivery</a:t>
            </a:r>
            <a:endParaRPr lang="en-US" sz="1500" dirty="0"/>
          </a:p>
        </p:txBody>
      </p:sp>
      <p:sp>
        <p:nvSpPr>
          <p:cNvPr id="27" name="Text 21"/>
          <p:cNvSpPr txBox="1"/>
          <p:nvPr/>
        </p:nvSpPr>
        <p:spPr>
          <a:xfrm>
            <a:off x="7452360" y="2542032"/>
            <a:ext cx="1764792" cy="640080"/>
          </a:xfrm>
          <a:prstGeom prst="rect">
            <a:avLst/>
          </a:prstGeom>
          <a:noFill/>
          <a:ln/>
        </p:spPr>
        <p:txBody>
          <a:bodyPr wrap="square" lIns="0" tIns="0" rIns="0" bIns="0" rtlCol="0" anchor="t"/>
          <a:lstStyle/>
          <a:p>
            <a:pPr indent="0" marL="0">
              <a:buNone/>
            </a:pPr>
            <a:r>
              <a:rPr lang="en-US" sz="1300" dirty="0">
                <a:solidFill>
                  <a:schemeClr val="tx1"/>
                </a:solidFill>
              </a:rPr>
              <a:t>Our courier at the dorm; partner laundry washes</a:t>
            </a:r>
            <a:endParaRPr lang="en-US" sz="1300" dirty="0"/>
          </a:p>
        </p:txBody>
      </p:sp>
      <p:sp>
        <p:nvSpPr>
          <p:cNvPr id="28" name="Text 22"/>
          <p:cNvSpPr txBox="1"/>
          <p:nvPr/>
        </p:nvSpPr>
        <p:spPr>
          <a:xfrm>
            <a:off x="7452360" y="3200400"/>
            <a:ext cx="1764792" cy="274320"/>
          </a:xfrm>
          <a:prstGeom prst="rect">
            <a:avLst/>
          </a:prstGeom>
          <a:noFill/>
          <a:ln/>
        </p:spPr>
        <p:txBody>
          <a:bodyPr wrap="square" lIns="0" tIns="0" rIns="0" bIns="0" rtlCol="0" anchor="t"/>
          <a:lstStyle/>
          <a:p>
            <a:pPr indent="0" marL="0">
              <a:buNone/>
            </a:pPr>
            <a:r>
              <a:rPr lang="en-US" sz="1100" b="1" dirty="0">
                <a:solidFill>
                  <a:schemeClr val="accent5"/>
                </a:solidFill>
              </a:rPr>
              <a:t>Owned + partner</a:t>
            </a:r>
            <a:endParaRPr lang="en-US" sz="1100" dirty="0"/>
          </a:p>
        </p:txBody>
      </p:sp>
      <p:sp>
        <p:nvSpPr>
          <p:cNvPr id="29" name="Channel After-sales"/>
          <p:cNvSpPr/>
          <p:nvPr/>
        </p:nvSpPr>
        <p:spPr>
          <a:xfrm>
            <a:off x="9509760" y="1737360"/>
            <a:ext cx="2130552" cy="1828800"/>
          </a:xfrm>
          <a:prstGeom prst="roundRect">
            <a:avLst>
              <a:gd name="adj" fmla="val 6000"/>
            </a:avLst>
          </a:prstGeom>
          <a:solidFill>
            <a:schemeClr val="bg2"/>
          </a:solidFill>
          <a:ln/>
        </p:spPr>
      </p:sp>
      <p:sp>
        <p:nvSpPr>
          <p:cNvPr id="30" name="Channel After-sales circle"/>
          <p:cNvSpPr/>
          <p:nvPr/>
        </p:nvSpPr>
        <p:spPr>
          <a:xfrm>
            <a:off x="9692640" y="1920240"/>
            <a:ext cx="502920" cy="502920"/>
          </a:xfrm>
          <a:prstGeom prst="ellipse">
            <a:avLst/>
          </a:prstGeom>
          <a:solidFill>
            <a:schemeClr val="accent1"/>
          </a:solidFill>
          <a:ln/>
        </p:spPr>
      </p:sp>
      <p:pic>
        <p:nvPicPr>
          <p:cNvPr id="31" name="Channel After-sales icon" descr="preencoded.png">    </p:cNvPr>
          <p:cNvPicPr>
            <a:picLocks noChangeAspect="1"/>
          </p:cNvPicPr>
          <p:nvPr/>
        </p:nvPicPr>
        <p:blipFill>
          <a:blip r:embed="rId5"/>
          <a:stretch>
            <a:fillRect/>
          </a:stretch>
        </p:blipFill>
        <p:spPr>
          <a:xfrm>
            <a:off x="9813341" y="2040941"/>
            <a:ext cx="261518" cy="261518"/>
          </a:xfrm>
          <a:prstGeom prst="rect">
            <a:avLst/>
          </a:prstGeom>
        </p:spPr>
      </p:pic>
      <p:sp>
        <p:nvSpPr>
          <p:cNvPr id="32" name="Text 25"/>
          <p:cNvSpPr txBox="1"/>
          <p:nvPr/>
        </p:nvSpPr>
        <p:spPr>
          <a:xfrm>
            <a:off x="10287000" y="198424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After-sales</a:t>
            </a:r>
            <a:endParaRPr lang="en-US" sz="1500" dirty="0"/>
          </a:p>
        </p:txBody>
      </p:sp>
      <p:sp>
        <p:nvSpPr>
          <p:cNvPr id="33" name="Text 26"/>
          <p:cNvSpPr txBox="1"/>
          <p:nvPr/>
        </p:nvSpPr>
        <p:spPr>
          <a:xfrm>
            <a:off x="9692640" y="2542032"/>
            <a:ext cx="1764792" cy="640080"/>
          </a:xfrm>
          <a:prstGeom prst="rect">
            <a:avLst/>
          </a:prstGeom>
          <a:noFill/>
          <a:ln/>
        </p:spPr>
        <p:txBody>
          <a:bodyPr wrap="square" lIns="0" tIns="0" rIns="0" bIns="0" rtlCol="0" anchor="t"/>
          <a:lstStyle/>
          <a:p>
            <a:pPr indent="0" marL="0">
              <a:buNone/>
            </a:pPr>
            <a:r>
              <a:rPr lang="en-US" sz="1300" dirty="0">
                <a:solidFill>
                  <a:schemeClr val="tx1"/>
                </a:solidFill>
              </a:rPr>
              <a:t>Support chat inside the bot</a:t>
            </a:r>
            <a:endParaRPr lang="en-US" sz="1300" dirty="0"/>
          </a:p>
        </p:txBody>
      </p:sp>
      <p:sp>
        <p:nvSpPr>
          <p:cNvPr id="34" name="Text 27"/>
          <p:cNvSpPr txBox="1"/>
          <p:nvPr/>
        </p:nvSpPr>
        <p:spPr>
          <a:xfrm>
            <a:off x="9692640" y="3200400"/>
            <a:ext cx="1764792" cy="274320"/>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35" name="Text 28"/>
          <p:cNvSpPr txBox="1"/>
          <p:nvPr/>
        </p:nvSpPr>
        <p:spPr>
          <a:xfrm>
            <a:off x="548640" y="3794760"/>
            <a:ext cx="11064240" cy="320040"/>
          </a:xfrm>
          <a:prstGeom prst="rect">
            <a:avLst/>
          </a:prstGeom>
          <a:noFill/>
          <a:ln/>
        </p:spPr>
        <p:txBody>
          <a:bodyPr wrap="square" lIns="0" tIns="0" rIns="0" bIns="0" rtlCol="0" anchor="t"/>
          <a:lstStyle/>
          <a:p>
            <a:pPr indent="0" marL="0">
              <a:buNone/>
            </a:pPr>
            <a:r>
              <a:rPr lang="en-US" sz="1600" b="1" dirty="0">
                <a:solidFill>
                  <a:schemeClr val="tx2"/>
                </a:solidFill>
              </a:rPr>
              <a:t>Customer relationships: personal assistance to win the first 100, then self-service and automation</a:t>
            </a:r>
            <a:endParaRPr lang="en-US" sz="1600" dirty="0"/>
          </a:p>
        </p:txBody>
      </p:sp>
      <p:sp>
        <p:nvSpPr>
          <p:cNvPr id="36" name="Relationship 1"/>
          <p:cNvSpPr/>
          <p:nvPr/>
        </p:nvSpPr>
        <p:spPr>
          <a:xfrm>
            <a:off x="548640" y="4206240"/>
            <a:ext cx="3611880" cy="1965960"/>
          </a:xfrm>
          <a:prstGeom prst="roundRect">
            <a:avLst>
              <a:gd name="adj" fmla="val 5581"/>
            </a:avLst>
          </a:prstGeom>
          <a:solidFill>
            <a:schemeClr val="bg1"/>
          </a:solidFill>
          <a:ln/>
          <a:effectLst>
            <a:outerShdw sx="100000" sy="100000" kx="0" ky="0" algn="bl" rotWithShape="0" blurRad="76200" dist="25400" dir="5400000">
              <a:srgbClr val="000000">
                <a:alpha val="12000"/>
              </a:srgbClr>
            </a:outerShdw>
          </a:effectLst>
        </p:spPr>
      </p:sp>
      <p:sp>
        <p:nvSpPr>
          <p:cNvPr id="37" name="Relationship 1 circle"/>
          <p:cNvSpPr/>
          <p:nvPr/>
        </p:nvSpPr>
        <p:spPr>
          <a:xfrm>
            <a:off x="731520" y="4389120"/>
            <a:ext cx="502920" cy="502920"/>
          </a:xfrm>
          <a:prstGeom prst="ellipse">
            <a:avLst/>
          </a:prstGeom>
          <a:solidFill>
            <a:schemeClr val="tx2"/>
          </a:solidFill>
          <a:ln/>
        </p:spPr>
      </p:sp>
      <p:pic>
        <p:nvPicPr>
          <p:cNvPr id="38" name="Relationship 1 icon" descr="preencoded.png">    </p:cNvPr>
          <p:cNvPicPr>
            <a:picLocks noChangeAspect="1"/>
          </p:cNvPicPr>
          <p:nvPr/>
        </p:nvPicPr>
        <p:blipFill>
          <a:blip r:embed="rId6"/>
          <a:stretch>
            <a:fillRect/>
          </a:stretch>
        </p:blipFill>
        <p:spPr>
          <a:xfrm>
            <a:off x="852221" y="4509821"/>
            <a:ext cx="261518" cy="261518"/>
          </a:xfrm>
          <a:prstGeom prst="rect">
            <a:avLst/>
          </a:prstGeom>
        </p:spPr>
      </p:pic>
      <p:sp>
        <p:nvSpPr>
          <p:cNvPr id="39" name="Text 31"/>
          <p:cNvSpPr txBox="1"/>
          <p:nvPr/>
        </p:nvSpPr>
        <p:spPr>
          <a:xfrm>
            <a:off x="137160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Attract (acquisition)</a:t>
            </a:r>
            <a:endParaRPr lang="en-US" sz="1500" dirty="0"/>
          </a:p>
        </p:txBody>
      </p:sp>
      <p:sp>
        <p:nvSpPr>
          <p:cNvPr id="40" name="Text 32"/>
          <p:cNvSpPr txBox="1"/>
          <p:nvPr/>
        </p:nvSpPr>
        <p:spPr>
          <a:xfrm>
            <a:off x="1371600" y="4645152"/>
            <a:ext cx="2651760" cy="274320"/>
          </a:xfrm>
          <a:prstGeom prst="rect">
            <a:avLst/>
          </a:prstGeom>
          <a:noFill/>
          <a:ln/>
        </p:spPr>
        <p:txBody>
          <a:bodyPr wrap="square" lIns="0" tIns="0" rIns="0" bIns="0" rtlCol="0" anchor="t"/>
          <a:lstStyle/>
          <a:p>
            <a:pPr indent="0" marL="0">
              <a:buNone/>
            </a:pPr>
            <a:r>
              <a:rPr lang="en-US" sz="1200" b="1" dirty="0">
                <a:solidFill>
                  <a:schemeClr val="accent1"/>
                </a:solidFill>
              </a:rPr>
              <a:t>Personal assistance</a:t>
            </a:r>
            <a:endParaRPr lang="en-US" sz="1200" dirty="0"/>
          </a:p>
        </p:txBody>
      </p:sp>
      <p:sp>
        <p:nvSpPr>
          <p:cNvPr id="41" name="Text 33"/>
          <p:cNvSpPr txBox="1"/>
          <p:nvPr/>
        </p:nvSpPr>
        <p:spPr>
          <a:xfrm>
            <a:off x="731520" y="5074920"/>
            <a:ext cx="3246120" cy="1005840"/>
          </a:xfrm>
          <a:prstGeom prst="rect">
            <a:avLst/>
          </a:prstGeom>
          <a:noFill/>
          <a:ln/>
        </p:spPr>
        <p:txBody>
          <a:bodyPr wrap="square" lIns="0" tIns="0" rIns="0" bIns="0" rtlCol="0" anchor="t"/>
          <a:lstStyle/>
          <a:p>
            <a:pPr indent="0" marL="0">
              <a:buNone/>
            </a:pPr>
            <a:r>
              <a:rPr lang="en-US" sz="1300" dirty="0">
                <a:solidFill>
                  <a:schemeClr val="tx1"/>
                </a:solidFill>
              </a:rPr>
              <a:t>An ambassador on each floor, a launch-day stand in the lobby, and a referral code: both friends get 10,000 UZS off.</a:t>
            </a:r>
            <a:endParaRPr lang="en-US" sz="1300" dirty="0"/>
          </a:p>
        </p:txBody>
      </p:sp>
      <p:sp>
        <p:nvSpPr>
          <p:cNvPr id="42" name="Relationship 2"/>
          <p:cNvSpPr/>
          <p:nvPr/>
        </p:nvSpPr>
        <p:spPr>
          <a:xfrm>
            <a:off x="4297680" y="4206240"/>
            <a:ext cx="3611880" cy="1965960"/>
          </a:xfrm>
          <a:prstGeom prst="roundRect">
            <a:avLst>
              <a:gd name="adj" fmla="val 5581"/>
            </a:avLst>
          </a:prstGeom>
          <a:solidFill>
            <a:schemeClr val="bg1"/>
          </a:solidFill>
          <a:ln/>
          <a:effectLst>
            <a:outerShdw sx="100000" sy="100000" kx="0" ky="0" algn="bl" rotWithShape="0" blurRad="76200" dist="25400" dir="5400000">
              <a:srgbClr val="000000">
                <a:alpha val="12000"/>
              </a:srgbClr>
            </a:outerShdw>
          </a:effectLst>
        </p:spPr>
      </p:sp>
      <p:sp>
        <p:nvSpPr>
          <p:cNvPr id="43" name="Relationship 2 circle"/>
          <p:cNvSpPr/>
          <p:nvPr/>
        </p:nvSpPr>
        <p:spPr>
          <a:xfrm>
            <a:off x="4480560" y="4389120"/>
            <a:ext cx="502920" cy="502920"/>
          </a:xfrm>
          <a:prstGeom prst="ellipse">
            <a:avLst/>
          </a:prstGeom>
          <a:solidFill>
            <a:schemeClr val="tx2"/>
          </a:solidFill>
          <a:ln/>
        </p:spPr>
      </p:sp>
      <p:pic>
        <p:nvPicPr>
          <p:cNvPr id="44" name="Relationship 2 icon" descr="preencoded.png">    </p:cNvPr>
          <p:cNvPicPr>
            <a:picLocks noChangeAspect="1"/>
          </p:cNvPicPr>
          <p:nvPr/>
        </p:nvPicPr>
        <p:blipFill>
          <a:blip r:embed="rId7"/>
          <a:stretch>
            <a:fillRect/>
          </a:stretch>
        </p:blipFill>
        <p:spPr>
          <a:xfrm>
            <a:off x="4601261" y="4509821"/>
            <a:ext cx="261518" cy="261518"/>
          </a:xfrm>
          <a:prstGeom prst="rect">
            <a:avLst/>
          </a:prstGeom>
        </p:spPr>
      </p:pic>
      <p:sp>
        <p:nvSpPr>
          <p:cNvPr id="45" name="Text 36"/>
          <p:cNvSpPr txBox="1"/>
          <p:nvPr/>
        </p:nvSpPr>
        <p:spPr>
          <a:xfrm>
            <a:off x="512064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Keep (retention)</a:t>
            </a:r>
            <a:endParaRPr lang="en-US" sz="1500" dirty="0"/>
          </a:p>
        </p:txBody>
      </p:sp>
      <p:sp>
        <p:nvSpPr>
          <p:cNvPr id="46" name="Text 37"/>
          <p:cNvSpPr txBox="1"/>
          <p:nvPr/>
        </p:nvSpPr>
        <p:spPr>
          <a:xfrm>
            <a:off x="5120640" y="4645152"/>
            <a:ext cx="2651760" cy="274320"/>
          </a:xfrm>
          <a:prstGeom prst="rect">
            <a:avLst/>
          </a:prstGeom>
          <a:noFill/>
          <a:ln/>
        </p:spPr>
        <p:txBody>
          <a:bodyPr wrap="square" lIns="0" tIns="0" rIns="0" bIns="0" rtlCol="0" anchor="t"/>
          <a:lstStyle/>
          <a:p>
            <a:pPr indent="0" marL="0">
              <a:buNone/>
            </a:pPr>
            <a:r>
              <a:rPr lang="en-US" sz="1200" b="1" dirty="0">
                <a:solidFill>
                  <a:schemeClr val="accent1"/>
                </a:solidFill>
              </a:rPr>
              <a:t>Automated services</a:t>
            </a:r>
            <a:endParaRPr lang="en-US" sz="1200" dirty="0"/>
          </a:p>
        </p:txBody>
      </p:sp>
      <p:sp>
        <p:nvSpPr>
          <p:cNvPr id="47" name="Text 38"/>
          <p:cNvSpPr txBox="1"/>
          <p:nvPr/>
        </p:nvSpPr>
        <p:spPr>
          <a:xfrm>
            <a:off x="4480560" y="5074920"/>
            <a:ext cx="3246120" cy="1005840"/>
          </a:xfrm>
          <a:prstGeom prst="rect">
            <a:avLst/>
          </a:prstGeom>
          <a:noFill/>
          <a:ln/>
        </p:spPr>
        <p:txBody>
          <a:bodyPr wrap="square" lIns="0" tIns="0" rIns="0" bIns="0" rtlCol="0" anchor="t"/>
          <a:lstStyle/>
          <a:p>
            <a:pPr indent="0" marL="0">
              <a:buNone/>
            </a:pPr>
            <a:r>
              <a:rPr lang="en-US" sz="1300" dirty="0">
                <a:solidFill>
                  <a:schemeClr val="tx1"/>
                </a:solidFill>
              </a:rPr>
              <a:t>Bot reminders before each pick-up, saved preferences, and a monthly plan that renews itself.</a:t>
            </a:r>
            <a:endParaRPr lang="en-US" sz="1300" dirty="0"/>
          </a:p>
        </p:txBody>
      </p:sp>
      <p:sp>
        <p:nvSpPr>
          <p:cNvPr id="48" name="Relationship 3"/>
          <p:cNvSpPr/>
          <p:nvPr/>
        </p:nvSpPr>
        <p:spPr>
          <a:xfrm>
            <a:off x="8046720" y="4206240"/>
            <a:ext cx="3611880" cy="1965960"/>
          </a:xfrm>
          <a:prstGeom prst="roundRect">
            <a:avLst>
              <a:gd name="adj" fmla="val 5581"/>
            </a:avLst>
          </a:prstGeom>
          <a:solidFill>
            <a:schemeClr val="bg1"/>
          </a:solidFill>
          <a:ln/>
          <a:effectLst>
            <a:outerShdw sx="100000" sy="100000" kx="0" ky="0" algn="bl" rotWithShape="0" blurRad="76200" dist="25400" dir="5400000">
              <a:srgbClr val="000000">
                <a:alpha val="12000"/>
              </a:srgbClr>
            </a:outerShdw>
          </a:effectLst>
        </p:spPr>
      </p:sp>
      <p:sp>
        <p:nvSpPr>
          <p:cNvPr id="49" name="Relationship 3 circle"/>
          <p:cNvSpPr/>
          <p:nvPr/>
        </p:nvSpPr>
        <p:spPr>
          <a:xfrm>
            <a:off x="8229600" y="4389120"/>
            <a:ext cx="502920" cy="502920"/>
          </a:xfrm>
          <a:prstGeom prst="ellipse">
            <a:avLst/>
          </a:prstGeom>
          <a:solidFill>
            <a:schemeClr val="tx2"/>
          </a:solidFill>
          <a:ln/>
        </p:spPr>
      </p:sp>
      <p:pic>
        <p:nvPicPr>
          <p:cNvPr id="50" name="Relationship 3 icon" descr="preencoded.png">    </p:cNvPr>
          <p:cNvPicPr>
            <a:picLocks noChangeAspect="1"/>
          </p:cNvPicPr>
          <p:nvPr/>
        </p:nvPicPr>
        <p:blipFill>
          <a:blip r:embed="rId8"/>
          <a:stretch>
            <a:fillRect/>
          </a:stretch>
        </p:blipFill>
        <p:spPr>
          <a:xfrm>
            <a:off x="8350301" y="4509821"/>
            <a:ext cx="261518" cy="261518"/>
          </a:xfrm>
          <a:prstGeom prst="rect">
            <a:avLst/>
          </a:prstGeom>
        </p:spPr>
      </p:pic>
      <p:sp>
        <p:nvSpPr>
          <p:cNvPr id="51" name="Text 41"/>
          <p:cNvSpPr txBox="1"/>
          <p:nvPr/>
        </p:nvSpPr>
        <p:spPr>
          <a:xfrm>
            <a:off x="886968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Grow (boosting sales)</a:t>
            </a:r>
            <a:endParaRPr lang="en-US" sz="1500" dirty="0"/>
          </a:p>
        </p:txBody>
      </p:sp>
      <p:sp>
        <p:nvSpPr>
          <p:cNvPr id="52" name="Text 42"/>
          <p:cNvSpPr txBox="1"/>
          <p:nvPr/>
        </p:nvSpPr>
        <p:spPr>
          <a:xfrm>
            <a:off x="8869680" y="4645152"/>
            <a:ext cx="2651760" cy="274320"/>
          </a:xfrm>
          <a:prstGeom prst="rect">
            <a:avLst/>
          </a:prstGeom>
          <a:noFill/>
          <a:ln/>
        </p:spPr>
        <p:txBody>
          <a:bodyPr wrap="square" lIns="0" tIns="0" rIns="0" bIns="0" rtlCol="0" anchor="t"/>
          <a:lstStyle/>
          <a:p>
            <a:pPr indent="0" marL="0">
              <a:buNone/>
            </a:pPr>
            <a:r>
              <a:rPr lang="en-US" sz="1200" b="1" dirty="0">
                <a:solidFill>
                  <a:schemeClr val="accent1"/>
                </a:solidFill>
              </a:rPr>
              <a:t>Self-service + co-creation</a:t>
            </a:r>
            <a:endParaRPr lang="en-US" sz="1200" dirty="0"/>
          </a:p>
        </p:txBody>
      </p:sp>
      <p:sp>
        <p:nvSpPr>
          <p:cNvPr id="53" name="Text 43"/>
          <p:cNvSpPr txBox="1"/>
          <p:nvPr/>
        </p:nvSpPr>
        <p:spPr>
          <a:xfrm>
            <a:off x="8229600" y="5074920"/>
            <a:ext cx="3246120" cy="1005840"/>
          </a:xfrm>
          <a:prstGeom prst="rect">
            <a:avLst/>
          </a:prstGeom>
          <a:noFill/>
          <a:ln/>
        </p:spPr>
        <p:txBody>
          <a:bodyPr wrap="square" lIns="0" tIns="0" rIns="0" bIns="0" rtlCol="0" anchor="t"/>
          <a:lstStyle/>
          <a:p>
            <a:pPr indent="0" marL="0">
              <a:buNone/>
            </a:pPr>
            <a:r>
              <a:rPr lang="en-US" sz="1300" dirty="0">
                <a:solidFill>
                  <a:schemeClr val="tx1"/>
                </a:solidFill>
              </a:rPr>
              <a:t>Add-ons in the bot (ironing, bedding); ratings after each order shape the service.</a:t>
            </a: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Revenue streams: pay per bag or monthly</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 6 of 7</a:t>
            </a:r>
            <a:endParaRPr lang="en-US" sz="1200" dirty="0"/>
          </a:p>
        </p:txBody>
      </p:sp>
      <p:sp>
        <p:nvSpPr>
          <p:cNvPr id="4" name="Who pays card"/>
          <p:cNvSpPr/>
          <p:nvPr/>
        </p:nvSpPr>
        <p:spPr>
          <a:xfrm>
            <a:off x="548640" y="1371600"/>
            <a:ext cx="3520440" cy="804672"/>
          </a:xfrm>
          <a:prstGeom prst="roundRect">
            <a:avLst>
              <a:gd name="adj" fmla="val 13636"/>
            </a:avLst>
          </a:prstGeom>
          <a:solidFill>
            <a:schemeClr val="bg2"/>
          </a:solidFill>
          <a:ln/>
        </p:spPr>
      </p:sp>
      <p:sp>
        <p:nvSpPr>
          <p:cNvPr id="5" name="Text 3"/>
          <p:cNvSpPr txBox="1"/>
          <p:nvPr/>
        </p:nvSpPr>
        <p:spPr>
          <a:xfrm>
            <a:off x="749808" y="1463040"/>
            <a:ext cx="30175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WHO PAYS</a:t>
            </a:r>
            <a:endParaRPr lang="en-US" sz="1100" dirty="0"/>
          </a:p>
        </p:txBody>
      </p:sp>
      <p:sp>
        <p:nvSpPr>
          <p:cNvPr id="6" name="Text 4"/>
          <p:cNvSpPr txBox="1"/>
          <p:nvPr/>
        </p:nvSpPr>
        <p:spPr>
          <a:xfrm>
            <a:off x="749808" y="1700784"/>
            <a:ext cx="3200400" cy="411480"/>
          </a:xfrm>
          <a:prstGeom prst="rect">
            <a:avLst/>
          </a:prstGeom>
          <a:noFill/>
          <a:ln/>
        </p:spPr>
        <p:txBody>
          <a:bodyPr wrap="square" lIns="0" tIns="0" rIns="0" bIns="0" rtlCol="0" anchor="t"/>
          <a:lstStyle/>
          <a:p>
            <a:pPr indent="0" marL="0">
              <a:buNone/>
            </a:pPr>
            <a:r>
              <a:rPr lang="en-US" sz="1300" dirty="0">
                <a:solidFill>
                  <a:schemeClr val="tx1"/>
                </a:solidFill>
              </a:rPr>
              <a:t>The student, sometimes with money from parents</a:t>
            </a:r>
            <a:endParaRPr lang="en-US" sz="1300" dirty="0"/>
          </a:p>
        </p:txBody>
      </p:sp>
      <p:sp>
        <p:nvSpPr>
          <p:cNvPr id="7" name="For what card"/>
          <p:cNvSpPr/>
          <p:nvPr/>
        </p:nvSpPr>
        <p:spPr>
          <a:xfrm>
            <a:off x="548640" y="2258568"/>
            <a:ext cx="3520440" cy="804672"/>
          </a:xfrm>
          <a:prstGeom prst="roundRect">
            <a:avLst>
              <a:gd name="adj" fmla="val 13636"/>
            </a:avLst>
          </a:prstGeom>
          <a:solidFill>
            <a:schemeClr val="bg2"/>
          </a:solidFill>
          <a:ln/>
        </p:spPr>
      </p:sp>
      <p:sp>
        <p:nvSpPr>
          <p:cNvPr id="8" name="Text 6"/>
          <p:cNvSpPr txBox="1"/>
          <p:nvPr/>
        </p:nvSpPr>
        <p:spPr>
          <a:xfrm>
            <a:off x="749808" y="2350008"/>
            <a:ext cx="30175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FOR WHAT</a:t>
            </a:r>
            <a:endParaRPr lang="en-US" sz="1100" dirty="0"/>
          </a:p>
        </p:txBody>
      </p:sp>
      <p:sp>
        <p:nvSpPr>
          <p:cNvPr id="9" name="Text 7"/>
          <p:cNvSpPr txBox="1"/>
          <p:nvPr/>
        </p:nvSpPr>
        <p:spPr>
          <a:xfrm>
            <a:off x="749808" y="2587752"/>
            <a:ext cx="3200400" cy="411480"/>
          </a:xfrm>
          <a:prstGeom prst="rect">
            <a:avLst/>
          </a:prstGeom>
          <a:noFill/>
          <a:ln/>
        </p:spPr>
        <p:txBody>
          <a:bodyPr wrap="square" lIns="0" tIns="0" rIns="0" bIns="0" rtlCol="0" anchor="t"/>
          <a:lstStyle/>
          <a:p>
            <a:pPr indent="0" marL="0">
              <a:buNone/>
            </a:pPr>
            <a:r>
              <a:rPr lang="en-US" sz="1300" dirty="0">
                <a:solidFill>
                  <a:schemeClr val="tx1"/>
                </a:solidFill>
              </a:rPr>
              <a:t>Wash, dry and fold of one bag (up to 6 kg), plus add-ons</a:t>
            </a:r>
            <a:endParaRPr lang="en-US" sz="1300" dirty="0"/>
          </a:p>
        </p:txBody>
      </p:sp>
      <p:sp>
        <p:nvSpPr>
          <p:cNvPr id="10" name="How card"/>
          <p:cNvSpPr/>
          <p:nvPr/>
        </p:nvSpPr>
        <p:spPr>
          <a:xfrm>
            <a:off x="548640" y="3145536"/>
            <a:ext cx="3520440" cy="804672"/>
          </a:xfrm>
          <a:prstGeom prst="roundRect">
            <a:avLst>
              <a:gd name="adj" fmla="val 13636"/>
            </a:avLst>
          </a:prstGeom>
          <a:solidFill>
            <a:schemeClr val="bg2"/>
          </a:solidFill>
          <a:ln/>
        </p:spPr>
      </p:sp>
      <p:sp>
        <p:nvSpPr>
          <p:cNvPr id="11" name="Text 9"/>
          <p:cNvSpPr txBox="1"/>
          <p:nvPr/>
        </p:nvSpPr>
        <p:spPr>
          <a:xfrm>
            <a:off x="749808" y="3236976"/>
            <a:ext cx="30175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HOW</a:t>
            </a:r>
            <a:endParaRPr lang="en-US" sz="1100" dirty="0"/>
          </a:p>
        </p:txBody>
      </p:sp>
      <p:sp>
        <p:nvSpPr>
          <p:cNvPr id="12" name="Text 10"/>
          <p:cNvSpPr txBox="1"/>
          <p:nvPr/>
        </p:nvSpPr>
        <p:spPr>
          <a:xfrm>
            <a:off x="749808" y="3474720"/>
            <a:ext cx="3200400" cy="411480"/>
          </a:xfrm>
          <a:prstGeom prst="rect">
            <a:avLst/>
          </a:prstGeom>
          <a:noFill/>
          <a:ln/>
        </p:spPr>
        <p:txBody>
          <a:bodyPr wrap="square" lIns="0" tIns="0" rIns="0" bIns="0" rtlCol="0" anchor="t"/>
          <a:lstStyle/>
          <a:p>
            <a:pPr indent="0" marL="0">
              <a:buNone/>
            </a:pPr>
            <a:r>
              <a:rPr lang="en-US" sz="1300" dirty="0">
                <a:solidFill>
                  <a:schemeClr val="tx1"/>
                </a:solidFill>
              </a:rPr>
              <a:t>Click or Payme in the bot, or cash at pick-up</a:t>
            </a:r>
            <a:endParaRPr lang="en-US" sz="1300" dirty="0"/>
          </a:p>
        </p:txBody>
      </p:sp>
      <p:sp>
        <p:nvSpPr>
          <p:cNvPr id="13" name="Single bag tile"/>
          <p:cNvSpPr/>
          <p:nvPr/>
        </p:nvSpPr>
        <p:spPr>
          <a:xfrm>
            <a:off x="548640" y="4114800"/>
            <a:ext cx="3520440" cy="1417320"/>
          </a:xfrm>
          <a:prstGeom prst="roundRect">
            <a:avLst>
              <a:gd name="adj" fmla="val 7742"/>
            </a:avLst>
          </a:prstGeom>
          <a:solidFill>
            <a:schemeClr val="accent1"/>
          </a:solidFill>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3108960" cy="274320"/>
          </a:xfrm>
          <a:prstGeom prst="rect">
            <a:avLst/>
          </a:prstGeom>
          <a:noFill/>
          <a:ln/>
        </p:spPr>
        <p:txBody>
          <a:bodyPr wrap="square" lIns="0" tIns="0" rIns="0" bIns="0" rtlCol="0" anchor="t"/>
          <a:lstStyle/>
          <a:p>
            <a:pPr indent="0" marL="0">
              <a:buNone/>
            </a:pPr>
            <a:r>
              <a:rPr lang="en-US" sz="1200" b="1" dirty="0">
                <a:solidFill>
                  <a:schemeClr val="bg1"/>
                </a:solidFill>
              </a:rPr>
              <a:t>TRANSACTION · USAGE FEE</a:t>
            </a:r>
            <a:endParaRPr lang="en-US" sz="1200" dirty="0"/>
          </a:p>
        </p:txBody>
      </p:sp>
      <p:sp>
        <p:nvSpPr>
          <p:cNvPr id="15" name="Text 13"/>
          <p:cNvSpPr txBox="1"/>
          <p:nvPr/>
        </p:nvSpPr>
        <p:spPr>
          <a:xfrm>
            <a:off x="777240" y="4526280"/>
            <a:ext cx="3108960" cy="502920"/>
          </a:xfrm>
          <a:prstGeom prst="rect">
            <a:avLst/>
          </a:prstGeom>
          <a:noFill/>
          <a:ln/>
        </p:spPr>
        <p:txBody>
          <a:bodyPr wrap="square" lIns="0" tIns="0" rIns="0" bIns="0" rtlCol="0" anchor="t"/>
          <a:lstStyle/>
          <a:p>
            <a:pPr indent="0" marL="0">
              <a:buNone/>
            </a:pPr>
            <a:r>
              <a:rPr lang="en-US" sz="2800" b="1" dirty="0">
                <a:solidFill>
                  <a:schemeClr val="bg1"/>
                </a:solidFill>
              </a:rPr>
              <a:t>45,000 UZS</a:t>
            </a:r>
            <a:endParaRPr lang="en-US" sz="2800" dirty="0"/>
          </a:p>
        </p:txBody>
      </p:sp>
      <p:sp>
        <p:nvSpPr>
          <p:cNvPr id="16" name="Text 14"/>
          <p:cNvSpPr txBox="1"/>
          <p:nvPr/>
        </p:nvSpPr>
        <p:spPr>
          <a:xfrm>
            <a:off x="777240" y="5074920"/>
            <a:ext cx="3108960" cy="320040"/>
          </a:xfrm>
          <a:prstGeom prst="rect">
            <a:avLst/>
          </a:prstGeom>
          <a:noFill/>
          <a:ln/>
        </p:spPr>
        <p:txBody>
          <a:bodyPr wrap="square" lIns="0" tIns="0" rIns="0" bIns="0" rtlCol="0" anchor="t"/>
          <a:lstStyle/>
          <a:p>
            <a:pPr indent="0" marL="0">
              <a:buNone/>
            </a:pPr>
            <a:r>
              <a:rPr lang="en-US" sz="1300" dirty="0">
                <a:solidFill>
                  <a:schemeClr val="bg1"/>
                </a:solidFill>
              </a:rPr>
              <a:t>Single bag, pay per order</a:t>
            </a:r>
            <a:endParaRPr lang="en-US" sz="1300" dirty="0"/>
          </a:p>
        </p:txBody>
      </p:sp>
      <p:sp>
        <p:nvSpPr>
          <p:cNvPr id="17" name="Monthly plan tile"/>
          <p:cNvSpPr/>
          <p:nvPr/>
        </p:nvSpPr>
        <p:spPr>
          <a:xfrm>
            <a:off x="4206240" y="4114800"/>
            <a:ext cx="3520440" cy="1417320"/>
          </a:xfrm>
          <a:prstGeom prst="roundRect">
            <a:avLst>
              <a:gd name="adj" fmla="val 7742"/>
            </a:avLst>
          </a:prstGeom>
          <a:solidFill>
            <a:schemeClr val="tx2"/>
          </a:solidFill>
          <a:ln/>
          <a:effectLst>
            <a:outerShdw sx="100000" sy="100000" kx="0" ky="0" algn="bl" rotWithShape="0" blurRad="76200" dist="25400" dir="5400000">
              <a:srgbClr val="000000">
                <a:alpha val="12000"/>
              </a:srgbClr>
            </a:outerShdw>
          </a:effectLst>
        </p:spPr>
      </p:sp>
      <p:sp>
        <p:nvSpPr>
          <p:cNvPr id="18" name="Text 16"/>
          <p:cNvSpPr txBox="1"/>
          <p:nvPr/>
        </p:nvSpPr>
        <p:spPr>
          <a:xfrm>
            <a:off x="4434840" y="4251960"/>
            <a:ext cx="3108960" cy="274320"/>
          </a:xfrm>
          <a:prstGeom prst="rect">
            <a:avLst/>
          </a:prstGeom>
          <a:noFill/>
          <a:ln/>
        </p:spPr>
        <p:txBody>
          <a:bodyPr wrap="square" lIns="0" tIns="0" rIns="0" bIns="0" rtlCol="0" anchor="t"/>
          <a:lstStyle/>
          <a:p>
            <a:pPr indent="0" marL="0">
              <a:buNone/>
            </a:pPr>
            <a:r>
              <a:rPr lang="en-US" sz="1200" b="1" dirty="0">
                <a:solidFill>
                  <a:schemeClr val="bg1"/>
                </a:solidFill>
              </a:rPr>
              <a:t>RECURRING · SUBSCRIPTION</a:t>
            </a:r>
            <a:endParaRPr lang="en-US" sz="1200" dirty="0"/>
          </a:p>
        </p:txBody>
      </p:sp>
      <p:sp>
        <p:nvSpPr>
          <p:cNvPr id="19" name="Text 17"/>
          <p:cNvSpPr txBox="1"/>
          <p:nvPr/>
        </p:nvSpPr>
        <p:spPr>
          <a:xfrm>
            <a:off x="4434840" y="4526280"/>
            <a:ext cx="3108960" cy="502920"/>
          </a:xfrm>
          <a:prstGeom prst="rect">
            <a:avLst/>
          </a:prstGeom>
          <a:noFill/>
          <a:ln/>
        </p:spPr>
        <p:txBody>
          <a:bodyPr wrap="square" lIns="0" tIns="0" rIns="0" bIns="0" rtlCol="0" anchor="t"/>
          <a:lstStyle/>
          <a:p>
            <a:pPr indent="0" marL="0">
              <a:buNone/>
            </a:pPr>
            <a:r>
              <a:rPr lang="en-US" sz="2800" b="1" dirty="0">
                <a:solidFill>
                  <a:schemeClr val="bg1"/>
                </a:solidFill>
              </a:rPr>
              <a:t>160,000 UZS</a:t>
            </a:r>
            <a:endParaRPr lang="en-US" sz="2800" dirty="0"/>
          </a:p>
        </p:txBody>
      </p:sp>
      <p:sp>
        <p:nvSpPr>
          <p:cNvPr id="20" name="Text 18"/>
          <p:cNvSpPr txBox="1"/>
          <p:nvPr/>
        </p:nvSpPr>
        <p:spPr>
          <a:xfrm>
            <a:off x="4434840" y="5074920"/>
            <a:ext cx="3108960" cy="320040"/>
          </a:xfrm>
          <a:prstGeom prst="rect">
            <a:avLst/>
          </a:prstGeom>
          <a:noFill/>
          <a:ln/>
        </p:spPr>
        <p:txBody>
          <a:bodyPr wrap="square" lIns="0" tIns="0" rIns="0" bIns="0" rtlCol="0" anchor="t"/>
          <a:lstStyle/>
          <a:p>
            <a:pPr indent="0" marL="0">
              <a:buNone/>
            </a:pPr>
            <a:r>
              <a:rPr lang="en-US" sz="1300" dirty="0">
                <a:solidFill>
                  <a:schemeClr val="bg1"/>
                </a:solidFill>
              </a:rPr>
              <a:t>Monthly plan: 4 bags (40,000 each)</a:t>
            </a:r>
            <a:endParaRPr lang="en-US" sz="1300" dirty="0"/>
          </a:p>
        </p:txBody>
      </p:sp>
      <p:sp>
        <p:nvSpPr>
          <p:cNvPr id="21" name="Text 19"/>
          <p:cNvSpPr txBox="1"/>
          <p:nvPr/>
        </p:nvSpPr>
        <p:spPr>
          <a:xfrm>
            <a:off x="548640" y="5715000"/>
            <a:ext cx="7178040" cy="320040"/>
          </a:xfrm>
          <a:prstGeom prst="rect">
            <a:avLst/>
          </a:prstGeom>
          <a:noFill/>
          <a:ln/>
        </p:spPr>
        <p:txBody>
          <a:bodyPr wrap="square" lIns="0" tIns="0" rIns="0" bIns="0" rtlCol="0" anchor="t"/>
          <a:lstStyle/>
          <a:p>
            <a:pPr indent="0" marL="0">
              <a:buNone/>
            </a:pPr>
            <a:r>
              <a:rPr lang="en-US" sz="1300" b="1" dirty="0">
                <a:solidFill>
                  <a:schemeClr val="accent5"/>
                </a:solidFill>
              </a:rPr>
              <a:t>Add-ons: </a:t>
            </a:r>
            <a:pPr indent="0" marL="0">
              <a:buNone/>
            </a:pPr>
            <a:r>
              <a:rPr lang="en-US" sz="1300" dirty="0">
                <a:solidFill>
                  <a:schemeClr val="accent5"/>
                </a:solidFill>
              </a:rPr>
              <a:t>ironing 3,000 UZS per item · bedding set 25,000 UZS</a:t>
            </a:r>
            <a:endParaRPr lang="en-US" sz="1300" dirty="0"/>
          </a:p>
        </p:txBody>
      </p:sp>
      <p:sp>
        <p:nvSpPr>
          <p:cNvPr id="22" name="Mix card"/>
          <p:cNvSpPr/>
          <p:nvPr/>
        </p:nvSpPr>
        <p:spPr>
          <a:xfrm>
            <a:off x="4206240" y="1371600"/>
            <a:ext cx="3520440" cy="2551176"/>
          </a:xfrm>
          <a:prstGeom prst="roundRect">
            <a:avLst>
              <a:gd name="adj" fmla="val 4301"/>
            </a:avLst>
          </a:prstGeom>
          <a:solidFill>
            <a:schemeClr val="bg2"/>
          </a:solidFill>
          <a:ln/>
        </p:spPr>
      </p:sp>
      <p:sp>
        <p:nvSpPr>
          <p:cNvPr id="23" name="Text 21"/>
          <p:cNvSpPr txBox="1"/>
          <p:nvPr/>
        </p:nvSpPr>
        <p:spPr>
          <a:xfrm>
            <a:off x="4434840" y="1508760"/>
            <a:ext cx="3108960" cy="320040"/>
          </a:xfrm>
          <a:prstGeom prst="rect">
            <a:avLst/>
          </a:prstGeom>
          <a:noFill/>
          <a:ln/>
        </p:spPr>
        <p:txBody>
          <a:bodyPr wrap="square" lIns="0" tIns="0" rIns="0" bIns="0" rtlCol="0" anchor="t"/>
          <a:lstStyle/>
          <a:p>
            <a:pPr indent="0" marL="0">
              <a:buNone/>
            </a:pPr>
            <a:r>
              <a:rPr lang="en-US" sz="1600" b="1" dirty="0">
                <a:solidFill>
                  <a:schemeClr val="tx2"/>
                </a:solidFill>
              </a:rPr>
              <a:t>Why both?</a:t>
            </a:r>
            <a:endParaRPr lang="en-US" sz="1600" dirty="0"/>
          </a:p>
        </p:txBody>
      </p:sp>
      <p:sp>
        <p:nvSpPr>
          <p:cNvPr id="24" name="Text 22"/>
          <p:cNvSpPr txBox="1"/>
          <p:nvPr/>
        </p:nvSpPr>
        <p:spPr>
          <a:xfrm>
            <a:off x="4434840" y="1920240"/>
            <a:ext cx="31089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Single bags lower the barrier to a first try.</a:t>
            </a:r>
            <a:endParaRPr lang="en-US" sz="1400" dirty="0"/>
          </a:p>
          <a:p>
            <a:pPr marL="342900" indent="-342900">
              <a:spcAft>
                <a:spcPts val="800"/>
              </a:spcAft>
              <a:buSzPct val="100000"/>
              <a:buChar char="•"/>
            </a:pPr>
            <a:r>
              <a:rPr lang="en-US" sz="1400" dirty="0">
                <a:solidFill>
                  <a:schemeClr val="tx1"/>
                </a:solidFill>
              </a:rPr>
              <a:t>The monthly plan trades margin for predictable, recurring revenue and fewer lost customers.</a:t>
            </a:r>
            <a:endParaRPr lang="en-US" sz="1400" dirty="0"/>
          </a:p>
        </p:txBody>
      </p:sp>
      <p:sp>
        <p:nvSpPr>
          <p:cNvPr id="25" name="Text 23"/>
          <p:cNvSpPr txBox="1"/>
          <p:nvPr/>
        </p:nvSpPr>
        <p:spPr>
          <a:xfrm>
            <a:off x="8001000" y="1371600"/>
            <a:ext cx="3657600" cy="320040"/>
          </a:xfrm>
          <a:prstGeom prst="rect">
            <a:avLst/>
          </a:prstGeom>
          <a:noFill/>
          <a:ln/>
        </p:spPr>
        <p:txBody>
          <a:bodyPr wrap="square" lIns="0" tIns="0" rIns="0" bIns="0" rtlCol="0" anchor="t"/>
          <a:lstStyle/>
          <a:p>
            <a:pPr indent="0" marL="0">
              <a:buNone/>
            </a:pPr>
            <a:r>
              <a:rPr lang="en-US" sz="1600" b="1" dirty="0">
                <a:solidFill>
                  <a:schemeClr val="tx2"/>
                </a:solidFill>
              </a:rPr>
              <a:t>Unit economics per bag (from Task 2)</a:t>
            </a:r>
            <a:endParaRPr lang="en-US" sz="1600" dirty="0"/>
          </a:p>
        </p:txBody>
      </p:sp>
      <p:graphicFrame>
        <p:nvGraphicFramePr>
          <p:cNvPr id="7" name="Unit economics table"/>
          <p:cNvGraphicFramePr>
            <a:graphicFrameLocks noGrp="1"/>
          </p:cNvGraphicFramePr>
          <p:nvPr>
            <p:extLst>
              <p:ext uri="{D42A27DB-BD31-4B8C-83A1-F6EECF244321}">
                <p14:modId xmlns:p14="http://schemas.microsoft.com/office/powerpoint/2010/main" val="1579011935"/>
              </p:ext>
            </p:extLst>
          </p:nvPr>
        </p:nvGraphicFramePr>
        <p:xfrm>
          <a:off x="8001000" y="1783080"/>
          <a:ext cx="3657600" cy="914400"/>
        </p:xfrm>
        <a:graphic>
          <a:graphicData uri="http://schemas.openxmlformats.org/drawingml/2006/table">
            <a:tbl>
              <a:tblPr/>
              <a:tblGrid>
                <a:gridCol w="1737360"/>
                <a:gridCol w="960120"/>
                <a:gridCol w="960120"/>
              </a:tblGrid>
              <a:tr h="365760">
                <a:tc>
                  <a:txBody>
                    <a:bodyPr/>
                    <a:lstStyle/>
                    <a:p>
                      <a:pPr algn="l" indent="0" marL="0">
                        <a:buNone/>
                      </a:pPr>
                      <a:r>
                        <a:rPr lang="en-US" sz="1300" b="1" dirty="0">
                          <a:solidFill>
                            <a:schemeClr val="bg1"/>
                          </a:solidFill>
                        </a:rPr>
                        <a:t>UZS</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Single</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Plan</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tx2"/>
                    </a:solidFill>
                  </a:tcPr>
                </a:tc>
              </a:tr>
              <a:tr h="365760">
                <a:tc>
                  <a:txBody>
                    <a:bodyPr/>
                    <a:lstStyle/>
                    <a:p>
                      <a:pPr algn="l" indent="0" marL="0">
                        <a:buNone/>
                      </a:pPr>
                      <a:r>
                        <a:rPr lang="en-US" sz="1300" dirty="0">
                          <a:solidFill>
                            <a:schemeClr val="tx1"/>
                          </a:solidFill>
                        </a:rPr>
                        <a:t>Price</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45,000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40,000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rPr>
                        <a:t>Partner laundry</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−22,000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−22,000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rPr>
                        <a:t>Courier &amp; transport</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r h="365760">
                <a:tc>
                  <a:txBody>
                    <a:bodyPr/>
                    <a:lstStyle/>
                    <a:p>
                      <a:pPr algn="l" indent="0" marL="0">
                        <a:buNone/>
                      </a:pPr>
                      <a:r>
                        <a:rPr lang="en-US" sz="1300" dirty="0">
                          <a:solidFill>
                            <a:schemeClr val="tx1"/>
                          </a:solidFill>
                        </a:rPr>
                        <a:t>Bag &amp; payment fee</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accent4"/>
                          </a:solidFill>
                        </a:rPr>
                        <a:t>Contribution</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accent4"/>
                          </a:solidFill>
                        </a:rPr>
                        <a:t>15,000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accent4"/>
                          </a:solidFill>
                        </a:rPr>
                        <a:t>10,000</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accent4"/>
                          </a:solidFill>
                        </a:rPr>
                        <a:t>Margin</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accent4"/>
                          </a:solidFill>
                        </a:rPr>
                        <a:t>33%</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accent4"/>
                          </a:solidFill>
                        </a:rPr>
                        <a:t>25%</a:t>
                      </a:r>
                      <a:endParaRPr lang="en-US" sz="1300" dirty="0"/>
                    </a:p>
                  </a:txBody>
                  <a:tcPr marL="73152" marR="73152" marT="0" marB="0" anchor="ctr">
                    <a:lnL w="9525" cap="flat" cmpd="sng" algn="ctr">
                      <a:solidFill>
                        <a:srgbClr val="B9E1E3"/>
                      </a:solidFill>
                      <a:prstDash val="solid"/>
                      <a:round/>
                      <a:headEnd type="none" w="med" len="med"/>
                      <a:tailEnd type="none" w="med" len="med"/>
                    </a:lnL>
                    <a:lnR w="9525" cap="flat" cmpd="sng" algn="ctr">
                      <a:solidFill>
                        <a:srgbClr val="B9E1E3"/>
                      </a:solidFill>
                      <a:prstDash val="solid"/>
                      <a:round/>
                      <a:headEnd type="none" w="med" len="med"/>
                      <a:tailEnd type="none" w="med" len="med"/>
                    </a:lnR>
                    <a:lnT w="9525" cap="flat" cmpd="sng" algn="ctr">
                      <a:solidFill>
                        <a:srgbClr val="B9E1E3"/>
                      </a:solidFill>
                      <a:prstDash val="solid"/>
                      <a:round/>
                      <a:headEnd type="none" w="med" len="med"/>
                      <a:tailEnd type="none" w="med" len="med"/>
                    </a:lnT>
                    <a:lnB w="9525" cap="flat" cmpd="sng" algn="ctr">
                      <a:solidFill>
                        <a:srgbClr val="B9E1E3"/>
                      </a:solidFill>
                      <a:prstDash val="solid"/>
                      <a:round/>
                      <a:headEnd type="none" w="med" len="med"/>
                      <a:tailEnd type="none" w="med" len="med"/>
                    </a:lnB>
                    <a:solidFill>
                      <a:schemeClr val="bg1"/>
                    </a:solidFill>
                  </a:tcPr>
                </a:tc>
              </a:tr>
            </a:tbl>
          </a:graphicData>
        </a:graphic>
      </p:graphicFrame>
      <p:sp>
        <p:nvSpPr>
          <p:cNvPr id="27" name="Text 24"/>
          <p:cNvSpPr txBox="1"/>
          <p:nvPr/>
        </p:nvSpPr>
        <p:spPr>
          <a:xfrm>
            <a:off x="8001000" y="4526280"/>
            <a:ext cx="3657600" cy="685800"/>
          </a:xfrm>
          <a:prstGeom prst="rect">
            <a:avLst/>
          </a:prstGeom>
          <a:noFill/>
          <a:ln/>
        </p:spPr>
        <p:txBody>
          <a:bodyPr wrap="square" lIns="0" tIns="0" rIns="0" bIns="0" rtlCol="0" anchor="t"/>
          <a:lstStyle/>
          <a:p>
            <a:pPr indent="0" marL="0">
              <a:buNone/>
            </a:pPr>
            <a:r>
              <a:rPr lang="en-US" sz="1200" i="1" dirty="0">
                <a:solidFill>
                  <a:schemeClr val="accent5"/>
                </a:solidFill>
              </a:rPr>
              <a:t>Courier cost assumes about 15 bags per pick-up trip. Fixed costs come next week (cost structure).</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rPr>
              <a:t>What we are least sure about</a:t>
            </a:r>
            <a:endParaRPr lang="en-US" sz="3200" dirty="0"/>
          </a:p>
        </p:txBody>
      </p:sp>
      <p:sp>
        <p:nvSpPr>
          <p:cNvPr id="3" name="Point chip"/>
          <p:cNvSpPr txBox="1"/>
          <p:nvPr/>
        </p:nvSpPr>
        <p:spPr>
          <a:xfrm>
            <a:off x="10058400" y="548640"/>
            <a:ext cx="1600200" cy="384048"/>
          </a:xfrm>
          <a:prstGeom prst="roundRect">
            <a:avLst>
              <a:gd name="adj" fmla="val 47619"/>
            </a:avLst>
          </a:prstGeom>
          <a:solidFill>
            <a:schemeClr val="bg2"/>
          </a:solidFill>
          <a:ln/>
        </p:spPr>
        <p:txBody>
          <a:bodyPr wrap="square" lIns="0" tIns="0" rIns="0" bIns="0" rtlCol="0" anchor="ctr"/>
          <a:lstStyle/>
          <a:p>
            <a:pPr algn="ctr" indent="0" marL="0">
              <a:buNone/>
            </a:pPr>
            <a:r>
              <a:rPr lang="en-US" sz="1200" b="1" dirty="0">
                <a:solidFill>
                  <a:schemeClr val="accent1"/>
                </a:solidFill>
              </a:rPr>
              <a:t>Point 7 of 7</a:t>
            </a:r>
            <a:endParaRPr lang="en-US" sz="1200" dirty="0"/>
          </a:p>
        </p:txBody>
      </p:sp>
      <p:sp>
        <p:nvSpPr>
          <p:cNvPr id="4" name="Text 2"/>
          <p:cNvSpPr txBox="1"/>
          <p:nvPr/>
        </p:nvSpPr>
        <p:spPr>
          <a:xfrm>
            <a:off x="548640" y="1325880"/>
            <a:ext cx="2194560" cy="274320"/>
          </a:xfrm>
          <a:prstGeom prst="rect">
            <a:avLst/>
          </a:prstGeom>
          <a:noFill/>
          <a:ln/>
        </p:spPr>
        <p:txBody>
          <a:bodyPr wrap="square" lIns="0" tIns="0" rIns="0" bIns="0" rtlCol="0" anchor="t"/>
          <a:lstStyle/>
          <a:p>
            <a:pPr indent="0" marL="0">
              <a:buNone/>
            </a:pPr>
            <a:r>
              <a:rPr lang="en-US" sz="1200" b="1" dirty="0">
                <a:solidFill>
                  <a:schemeClr val="accent5"/>
                </a:solidFill>
              </a:rPr>
              <a:t>Block</a:t>
            </a:r>
            <a:endParaRPr lang="en-US" sz="1200" dirty="0"/>
          </a:p>
        </p:txBody>
      </p:sp>
      <p:sp>
        <p:nvSpPr>
          <p:cNvPr id="5" name="Text 3"/>
          <p:cNvSpPr txBox="1"/>
          <p:nvPr/>
        </p:nvSpPr>
        <p:spPr>
          <a:xfrm>
            <a:off x="2788920" y="1325880"/>
            <a:ext cx="3657600" cy="274320"/>
          </a:xfrm>
          <a:prstGeom prst="rect">
            <a:avLst/>
          </a:prstGeom>
          <a:noFill/>
          <a:ln/>
        </p:spPr>
        <p:txBody>
          <a:bodyPr wrap="square" lIns="0" tIns="0" rIns="0" bIns="0" rtlCol="0" anchor="t"/>
          <a:lstStyle/>
          <a:p>
            <a:pPr indent="0" marL="0">
              <a:buNone/>
            </a:pPr>
            <a:r>
              <a:rPr lang="en-US" sz="1200" b="1" dirty="0">
                <a:solidFill>
                  <a:schemeClr val="accent5"/>
                </a:solidFill>
              </a:rPr>
              <a:t>Based on</a:t>
            </a:r>
            <a:endParaRPr lang="en-US" sz="1200" dirty="0"/>
          </a:p>
        </p:txBody>
      </p:sp>
      <p:sp>
        <p:nvSpPr>
          <p:cNvPr id="6" name="Text 4"/>
          <p:cNvSpPr txBox="1"/>
          <p:nvPr/>
        </p:nvSpPr>
        <p:spPr>
          <a:xfrm>
            <a:off x="5669280" y="1325880"/>
            <a:ext cx="1463040" cy="274320"/>
          </a:xfrm>
          <a:prstGeom prst="rect">
            <a:avLst/>
          </a:prstGeom>
          <a:noFill/>
          <a:ln/>
        </p:spPr>
        <p:txBody>
          <a:bodyPr wrap="square" lIns="0" tIns="0" rIns="0" bIns="0" rtlCol="0" anchor="t"/>
          <a:lstStyle/>
          <a:p>
            <a:pPr indent="0" marL="0">
              <a:buNone/>
            </a:pPr>
            <a:r>
              <a:rPr lang="en-US" sz="1200" b="1" dirty="0">
                <a:solidFill>
                  <a:schemeClr val="accent5"/>
                </a:solidFill>
              </a:rPr>
              <a:t>Confidence</a:t>
            </a:r>
            <a:endParaRPr lang="en-US" sz="1200" dirty="0"/>
          </a:p>
        </p:txBody>
      </p:sp>
      <p:sp>
        <p:nvSpPr>
          <p:cNvPr id="7" name="Evidence Customer segments"/>
          <p:cNvSpPr/>
          <p:nvPr/>
        </p:nvSpPr>
        <p:spPr>
          <a:xfrm>
            <a:off x="548640" y="1691640"/>
            <a:ext cx="6675120" cy="731520"/>
          </a:xfrm>
          <a:prstGeom prst="roundRect">
            <a:avLst>
              <a:gd name="adj" fmla="val 15000"/>
            </a:avLst>
          </a:prstGeom>
          <a:solidFill>
            <a:schemeClr val="bg2"/>
          </a:solidFill>
          <a:ln/>
        </p:spPr>
      </p:sp>
      <p:sp>
        <p:nvSpPr>
          <p:cNvPr id="8" name="Text 6"/>
          <p:cNvSpPr txBox="1"/>
          <p:nvPr/>
        </p:nvSpPr>
        <p:spPr>
          <a:xfrm>
            <a:off x="731520" y="1691640"/>
            <a:ext cx="2011680" cy="731520"/>
          </a:xfrm>
          <a:prstGeom prst="rect">
            <a:avLst/>
          </a:prstGeom>
          <a:noFill/>
          <a:ln/>
        </p:spPr>
        <p:txBody>
          <a:bodyPr wrap="square" lIns="0" tIns="0" rIns="0" bIns="0" rtlCol="0" anchor="ctr"/>
          <a:lstStyle/>
          <a:p>
            <a:pPr indent="0" marL="0">
              <a:buNone/>
            </a:pPr>
            <a:r>
              <a:rPr lang="en-US" sz="1500" b="1" dirty="0">
                <a:solidFill>
                  <a:schemeClr val="tx2"/>
                </a:solidFill>
              </a:rPr>
              <a:t>Customer segments</a:t>
            </a:r>
            <a:endParaRPr lang="en-US" sz="1500" dirty="0"/>
          </a:p>
        </p:txBody>
      </p:sp>
      <p:sp>
        <p:nvSpPr>
          <p:cNvPr id="9" name="Text 7"/>
          <p:cNvSpPr txBox="1"/>
          <p:nvPr/>
        </p:nvSpPr>
        <p:spPr>
          <a:xfrm>
            <a:off x="2788920" y="1691640"/>
            <a:ext cx="2743200" cy="731520"/>
          </a:xfrm>
          <a:prstGeom prst="rect">
            <a:avLst/>
          </a:prstGeom>
          <a:noFill/>
          <a:ln/>
        </p:spPr>
        <p:txBody>
          <a:bodyPr wrap="square" lIns="0" tIns="0" rIns="0" bIns="0" rtlCol="0" anchor="ctr"/>
          <a:lstStyle/>
          <a:p>
            <a:pPr indent="0" marL="0">
              <a:buNone/>
            </a:pPr>
            <a:r>
              <a:rPr lang="en-US" sz="1200" dirty="0">
                <a:solidFill>
                  <a:schemeClr val="tx1"/>
                </a:solidFill>
              </a:rPr>
              <a:t>Interviews: 6 of 8 dorm students named laundry a weekly problem</a:t>
            </a:r>
            <a:endParaRPr lang="en-US" sz="1200" dirty="0"/>
          </a:p>
        </p:txBody>
      </p:sp>
      <p:sp>
        <p:nvSpPr>
          <p:cNvPr id="10" name="Confidence Customer segments 1"/>
          <p:cNvSpPr/>
          <p:nvPr/>
        </p:nvSpPr>
        <p:spPr>
          <a:xfrm>
            <a:off x="5760720" y="1956816"/>
            <a:ext cx="201168" cy="201168"/>
          </a:xfrm>
          <a:prstGeom prst="ellipse">
            <a:avLst/>
          </a:prstGeom>
          <a:solidFill>
            <a:schemeClr val="tx2"/>
          </a:solidFill>
          <a:ln w="12700">
            <a:solidFill>
              <a:schemeClr val="tx2"/>
            </a:solidFill>
            <a:prstDash val="solid"/>
          </a:ln>
        </p:spPr>
      </p:sp>
      <p:sp>
        <p:nvSpPr>
          <p:cNvPr id="11" name="Confidence Customer segments 2"/>
          <p:cNvSpPr/>
          <p:nvPr/>
        </p:nvSpPr>
        <p:spPr>
          <a:xfrm>
            <a:off x="6089904" y="1956816"/>
            <a:ext cx="201168" cy="201168"/>
          </a:xfrm>
          <a:prstGeom prst="ellipse">
            <a:avLst/>
          </a:prstGeom>
          <a:solidFill>
            <a:schemeClr val="tx2"/>
          </a:solidFill>
          <a:ln w="12700">
            <a:solidFill>
              <a:schemeClr val="tx2"/>
            </a:solidFill>
            <a:prstDash val="solid"/>
          </a:ln>
        </p:spPr>
      </p:sp>
      <p:sp>
        <p:nvSpPr>
          <p:cNvPr id="12" name="Confidence Customer segments 3"/>
          <p:cNvSpPr/>
          <p:nvPr/>
        </p:nvSpPr>
        <p:spPr>
          <a:xfrm>
            <a:off x="6419088" y="1956816"/>
            <a:ext cx="201168" cy="201168"/>
          </a:xfrm>
          <a:prstGeom prst="ellipse">
            <a:avLst/>
          </a:prstGeom>
          <a:solidFill>
            <a:schemeClr val="tx2"/>
          </a:solidFill>
          <a:ln w="12700">
            <a:solidFill>
              <a:schemeClr val="tx2"/>
            </a:solidFill>
            <a:prstDash val="solid"/>
          </a:ln>
        </p:spPr>
      </p:sp>
      <p:sp>
        <p:nvSpPr>
          <p:cNvPr id="13" name="Confidence Customer segments 4"/>
          <p:cNvSpPr/>
          <p:nvPr/>
        </p:nvSpPr>
        <p:spPr>
          <a:xfrm>
            <a:off x="6748272" y="1956816"/>
            <a:ext cx="201168" cy="201168"/>
          </a:xfrm>
          <a:prstGeom prst="ellipse">
            <a:avLst/>
          </a:prstGeom>
          <a:solidFill>
            <a:schemeClr val="tx2"/>
          </a:solidFill>
          <a:ln w="12700">
            <a:solidFill>
              <a:schemeClr val="tx2"/>
            </a:solidFill>
            <a:prstDash val="solid"/>
          </a:ln>
        </p:spPr>
      </p:sp>
      <p:sp>
        <p:nvSpPr>
          <p:cNvPr id="14" name="Evidence Value proposition"/>
          <p:cNvSpPr/>
          <p:nvPr/>
        </p:nvSpPr>
        <p:spPr>
          <a:xfrm>
            <a:off x="548640" y="2560320"/>
            <a:ext cx="6675120" cy="731520"/>
          </a:xfrm>
          <a:prstGeom prst="roundRect">
            <a:avLst>
              <a:gd name="adj" fmla="val 15000"/>
            </a:avLst>
          </a:prstGeom>
          <a:solidFill>
            <a:schemeClr val="bg2"/>
          </a:solidFill>
          <a:ln/>
        </p:spPr>
      </p:sp>
      <p:sp>
        <p:nvSpPr>
          <p:cNvPr id="15" name="Text 13"/>
          <p:cNvSpPr txBox="1"/>
          <p:nvPr/>
        </p:nvSpPr>
        <p:spPr>
          <a:xfrm>
            <a:off x="731520" y="2560320"/>
            <a:ext cx="2011680" cy="731520"/>
          </a:xfrm>
          <a:prstGeom prst="rect">
            <a:avLst/>
          </a:prstGeom>
          <a:noFill/>
          <a:ln/>
        </p:spPr>
        <p:txBody>
          <a:bodyPr wrap="square" lIns="0" tIns="0" rIns="0" bIns="0" rtlCol="0" anchor="ctr"/>
          <a:lstStyle/>
          <a:p>
            <a:pPr indent="0" marL="0">
              <a:buNone/>
            </a:pPr>
            <a:r>
              <a:rPr lang="en-US" sz="1500" b="1" dirty="0">
                <a:solidFill>
                  <a:schemeClr val="tx2"/>
                </a:solidFill>
              </a:rPr>
              <a:t>Value proposition</a:t>
            </a:r>
            <a:endParaRPr lang="en-US" sz="1500" dirty="0"/>
          </a:p>
        </p:txBody>
      </p:sp>
      <p:sp>
        <p:nvSpPr>
          <p:cNvPr id="16" name="Text 14"/>
          <p:cNvSpPr txBox="1"/>
          <p:nvPr/>
        </p:nvSpPr>
        <p:spPr>
          <a:xfrm>
            <a:off x="2788920" y="2560320"/>
            <a:ext cx="2743200" cy="731520"/>
          </a:xfrm>
          <a:prstGeom prst="rect">
            <a:avLst/>
          </a:prstGeom>
          <a:noFill/>
          <a:ln/>
        </p:spPr>
        <p:txBody>
          <a:bodyPr wrap="square" lIns="0" tIns="0" rIns="0" bIns="0" rtlCol="0" anchor="ctr"/>
          <a:lstStyle/>
          <a:p>
            <a:pPr indent="0" marL="0">
              <a:buNone/>
            </a:pPr>
            <a:r>
              <a:rPr lang="en-US" sz="1200" dirty="0">
                <a:solidFill>
                  <a:schemeClr val="tx1"/>
                </a:solidFill>
              </a:rPr>
              <a:t>Interviews: queues and drying space came up most</a:t>
            </a:r>
            <a:endParaRPr lang="en-US" sz="1200" dirty="0"/>
          </a:p>
        </p:txBody>
      </p:sp>
      <p:sp>
        <p:nvSpPr>
          <p:cNvPr id="17" name="Confidence Value proposition 1"/>
          <p:cNvSpPr/>
          <p:nvPr/>
        </p:nvSpPr>
        <p:spPr>
          <a:xfrm>
            <a:off x="5760720" y="2825496"/>
            <a:ext cx="201168" cy="201168"/>
          </a:xfrm>
          <a:prstGeom prst="ellipse">
            <a:avLst/>
          </a:prstGeom>
          <a:solidFill>
            <a:schemeClr val="tx2"/>
          </a:solidFill>
          <a:ln w="12700">
            <a:solidFill>
              <a:schemeClr val="tx2"/>
            </a:solidFill>
            <a:prstDash val="solid"/>
          </a:ln>
        </p:spPr>
      </p:sp>
      <p:sp>
        <p:nvSpPr>
          <p:cNvPr id="18" name="Confidence Value proposition 2"/>
          <p:cNvSpPr/>
          <p:nvPr/>
        </p:nvSpPr>
        <p:spPr>
          <a:xfrm>
            <a:off x="6089904" y="2825496"/>
            <a:ext cx="201168" cy="201168"/>
          </a:xfrm>
          <a:prstGeom prst="ellipse">
            <a:avLst/>
          </a:prstGeom>
          <a:solidFill>
            <a:schemeClr val="tx2"/>
          </a:solidFill>
          <a:ln w="12700">
            <a:solidFill>
              <a:schemeClr val="tx2"/>
            </a:solidFill>
            <a:prstDash val="solid"/>
          </a:ln>
        </p:spPr>
      </p:sp>
      <p:sp>
        <p:nvSpPr>
          <p:cNvPr id="19" name="Confidence Value proposition 3"/>
          <p:cNvSpPr/>
          <p:nvPr/>
        </p:nvSpPr>
        <p:spPr>
          <a:xfrm>
            <a:off x="6419088" y="2825496"/>
            <a:ext cx="201168" cy="201168"/>
          </a:xfrm>
          <a:prstGeom prst="ellipse">
            <a:avLst/>
          </a:prstGeom>
          <a:solidFill>
            <a:schemeClr val="tx2"/>
          </a:solidFill>
          <a:ln w="12700">
            <a:solidFill>
              <a:schemeClr val="tx2"/>
            </a:solidFill>
            <a:prstDash val="solid"/>
          </a:ln>
        </p:spPr>
      </p:sp>
      <p:sp>
        <p:nvSpPr>
          <p:cNvPr id="20" name="Confidence Value proposition 4"/>
          <p:cNvSpPr/>
          <p:nvPr/>
        </p:nvSpPr>
        <p:spPr>
          <a:xfrm>
            <a:off x="6748272" y="2825496"/>
            <a:ext cx="201168" cy="201168"/>
          </a:xfrm>
          <a:prstGeom prst="ellipse">
            <a:avLst/>
          </a:prstGeom>
          <a:solidFill>
            <a:schemeClr val="tx2"/>
          </a:solidFill>
          <a:ln w="12700">
            <a:solidFill>
              <a:schemeClr val="tx2"/>
            </a:solidFill>
            <a:prstDash val="solid"/>
          </a:ln>
        </p:spPr>
      </p:sp>
      <p:sp>
        <p:nvSpPr>
          <p:cNvPr id="21" name="Evidence Channels"/>
          <p:cNvSpPr/>
          <p:nvPr/>
        </p:nvSpPr>
        <p:spPr>
          <a:xfrm>
            <a:off x="548640" y="3429000"/>
            <a:ext cx="6675120" cy="731520"/>
          </a:xfrm>
          <a:prstGeom prst="roundRect">
            <a:avLst>
              <a:gd name="adj" fmla="val 15000"/>
            </a:avLst>
          </a:prstGeom>
          <a:solidFill>
            <a:schemeClr val="bg2"/>
          </a:solidFill>
          <a:ln/>
        </p:spPr>
      </p:sp>
      <p:sp>
        <p:nvSpPr>
          <p:cNvPr id="22" name="Text 20"/>
          <p:cNvSpPr txBox="1"/>
          <p:nvPr/>
        </p:nvSpPr>
        <p:spPr>
          <a:xfrm>
            <a:off x="731520" y="3429000"/>
            <a:ext cx="2011680" cy="731520"/>
          </a:xfrm>
          <a:prstGeom prst="rect">
            <a:avLst/>
          </a:prstGeom>
          <a:noFill/>
          <a:ln/>
        </p:spPr>
        <p:txBody>
          <a:bodyPr wrap="square" lIns="0" tIns="0" rIns="0" bIns="0" rtlCol="0" anchor="ctr"/>
          <a:lstStyle/>
          <a:p>
            <a:pPr indent="0" marL="0">
              <a:buNone/>
            </a:pPr>
            <a:r>
              <a:rPr lang="en-US" sz="1500" b="1" dirty="0">
                <a:solidFill>
                  <a:schemeClr val="tx2"/>
                </a:solidFill>
              </a:rPr>
              <a:t>Channels</a:t>
            </a:r>
            <a:endParaRPr lang="en-US" sz="1500" dirty="0"/>
          </a:p>
        </p:txBody>
      </p:sp>
      <p:sp>
        <p:nvSpPr>
          <p:cNvPr id="23" name="Text 21"/>
          <p:cNvSpPr txBox="1"/>
          <p:nvPr/>
        </p:nvSpPr>
        <p:spPr>
          <a:xfrm>
            <a:off x="2788920" y="3429000"/>
            <a:ext cx="2743200" cy="731520"/>
          </a:xfrm>
          <a:prstGeom prst="rect">
            <a:avLst/>
          </a:prstGeom>
          <a:noFill/>
          <a:ln/>
        </p:spPr>
        <p:txBody>
          <a:bodyPr wrap="square" lIns="0" tIns="0" rIns="0" bIns="0" rtlCol="0" anchor="ctr"/>
          <a:lstStyle/>
          <a:p>
            <a:pPr indent="0" marL="0">
              <a:buNone/>
            </a:pPr>
            <a:r>
              <a:rPr lang="en-US" sz="1200" dirty="0">
                <a:solidFill>
                  <a:schemeClr val="tx1"/>
                </a:solidFill>
              </a:rPr>
              <a:t>Mixed: all 8 use dorm Telegram chats; ambassadors are assumed</a:t>
            </a:r>
            <a:endParaRPr lang="en-US" sz="1200" dirty="0"/>
          </a:p>
        </p:txBody>
      </p:sp>
      <p:sp>
        <p:nvSpPr>
          <p:cNvPr id="24" name="Confidence Channels 1"/>
          <p:cNvSpPr/>
          <p:nvPr/>
        </p:nvSpPr>
        <p:spPr>
          <a:xfrm>
            <a:off x="5760720" y="3694176"/>
            <a:ext cx="201168" cy="201168"/>
          </a:xfrm>
          <a:prstGeom prst="ellipse">
            <a:avLst/>
          </a:prstGeom>
          <a:solidFill>
            <a:schemeClr val="tx2"/>
          </a:solidFill>
          <a:ln w="12700">
            <a:solidFill>
              <a:schemeClr val="tx2"/>
            </a:solidFill>
            <a:prstDash val="solid"/>
          </a:ln>
        </p:spPr>
      </p:sp>
      <p:sp>
        <p:nvSpPr>
          <p:cNvPr id="25" name="Confidence Channels 2"/>
          <p:cNvSpPr/>
          <p:nvPr/>
        </p:nvSpPr>
        <p:spPr>
          <a:xfrm>
            <a:off x="6089904" y="3694176"/>
            <a:ext cx="201168" cy="201168"/>
          </a:xfrm>
          <a:prstGeom prst="ellipse">
            <a:avLst/>
          </a:prstGeom>
          <a:solidFill>
            <a:schemeClr val="tx2"/>
          </a:solidFill>
          <a:ln w="12700">
            <a:solidFill>
              <a:schemeClr val="tx2"/>
            </a:solidFill>
            <a:prstDash val="solid"/>
          </a:ln>
        </p:spPr>
      </p:sp>
      <p:sp>
        <p:nvSpPr>
          <p:cNvPr id="26" name="Confidence Channels 3"/>
          <p:cNvSpPr/>
          <p:nvPr/>
        </p:nvSpPr>
        <p:spPr>
          <a:xfrm>
            <a:off x="6419088" y="3694176"/>
            <a:ext cx="201168" cy="201168"/>
          </a:xfrm>
          <a:prstGeom prst="ellipse">
            <a:avLst/>
          </a:prstGeom>
          <a:solidFill>
            <a:schemeClr val="tx2"/>
          </a:solidFill>
          <a:ln w="12700">
            <a:solidFill>
              <a:schemeClr val="tx2"/>
            </a:solidFill>
            <a:prstDash val="solid"/>
          </a:ln>
        </p:spPr>
      </p:sp>
      <p:sp>
        <p:nvSpPr>
          <p:cNvPr id="27" name="Confidence Channels 4"/>
          <p:cNvSpPr/>
          <p:nvPr/>
        </p:nvSpPr>
        <p:spPr>
          <a:xfrm>
            <a:off x="6748272" y="3694176"/>
            <a:ext cx="201168" cy="201168"/>
          </a:xfrm>
          <a:prstGeom prst="ellipse">
            <a:avLst/>
          </a:prstGeom>
          <a:solidFill>
            <a:schemeClr val="bg1"/>
          </a:solidFill>
          <a:ln w="12700">
            <a:solidFill>
              <a:schemeClr val="tx2"/>
            </a:solidFill>
            <a:prstDash val="solid"/>
          </a:ln>
        </p:spPr>
      </p:sp>
      <p:sp>
        <p:nvSpPr>
          <p:cNvPr id="28" name="Evidence Relationships"/>
          <p:cNvSpPr/>
          <p:nvPr/>
        </p:nvSpPr>
        <p:spPr>
          <a:xfrm>
            <a:off x="548640" y="4297680"/>
            <a:ext cx="6675120" cy="731520"/>
          </a:xfrm>
          <a:prstGeom prst="roundRect">
            <a:avLst>
              <a:gd name="adj" fmla="val 15000"/>
            </a:avLst>
          </a:prstGeom>
          <a:solidFill>
            <a:schemeClr val="bg2"/>
          </a:solidFill>
          <a:ln/>
        </p:spPr>
      </p:sp>
      <p:sp>
        <p:nvSpPr>
          <p:cNvPr id="29" name="Text 27"/>
          <p:cNvSpPr txBox="1"/>
          <p:nvPr/>
        </p:nvSpPr>
        <p:spPr>
          <a:xfrm>
            <a:off x="731520" y="4297680"/>
            <a:ext cx="2011680" cy="731520"/>
          </a:xfrm>
          <a:prstGeom prst="rect">
            <a:avLst/>
          </a:prstGeom>
          <a:noFill/>
          <a:ln/>
        </p:spPr>
        <p:txBody>
          <a:bodyPr wrap="square" lIns="0" tIns="0" rIns="0" bIns="0" rtlCol="0" anchor="ctr"/>
          <a:lstStyle/>
          <a:p>
            <a:pPr indent="0" marL="0">
              <a:buNone/>
            </a:pPr>
            <a:r>
              <a:rPr lang="en-US" sz="1500" b="1" dirty="0">
                <a:solidFill>
                  <a:schemeClr val="tx2"/>
                </a:solidFill>
              </a:rPr>
              <a:t>Relationships</a:t>
            </a:r>
            <a:endParaRPr lang="en-US" sz="1500" dirty="0"/>
          </a:p>
        </p:txBody>
      </p:sp>
      <p:sp>
        <p:nvSpPr>
          <p:cNvPr id="30" name="Text 28"/>
          <p:cNvSpPr txBox="1"/>
          <p:nvPr/>
        </p:nvSpPr>
        <p:spPr>
          <a:xfrm>
            <a:off x="2788920" y="4297680"/>
            <a:ext cx="2743200" cy="731520"/>
          </a:xfrm>
          <a:prstGeom prst="rect">
            <a:avLst/>
          </a:prstGeom>
          <a:noFill/>
          <a:ln/>
        </p:spPr>
        <p:txBody>
          <a:bodyPr wrap="square" lIns="0" tIns="0" rIns="0" bIns="0" rtlCol="0" anchor="ctr"/>
          <a:lstStyle/>
          <a:p>
            <a:pPr indent="0" marL="0">
              <a:buNone/>
            </a:pPr>
            <a:r>
              <a:rPr lang="en-US" sz="1200" dirty="0">
                <a:solidFill>
                  <a:schemeClr val="tx1"/>
                </a:solidFill>
              </a:rPr>
              <a:t>Assumption: referrals and reminders are not tested</a:t>
            </a:r>
            <a:endParaRPr lang="en-US" sz="1200" dirty="0"/>
          </a:p>
        </p:txBody>
      </p:sp>
      <p:sp>
        <p:nvSpPr>
          <p:cNvPr id="31" name="Confidence Relationships 1"/>
          <p:cNvSpPr/>
          <p:nvPr/>
        </p:nvSpPr>
        <p:spPr>
          <a:xfrm>
            <a:off x="5760720" y="4562856"/>
            <a:ext cx="201168" cy="201168"/>
          </a:xfrm>
          <a:prstGeom prst="ellipse">
            <a:avLst/>
          </a:prstGeom>
          <a:solidFill>
            <a:schemeClr val="tx2"/>
          </a:solidFill>
          <a:ln w="12700">
            <a:solidFill>
              <a:schemeClr val="tx2"/>
            </a:solidFill>
            <a:prstDash val="solid"/>
          </a:ln>
        </p:spPr>
      </p:sp>
      <p:sp>
        <p:nvSpPr>
          <p:cNvPr id="32" name="Confidence Relationships 2"/>
          <p:cNvSpPr/>
          <p:nvPr/>
        </p:nvSpPr>
        <p:spPr>
          <a:xfrm>
            <a:off x="6089904" y="4562856"/>
            <a:ext cx="201168" cy="201168"/>
          </a:xfrm>
          <a:prstGeom prst="ellipse">
            <a:avLst/>
          </a:prstGeom>
          <a:solidFill>
            <a:schemeClr val="tx2"/>
          </a:solidFill>
          <a:ln w="12700">
            <a:solidFill>
              <a:schemeClr val="tx2"/>
            </a:solidFill>
            <a:prstDash val="solid"/>
          </a:ln>
        </p:spPr>
      </p:sp>
      <p:sp>
        <p:nvSpPr>
          <p:cNvPr id="33" name="Confidence Relationships 3"/>
          <p:cNvSpPr/>
          <p:nvPr/>
        </p:nvSpPr>
        <p:spPr>
          <a:xfrm>
            <a:off x="6419088" y="4562856"/>
            <a:ext cx="201168" cy="201168"/>
          </a:xfrm>
          <a:prstGeom prst="ellipse">
            <a:avLst/>
          </a:prstGeom>
          <a:solidFill>
            <a:schemeClr val="bg1"/>
          </a:solidFill>
          <a:ln w="12700">
            <a:solidFill>
              <a:schemeClr val="tx2"/>
            </a:solidFill>
            <a:prstDash val="solid"/>
          </a:ln>
        </p:spPr>
      </p:sp>
      <p:sp>
        <p:nvSpPr>
          <p:cNvPr id="34" name="Confidence Relationships 4"/>
          <p:cNvSpPr/>
          <p:nvPr/>
        </p:nvSpPr>
        <p:spPr>
          <a:xfrm>
            <a:off x="6748272" y="4562856"/>
            <a:ext cx="201168" cy="201168"/>
          </a:xfrm>
          <a:prstGeom prst="ellipse">
            <a:avLst/>
          </a:prstGeom>
          <a:solidFill>
            <a:schemeClr val="bg1"/>
          </a:solidFill>
          <a:ln w="12700">
            <a:solidFill>
              <a:schemeClr val="tx2"/>
            </a:solidFill>
            <a:prstDash val="solid"/>
          </a:ln>
        </p:spPr>
      </p:sp>
      <p:sp>
        <p:nvSpPr>
          <p:cNvPr id="35" name="Evidence Revenue streams"/>
          <p:cNvSpPr/>
          <p:nvPr/>
        </p:nvSpPr>
        <p:spPr>
          <a:xfrm>
            <a:off x="548640" y="5166360"/>
            <a:ext cx="6675120" cy="731520"/>
          </a:xfrm>
          <a:prstGeom prst="roundRect">
            <a:avLst>
              <a:gd name="adj" fmla="val 15000"/>
            </a:avLst>
          </a:prstGeom>
          <a:solidFill>
            <a:schemeClr val="accent2"/>
          </a:solidFill>
          <a:ln/>
        </p:spPr>
      </p:sp>
      <p:sp>
        <p:nvSpPr>
          <p:cNvPr id="36" name="Text 34"/>
          <p:cNvSpPr txBox="1"/>
          <p:nvPr/>
        </p:nvSpPr>
        <p:spPr>
          <a:xfrm>
            <a:off x="731520" y="5166360"/>
            <a:ext cx="2011680" cy="731520"/>
          </a:xfrm>
          <a:prstGeom prst="rect">
            <a:avLst/>
          </a:prstGeom>
          <a:noFill/>
          <a:ln/>
        </p:spPr>
        <p:txBody>
          <a:bodyPr wrap="square" lIns="0" tIns="0" rIns="0" bIns="0" rtlCol="0" anchor="ctr"/>
          <a:lstStyle/>
          <a:p>
            <a:pPr indent="0" marL="0">
              <a:buNone/>
            </a:pPr>
            <a:r>
              <a:rPr lang="en-US" sz="1500" b="1" dirty="0">
                <a:solidFill>
                  <a:schemeClr val="tx2"/>
                </a:solidFill>
              </a:rPr>
              <a:t>Revenue streams</a:t>
            </a:r>
            <a:endParaRPr lang="en-US" sz="1500" dirty="0"/>
          </a:p>
        </p:txBody>
      </p:sp>
      <p:sp>
        <p:nvSpPr>
          <p:cNvPr id="37" name="Text 35"/>
          <p:cNvSpPr txBox="1"/>
          <p:nvPr/>
        </p:nvSpPr>
        <p:spPr>
          <a:xfrm>
            <a:off x="2788920" y="5166360"/>
            <a:ext cx="2743200" cy="731520"/>
          </a:xfrm>
          <a:prstGeom prst="rect">
            <a:avLst/>
          </a:prstGeom>
          <a:noFill/>
          <a:ln/>
        </p:spPr>
        <p:txBody>
          <a:bodyPr wrap="square" lIns="0" tIns="0" rIns="0" bIns="0" rtlCol="0" anchor="ctr"/>
          <a:lstStyle/>
          <a:p>
            <a:pPr indent="0" marL="0">
              <a:buNone/>
            </a:pPr>
            <a:r>
              <a:rPr lang="en-US" sz="1200" dirty="0">
                <a:solidFill>
                  <a:schemeClr val="tx1"/>
                </a:solidFill>
              </a:rPr>
              <a:t>Assumption: nobody has paid us yet</a:t>
            </a:r>
            <a:endParaRPr lang="en-US" sz="1200" dirty="0"/>
          </a:p>
        </p:txBody>
      </p:sp>
      <p:sp>
        <p:nvSpPr>
          <p:cNvPr id="38" name="Confidence Revenue streams 1"/>
          <p:cNvSpPr/>
          <p:nvPr/>
        </p:nvSpPr>
        <p:spPr>
          <a:xfrm>
            <a:off x="5760720" y="5431536"/>
            <a:ext cx="201168" cy="201168"/>
          </a:xfrm>
          <a:prstGeom prst="ellipse">
            <a:avLst/>
          </a:prstGeom>
          <a:solidFill>
            <a:schemeClr val="tx2"/>
          </a:solidFill>
          <a:ln w="12700">
            <a:solidFill>
              <a:schemeClr val="tx2"/>
            </a:solidFill>
            <a:prstDash val="solid"/>
          </a:ln>
        </p:spPr>
      </p:sp>
      <p:sp>
        <p:nvSpPr>
          <p:cNvPr id="39" name="Confidence Revenue streams 2"/>
          <p:cNvSpPr/>
          <p:nvPr/>
        </p:nvSpPr>
        <p:spPr>
          <a:xfrm>
            <a:off x="6089904" y="5431536"/>
            <a:ext cx="201168" cy="201168"/>
          </a:xfrm>
          <a:prstGeom prst="ellipse">
            <a:avLst/>
          </a:prstGeom>
          <a:solidFill>
            <a:schemeClr val="bg1"/>
          </a:solidFill>
          <a:ln w="12700">
            <a:solidFill>
              <a:schemeClr val="tx2"/>
            </a:solidFill>
            <a:prstDash val="solid"/>
          </a:ln>
        </p:spPr>
      </p:sp>
      <p:sp>
        <p:nvSpPr>
          <p:cNvPr id="40" name="Confidence Revenue streams 3"/>
          <p:cNvSpPr/>
          <p:nvPr/>
        </p:nvSpPr>
        <p:spPr>
          <a:xfrm>
            <a:off x="6419088" y="5431536"/>
            <a:ext cx="201168" cy="201168"/>
          </a:xfrm>
          <a:prstGeom prst="ellipse">
            <a:avLst/>
          </a:prstGeom>
          <a:solidFill>
            <a:schemeClr val="bg1"/>
          </a:solidFill>
          <a:ln w="12700">
            <a:solidFill>
              <a:schemeClr val="tx2"/>
            </a:solidFill>
            <a:prstDash val="solid"/>
          </a:ln>
        </p:spPr>
      </p:sp>
      <p:sp>
        <p:nvSpPr>
          <p:cNvPr id="41" name="Confidence Revenue streams 4"/>
          <p:cNvSpPr/>
          <p:nvPr/>
        </p:nvSpPr>
        <p:spPr>
          <a:xfrm>
            <a:off x="6748272" y="5431536"/>
            <a:ext cx="201168" cy="201168"/>
          </a:xfrm>
          <a:prstGeom prst="ellipse">
            <a:avLst/>
          </a:prstGeom>
          <a:solidFill>
            <a:schemeClr val="bg1"/>
          </a:solidFill>
          <a:ln w="12700">
            <a:solidFill>
              <a:schemeClr val="tx2"/>
            </a:solidFill>
            <a:prstDash val="solid"/>
          </a:ln>
        </p:spPr>
      </p:sp>
      <p:sp>
        <p:nvSpPr>
          <p:cNvPr id="42" name="Least sure card"/>
          <p:cNvSpPr/>
          <p:nvPr/>
        </p:nvSpPr>
        <p:spPr>
          <a:xfrm>
            <a:off x="7589520" y="1325880"/>
            <a:ext cx="4069080" cy="4800600"/>
          </a:xfrm>
          <a:prstGeom prst="roundRect">
            <a:avLst>
              <a:gd name="adj" fmla="val 2697"/>
            </a:avLst>
          </a:prstGeom>
          <a:solidFill>
            <a:schemeClr val="tx2"/>
          </a:solidFill>
          <a:ln/>
        </p:spPr>
      </p:sp>
      <p:pic>
        <p:nvPicPr>
          <p:cNvPr id="43" name="Question icon" descr="preencoded.png">    </p:cNvPr>
          <p:cNvPicPr>
            <a:picLocks noChangeAspect="1"/>
          </p:cNvPicPr>
          <p:nvPr/>
        </p:nvPicPr>
        <p:blipFill>
          <a:blip r:embed="rId1"/>
          <a:stretch>
            <a:fillRect/>
          </a:stretch>
        </p:blipFill>
        <p:spPr>
          <a:xfrm>
            <a:off x="7863840" y="1554480"/>
            <a:ext cx="594360" cy="594360"/>
          </a:xfrm>
          <a:prstGeom prst="rect">
            <a:avLst/>
          </a:prstGeom>
        </p:spPr>
      </p:pic>
      <p:sp>
        <p:nvSpPr>
          <p:cNvPr id="44" name="Text 41"/>
          <p:cNvSpPr txBox="1"/>
          <p:nvPr/>
        </p:nvSpPr>
        <p:spPr>
          <a:xfrm>
            <a:off x="8595360" y="1572768"/>
            <a:ext cx="2926080" cy="548640"/>
          </a:xfrm>
          <a:prstGeom prst="rect">
            <a:avLst/>
          </a:prstGeom>
          <a:noFill/>
          <a:ln/>
        </p:spPr>
        <p:txBody>
          <a:bodyPr wrap="square" lIns="0" tIns="0" rIns="0" bIns="0" rtlCol="0" anchor="ctr"/>
          <a:lstStyle/>
          <a:p>
            <a:pPr indent="0" marL="0">
              <a:buNone/>
            </a:pPr>
            <a:r>
              <a:rPr lang="en-US" sz="1700" b="1" dirty="0">
                <a:solidFill>
                  <a:schemeClr val="accent2"/>
                </a:solidFill>
              </a:rPr>
              <a:t>Least sure: revenue streams</a:t>
            </a:r>
            <a:endParaRPr lang="en-US" sz="1700" dirty="0"/>
          </a:p>
        </p:txBody>
      </p:sp>
      <p:sp>
        <p:nvSpPr>
          <p:cNvPr id="45" name="Text 42"/>
          <p:cNvSpPr txBox="1"/>
          <p:nvPr/>
        </p:nvSpPr>
        <p:spPr>
          <a:xfrm>
            <a:off x="7863840" y="2331720"/>
            <a:ext cx="3611880" cy="868680"/>
          </a:xfrm>
          <a:prstGeom prst="rect">
            <a:avLst/>
          </a:prstGeom>
          <a:noFill/>
          <a:ln/>
        </p:spPr>
        <p:txBody>
          <a:bodyPr wrap="square" lIns="0" tIns="0" rIns="0" bIns="0" rtlCol="0" anchor="t"/>
          <a:lstStyle/>
          <a:p>
            <a:pPr indent="0" marL="0">
              <a:buNone/>
            </a:pPr>
            <a:r>
              <a:rPr lang="en-US" sz="1500" b="1" dirty="0">
                <a:solidFill>
                  <a:schemeClr val="bg1"/>
                </a:solidFill>
              </a:rPr>
              <a:t>Will dorm students pay 45,000 UZS a bag, and will anyone take the monthly plan?</a:t>
            </a:r>
            <a:endParaRPr lang="en-US" sz="1500" dirty="0"/>
          </a:p>
        </p:txBody>
      </p:sp>
      <p:sp>
        <p:nvSpPr>
          <p:cNvPr id="46" name="Text 43"/>
          <p:cNvSpPr txBox="1"/>
          <p:nvPr/>
        </p:nvSpPr>
        <p:spPr>
          <a:xfrm>
            <a:off x="7863840" y="3246120"/>
            <a:ext cx="3611880" cy="685800"/>
          </a:xfrm>
          <a:prstGeom prst="rect">
            <a:avLst/>
          </a:prstGeom>
          <a:noFill/>
          <a:ln/>
        </p:spPr>
        <p:txBody>
          <a:bodyPr wrap="square" lIns="0" tIns="0" rIns="0" bIns="0" rtlCol="0" anchor="t"/>
          <a:lstStyle/>
          <a:p>
            <a:pPr indent="0" marL="0">
              <a:buNone/>
            </a:pPr>
            <a:r>
              <a:rPr lang="en-US" sz="1300" dirty="0">
                <a:solidFill>
                  <a:schemeClr val="accent6"/>
                </a:solidFill>
              </a:rPr>
              <a:t>Interviews showed the pain, not willingness to pay: saying yes is not paying.</a:t>
            </a:r>
            <a:endParaRPr lang="en-US" sz="1300" dirty="0"/>
          </a:p>
        </p:txBody>
      </p:sp>
      <p:sp>
        <p:nvSpPr>
          <p:cNvPr id="47" name="Test circle"/>
          <p:cNvSpPr/>
          <p:nvPr/>
        </p:nvSpPr>
        <p:spPr>
          <a:xfrm>
            <a:off x="7863840" y="4069080"/>
            <a:ext cx="457200" cy="457200"/>
          </a:xfrm>
          <a:prstGeom prst="ellipse">
            <a:avLst/>
          </a:prstGeom>
          <a:solidFill>
            <a:schemeClr val="accent1"/>
          </a:solidFill>
          <a:ln/>
        </p:spPr>
      </p:sp>
      <p:pic>
        <p:nvPicPr>
          <p:cNvPr id="48" name="Test icon" descr="preencoded.png">    </p:cNvPr>
          <p:cNvPicPr>
            <a:picLocks noChangeAspect="1"/>
          </p:cNvPicPr>
          <p:nvPr/>
        </p:nvPicPr>
        <p:blipFill>
          <a:blip r:embed="rId2"/>
          <a:stretch>
            <a:fillRect/>
          </a:stretch>
        </p:blipFill>
        <p:spPr>
          <a:xfrm>
            <a:off x="7973568" y="4178808"/>
            <a:ext cx="237744" cy="237744"/>
          </a:xfrm>
          <a:prstGeom prst="rect">
            <a:avLst/>
          </a:prstGeom>
        </p:spPr>
      </p:pic>
      <p:sp>
        <p:nvSpPr>
          <p:cNvPr id="49" name="Text 45"/>
          <p:cNvSpPr txBox="1"/>
          <p:nvPr/>
        </p:nvSpPr>
        <p:spPr>
          <a:xfrm>
            <a:off x="8458200" y="4087368"/>
            <a:ext cx="3017520" cy="411480"/>
          </a:xfrm>
          <a:prstGeom prst="rect">
            <a:avLst/>
          </a:prstGeom>
          <a:noFill/>
          <a:ln/>
        </p:spPr>
        <p:txBody>
          <a:bodyPr wrap="square" lIns="0" tIns="0" rIns="0" bIns="0" rtlCol="0" anchor="ctr"/>
          <a:lstStyle/>
          <a:p>
            <a:pPr indent="0" marL="0">
              <a:buNone/>
            </a:pPr>
            <a:r>
              <a:rPr lang="en-US" sz="1500" b="1" dirty="0">
                <a:solidFill>
                  <a:schemeClr val="bg1"/>
                </a:solidFill>
              </a:rPr>
              <a:t>How we will test it</a:t>
            </a:r>
            <a:endParaRPr lang="en-US" sz="1500" dirty="0"/>
          </a:p>
        </p:txBody>
      </p:sp>
      <p:sp>
        <p:nvSpPr>
          <p:cNvPr id="50" name="Text 46"/>
          <p:cNvSpPr txBox="1"/>
          <p:nvPr/>
        </p:nvSpPr>
        <p:spPr>
          <a:xfrm>
            <a:off x="7863840" y="4663440"/>
            <a:ext cx="3611880" cy="1280160"/>
          </a:xfrm>
          <a:prstGeom prst="rect">
            <a:avLst/>
          </a:prstGeom>
          <a:noFill/>
          <a:ln/>
        </p:spPr>
        <p:txBody>
          <a:bodyPr wrap="square" lIns="0" tIns="0" rIns="0" bIns="0" rtlCol="0" anchor="t"/>
          <a:lstStyle/>
          <a:p>
            <a:pPr indent="0" marL="0">
              <a:buNone/>
            </a:pPr>
            <a:r>
              <a:rPr lang="en-US" sz="1300" dirty="0">
                <a:solidFill>
                  <a:schemeClr val="bg1"/>
                </a:solidFill>
              </a:rPr>
              <a:t>Pre-sell in one dorm for 2 weeks at full price. Success: at least 20 paid bags and 5 monthly plans.</a:t>
            </a: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326880" cy="777240"/>
          </a:xfrm>
          <a:prstGeom prst="rect">
            <a:avLst/>
          </a:prstGeom>
          <a:noFill/>
          <a:ln/>
        </p:spPr>
        <p:txBody>
          <a:bodyPr wrap="square" lIns="0" tIns="0" rIns="0" bIns="0" rtlCol="0" anchor="ctr"/>
          <a:lstStyle/>
          <a:p>
            <a:pPr algn="l" indent="0" marL="0">
              <a:buNone/>
            </a:pPr>
            <a:r>
              <a:rPr lang="en-US" sz="3200" b="1" dirty="0">
                <a:solidFill>
                  <a:schemeClr val="bg1"/>
                </a:solidFill>
              </a:rPr>
              <a:t>Our customer side on one page</a:t>
            </a:r>
            <a:endParaRPr lang="en-US" sz="3200" dirty="0"/>
          </a:p>
        </p:txBody>
      </p:sp>
      <p:sp>
        <p:nvSpPr>
          <p:cNvPr id="3" name="VP block"/>
          <p:cNvSpPr/>
          <p:nvPr/>
        </p:nvSpPr>
        <p:spPr>
          <a:xfrm>
            <a:off x="548640" y="1280160"/>
            <a:ext cx="3657600" cy="3291840"/>
          </a:xfrm>
          <a:prstGeom prst="roundRect">
            <a:avLst>
              <a:gd name="adj" fmla="val 3333"/>
            </a:avLst>
          </a:prstGeom>
          <a:solidFill>
            <a:schemeClr val="accent1"/>
          </a:solidFill>
          <a:ln/>
        </p:spPr>
      </p:sp>
      <p:sp>
        <p:nvSpPr>
          <p:cNvPr id="4" name="VP block circle"/>
          <p:cNvSpPr/>
          <p:nvPr/>
        </p:nvSpPr>
        <p:spPr>
          <a:xfrm>
            <a:off x="3429000" y="3794760"/>
            <a:ext cx="548640" cy="548640"/>
          </a:xfrm>
          <a:prstGeom prst="ellipse">
            <a:avLst/>
          </a:prstGeom>
          <a:solidFill>
            <a:schemeClr val="tx2"/>
          </a:solidFill>
          <a:ln/>
        </p:spPr>
      </p:sp>
      <p:pic>
        <p:nvPicPr>
          <p:cNvPr id="5" name="VP block icon" descr="preencoded.png">    </p:cNvPr>
          <p:cNvPicPr>
            <a:picLocks noChangeAspect="1"/>
          </p:cNvPicPr>
          <p:nvPr/>
        </p:nvPicPr>
        <p:blipFill>
          <a:blip r:embed="rId1"/>
          <a:stretch>
            <a:fillRect/>
          </a:stretch>
        </p:blipFill>
        <p:spPr>
          <a:xfrm>
            <a:off x="3560674" y="3926434"/>
            <a:ext cx="285293" cy="285293"/>
          </a:xfrm>
          <a:prstGeom prst="rect">
            <a:avLst/>
          </a:prstGeom>
        </p:spPr>
      </p:pic>
      <p:sp>
        <p:nvSpPr>
          <p:cNvPr id="6" name="Text 3"/>
          <p:cNvSpPr txBox="1"/>
          <p:nvPr/>
        </p:nvSpPr>
        <p:spPr>
          <a:xfrm>
            <a:off x="731520" y="1417320"/>
            <a:ext cx="3291840" cy="274320"/>
          </a:xfrm>
          <a:prstGeom prst="rect">
            <a:avLst/>
          </a:prstGeom>
          <a:noFill/>
          <a:ln/>
        </p:spPr>
        <p:txBody>
          <a:bodyPr wrap="square" lIns="0" tIns="0" rIns="0" bIns="0" rtlCol="0" anchor="t"/>
          <a:lstStyle/>
          <a:p>
            <a:pPr indent="0" marL="0">
              <a:buNone/>
            </a:pPr>
            <a:r>
              <a:rPr lang="en-US" sz="1100" b="1" spc="100" kern="0" dirty="0">
                <a:solidFill>
                  <a:schemeClr val="bg1"/>
                </a:solidFill>
              </a:rPr>
              <a:t>VALUE PROPOSITION</a:t>
            </a:r>
            <a:endParaRPr lang="en-US" sz="1100" dirty="0"/>
          </a:p>
        </p:txBody>
      </p:sp>
      <p:sp>
        <p:nvSpPr>
          <p:cNvPr id="7" name="Text 4"/>
          <p:cNvSpPr txBox="1"/>
          <p:nvPr/>
        </p:nvSpPr>
        <p:spPr>
          <a:xfrm>
            <a:off x="731520" y="1737360"/>
            <a:ext cx="3291840" cy="2743200"/>
          </a:xfrm>
          <a:prstGeom prst="rect">
            <a:avLst/>
          </a:prstGeom>
          <a:noFill/>
          <a:ln/>
        </p:spPr>
        <p:txBody>
          <a:bodyPr wrap="square" lIns="0" tIns="0" rIns="0" bIns="0" rtlCol="0" anchor="t"/>
          <a:lstStyle/>
          <a:p>
            <a:pPr indent="0" marL="0">
              <a:buNone/>
            </a:pPr>
            <a:r>
              <a:rPr lang="en-US" sz="1600" dirty="0">
                <a:solidFill>
                  <a:schemeClr val="bg1"/>
                </a:solidFill>
              </a:rPr>
              <a:t>Laundry collected at the dorm, washed, dried and folded, and back within 48 hours. Booked in Telegram in under a minute, at a student price.</a:t>
            </a:r>
            <a:endParaRPr lang="en-US" sz="1600" dirty="0"/>
          </a:p>
        </p:txBody>
      </p:sp>
      <p:sp>
        <p:nvSpPr>
          <p:cNvPr id="8" name="CR block"/>
          <p:cNvSpPr/>
          <p:nvPr/>
        </p:nvSpPr>
        <p:spPr>
          <a:xfrm>
            <a:off x="4343400" y="1280160"/>
            <a:ext cx="3611880" cy="1572768"/>
          </a:xfrm>
          <a:prstGeom prst="roundRect">
            <a:avLst>
              <a:gd name="adj" fmla="val 6977"/>
            </a:avLst>
          </a:prstGeom>
          <a:solidFill>
            <a:schemeClr val="bg1"/>
          </a:solidFill>
          <a:ln/>
        </p:spPr>
      </p:sp>
      <p:sp>
        <p:nvSpPr>
          <p:cNvPr id="9" name="Text 6"/>
          <p:cNvSpPr txBox="1"/>
          <p:nvPr/>
        </p:nvSpPr>
        <p:spPr>
          <a:xfrm>
            <a:off x="4526280" y="1417320"/>
            <a:ext cx="32461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CUSTOMER RELATIONSHIPS</a:t>
            </a:r>
            <a:endParaRPr lang="en-US" sz="1100" dirty="0"/>
          </a:p>
        </p:txBody>
      </p:sp>
      <p:sp>
        <p:nvSpPr>
          <p:cNvPr id="10" name="Text 7"/>
          <p:cNvSpPr txBox="1"/>
          <p:nvPr/>
        </p:nvSpPr>
        <p:spPr>
          <a:xfrm>
            <a:off x="4526280" y="1737360"/>
            <a:ext cx="3246120" cy="1024128"/>
          </a:xfrm>
          <a:prstGeom prst="rect">
            <a:avLst/>
          </a:prstGeom>
          <a:noFill/>
          <a:ln/>
        </p:spPr>
        <p:txBody>
          <a:bodyPr wrap="square" lIns="0" tIns="0" rIns="0" bIns="0" rtlCol="0" anchor="t"/>
          <a:lstStyle/>
          <a:p>
            <a:pPr indent="0" marL="0">
              <a:buNone/>
            </a:pPr>
            <a:r>
              <a:rPr lang="en-US" sz="1600" dirty="0">
                <a:solidFill>
                  <a:schemeClr val="tx1"/>
                </a:solidFill>
              </a:rPr>
              <a:t>Personal assistance to win the first 100; automated reminders and a monthly plan to keep them.</a:t>
            </a:r>
            <a:endParaRPr lang="en-US" sz="1600" dirty="0"/>
          </a:p>
        </p:txBody>
      </p:sp>
      <p:sp>
        <p:nvSpPr>
          <p:cNvPr id="11" name="CH block"/>
          <p:cNvSpPr/>
          <p:nvPr/>
        </p:nvSpPr>
        <p:spPr>
          <a:xfrm>
            <a:off x="4343400" y="2999232"/>
            <a:ext cx="3611880" cy="1572768"/>
          </a:xfrm>
          <a:prstGeom prst="roundRect">
            <a:avLst>
              <a:gd name="adj" fmla="val 6977"/>
            </a:avLst>
          </a:prstGeom>
          <a:solidFill>
            <a:schemeClr val="bg1"/>
          </a:solidFill>
          <a:ln/>
        </p:spPr>
      </p:sp>
      <p:sp>
        <p:nvSpPr>
          <p:cNvPr id="12" name="Text 9"/>
          <p:cNvSpPr txBox="1"/>
          <p:nvPr/>
        </p:nvSpPr>
        <p:spPr>
          <a:xfrm>
            <a:off x="4526280" y="3136392"/>
            <a:ext cx="32461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CHANNELS</a:t>
            </a:r>
            <a:endParaRPr lang="en-US" sz="1100" dirty="0"/>
          </a:p>
        </p:txBody>
      </p:sp>
      <p:sp>
        <p:nvSpPr>
          <p:cNvPr id="13" name="Text 10"/>
          <p:cNvSpPr txBox="1"/>
          <p:nvPr/>
        </p:nvSpPr>
        <p:spPr>
          <a:xfrm>
            <a:off x="4526280" y="3456432"/>
            <a:ext cx="3246120" cy="1024128"/>
          </a:xfrm>
          <a:prstGeom prst="rect">
            <a:avLst/>
          </a:prstGeom>
          <a:noFill/>
          <a:ln/>
        </p:spPr>
        <p:txBody>
          <a:bodyPr wrap="square" lIns="0" tIns="0" rIns="0" bIns="0" rtlCol="0" anchor="t"/>
          <a:lstStyle/>
          <a:p>
            <a:pPr indent="0" marL="0">
              <a:buNone/>
            </a:pPr>
            <a:r>
              <a:rPr lang="en-US" sz="1600" dirty="0">
                <a:solidFill>
                  <a:schemeClr val="tx1"/>
                </a:solidFill>
              </a:rPr>
              <a:t>Owned: Telegram bot, floor ambassadors, our courier. Partners: laundry, Click and Payme.</a:t>
            </a:r>
            <a:endParaRPr lang="en-US" sz="1600" dirty="0"/>
          </a:p>
        </p:txBody>
      </p:sp>
      <p:sp>
        <p:nvSpPr>
          <p:cNvPr id="14" name="CS block"/>
          <p:cNvSpPr/>
          <p:nvPr/>
        </p:nvSpPr>
        <p:spPr>
          <a:xfrm>
            <a:off x="8092440" y="1280160"/>
            <a:ext cx="3566160" cy="3291840"/>
          </a:xfrm>
          <a:prstGeom prst="roundRect">
            <a:avLst>
              <a:gd name="adj" fmla="val 3333"/>
            </a:avLst>
          </a:prstGeom>
          <a:solidFill>
            <a:schemeClr val="bg1"/>
          </a:solidFill>
          <a:ln/>
        </p:spPr>
      </p:sp>
      <p:sp>
        <p:nvSpPr>
          <p:cNvPr id="15" name="CS block circle"/>
          <p:cNvSpPr/>
          <p:nvPr/>
        </p:nvSpPr>
        <p:spPr>
          <a:xfrm>
            <a:off x="10881360" y="3794760"/>
            <a:ext cx="548640" cy="548640"/>
          </a:xfrm>
          <a:prstGeom prst="ellipse">
            <a:avLst/>
          </a:prstGeom>
          <a:solidFill>
            <a:schemeClr val="accent1"/>
          </a:solidFill>
          <a:ln/>
        </p:spPr>
      </p:sp>
      <p:pic>
        <p:nvPicPr>
          <p:cNvPr id="16" name="CS block icon" descr="preencoded.png">    </p:cNvPr>
          <p:cNvPicPr>
            <a:picLocks noChangeAspect="1"/>
          </p:cNvPicPr>
          <p:nvPr/>
        </p:nvPicPr>
        <p:blipFill>
          <a:blip r:embed="rId2"/>
          <a:stretch>
            <a:fillRect/>
          </a:stretch>
        </p:blipFill>
        <p:spPr>
          <a:xfrm>
            <a:off x="11013034" y="3926434"/>
            <a:ext cx="285293" cy="285293"/>
          </a:xfrm>
          <a:prstGeom prst="rect">
            <a:avLst/>
          </a:prstGeom>
        </p:spPr>
      </p:pic>
      <p:sp>
        <p:nvSpPr>
          <p:cNvPr id="17" name="Text 13"/>
          <p:cNvSpPr txBox="1"/>
          <p:nvPr/>
        </p:nvSpPr>
        <p:spPr>
          <a:xfrm>
            <a:off x="8275320" y="1417320"/>
            <a:ext cx="32004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CUSTOMER SEGMENTS</a:t>
            </a:r>
            <a:endParaRPr lang="en-US" sz="1100" dirty="0"/>
          </a:p>
        </p:txBody>
      </p:sp>
      <p:sp>
        <p:nvSpPr>
          <p:cNvPr id="18" name="Text 14"/>
          <p:cNvSpPr txBox="1"/>
          <p:nvPr/>
        </p:nvSpPr>
        <p:spPr>
          <a:xfrm>
            <a:off x="8275320" y="1737360"/>
            <a:ext cx="3200400" cy="2743200"/>
          </a:xfrm>
          <a:prstGeom prst="rect">
            <a:avLst/>
          </a:prstGeom>
          <a:noFill/>
          <a:ln/>
        </p:spPr>
        <p:txBody>
          <a:bodyPr wrap="square" lIns="0" tIns="0" rIns="0" bIns="0" rtlCol="0" anchor="t"/>
          <a:lstStyle/>
          <a:p>
            <a:pPr indent="0" marL="0">
              <a:buNone/>
            </a:pPr>
            <a:r>
              <a:rPr lang="en-US" sz="1600" dirty="0">
                <a:solidFill>
                  <a:schemeClr val="tx1"/>
                </a:solidFill>
              </a:rPr>
              <a:t>Segmented market. First: students in 3 dormitories near our campus. Later: shared flats, young professionals, then B2B.</a:t>
            </a:r>
            <a:endParaRPr lang="en-US" sz="1600" dirty="0"/>
          </a:p>
        </p:txBody>
      </p:sp>
      <p:sp>
        <p:nvSpPr>
          <p:cNvPr id="19" name="RS block"/>
          <p:cNvSpPr/>
          <p:nvPr/>
        </p:nvSpPr>
        <p:spPr>
          <a:xfrm>
            <a:off x="548640" y="4709160"/>
            <a:ext cx="11109960" cy="1051560"/>
          </a:xfrm>
          <a:prstGeom prst="roundRect">
            <a:avLst>
              <a:gd name="adj" fmla="val 10435"/>
            </a:avLst>
          </a:prstGeom>
          <a:solidFill>
            <a:schemeClr val="bg1"/>
          </a:solidFill>
          <a:ln/>
        </p:spPr>
      </p:sp>
      <p:sp>
        <p:nvSpPr>
          <p:cNvPr id="20" name="Text 16"/>
          <p:cNvSpPr txBox="1"/>
          <p:nvPr/>
        </p:nvSpPr>
        <p:spPr>
          <a:xfrm>
            <a:off x="731520" y="4846320"/>
            <a:ext cx="107442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REVENUE STREAMS</a:t>
            </a:r>
            <a:endParaRPr lang="en-US" sz="1100" dirty="0"/>
          </a:p>
        </p:txBody>
      </p:sp>
      <p:sp>
        <p:nvSpPr>
          <p:cNvPr id="21" name="Text 17"/>
          <p:cNvSpPr txBox="1"/>
          <p:nvPr/>
        </p:nvSpPr>
        <p:spPr>
          <a:xfrm>
            <a:off x="731520" y="5166360"/>
            <a:ext cx="10744200" cy="502920"/>
          </a:xfrm>
          <a:prstGeom prst="rect">
            <a:avLst/>
          </a:prstGeom>
          <a:noFill/>
          <a:ln/>
        </p:spPr>
        <p:txBody>
          <a:bodyPr wrap="square" lIns="0" tIns="0" rIns="0" bIns="0" rtlCol="0" anchor="t"/>
          <a:lstStyle/>
          <a:p>
            <a:pPr indent="0" marL="0">
              <a:buNone/>
            </a:pPr>
            <a:r>
              <a:rPr lang="en-US" sz="1600" dirty="0">
                <a:solidFill>
                  <a:schemeClr val="tx1"/>
                </a:solidFill>
              </a:rPr>
              <a:t>45,000 UZS per bag (transaction) or 160,000 UZS a month for 4 bags (subscription); margin 33% / 25%.</a:t>
            </a:r>
            <a:endParaRPr lang="en-US" sz="1600" dirty="0"/>
          </a:p>
        </p:txBody>
      </p:sp>
      <p:sp>
        <p:nvSpPr>
          <p:cNvPr id="22" name="Text 18"/>
          <p:cNvSpPr txBox="1"/>
          <p:nvPr/>
        </p:nvSpPr>
        <p:spPr>
          <a:xfrm>
            <a:off x="8778240" y="5943600"/>
            <a:ext cx="2880360" cy="548640"/>
          </a:xfrm>
          <a:prstGeom prst="rect">
            <a:avLst/>
          </a:prstGeom>
          <a:noFill/>
          <a:ln/>
        </p:spPr>
        <p:txBody>
          <a:bodyPr wrap="square" lIns="0" tIns="0" rIns="0" bIns="0" rtlCol="0" anchor="ctr"/>
          <a:lstStyle/>
          <a:p>
            <a:pPr algn="r" indent="0" marL="0">
              <a:buNone/>
            </a:pPr>
            <a:r>
              <a:rPr lang="en-US" sz="2400" b="1" dirty="0">
                <a:solidFill>
                  <a:schemeClr val="accent2"/>
                </a:solidFill>
              </a:rPr>
              <a:t>Questions?</a:t>
            </a:r>
            <a:endParaRPr lang="en-US" sz="2400" dirty="0"/>
          </a:p>
        </p:txBody>
      </p:sp>
    </p:spTree>
  </p:cSld>
  <p:clrMapOvr>
    <a:masterClrMapping/>
  </p:clrMapOvr>
</p:sld>
</file>

<file path=ppt/theme/theme1.xml><?xml version="1.0" encoding="utf-8"?>
<a:theme xmlns:a="http://schemas.openxmlformats.org/drawingml/2006/main" name="WashGo">
  <a:themeElements>
    <a:clrScheme name="WashGo">
      <a:dk1>
        <a:srgbClr val="1A2B2E"/>
      </a:dk1>
      <a:lt1>
        <a:srgbClr val="FFFFFF"/>
      </a:lt1>
      <a:dk2>
        <a:srgbClr val="0B4F5C"/>
      </a:dk2>
      <a:lt2>
        <a:srgbClr val="EAF5F6"/>
      </a:lt2>
      <a:accent1>
        <a:srgbClr val="0F8B8D"/>
      </a:accent1>
      <a:accent2>
        <a:srgbClr val="F2A541"/>
      </a:accent2>
      <a:accent3>
        <a:srgbClr val="D9534F"/>
      </a:accent3>
      <a:accent4>
        <a:srgbClr val="2E9E5B"/>
      </a:accent4>
      <a:accent5>
        <a:srgbClr val="6B7C80"/>
      </a:accent5>
      <a:accent6>
        <a:srgbClr val="B9E1E3"/>
      </a:accent6>
      <a:hlink>
        <a:srgbClr val="0F8B8D"/>
      </a:hlink>
      <a:folHlink>
        <a:srgbClr val="0B4F5C"/>
      </a:folHlink>
    </a:clrScheme>
    <a:fontScheme name="WashG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WashGo – Business Model Canvas I (Customer side)</dc:title>
  <dc:subject>Entrepreneurship 2026–2027, Task 3</dc:subject>
  <dc:creator>PptxGenJS</dc:creator>
  <cp:lastModifiedBy>PptxGenJS</cp:lastModifiedBy>
  <cp:revision>1</cp:revision>
  <dcterms:created xsi:type="dcterms:W3CDTF">2026-10-14T15:18:31Z</dcterms:created>
  <dcterms:modified xsi:type="dcterms:W3CDTF">2026-10-14T15:18:31Z</dcterms:modified>
</cp:coreProperties>
</file>