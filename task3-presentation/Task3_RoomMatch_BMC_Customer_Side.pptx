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98c81871-39ba-0b79-5c95-999b80f47ee6}">
          <p14:sldIdLst>
            <p14:sldId id="256"/>
          </p14:sldIdLst>
        </p14:section>
        <p14:section name="Customer side of the canvas" id="{fa97a0ed-c481-a550-1fa4-b4c67aa202f9}">
          <p14:sldIdLst>
            <p14:sldId id="257"/>
            <p14:sldId id="258"/>
            <p14:sldId id="259"/>
            <p14:sldId id="260"/>
            <p14:sldId id="261"/>
            <p14:sldId id="262"/>
          </p14:sldIdLst>
        </p14:section>
        <p14:section name="Close" id="{f0ff4ec4-3a51-5387-6d3a-5b06235ebd65}">
          <p14:sldIdLst>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about 15 seconds. Introduce the three of us and the idea name: RoomMatch, find the right people to share a home.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under 1 minute. RoomMatch is a roommate-matching platform. Housing channels answer 'where can I live?'; we answer 'who can I live with?' and then 'where can we live together?'. Four steps in a Telegram bot: profile, match, group of 3–5, home. After Task 2 we narrowed the customer to university students looking for 3–5 roommates, moved landlords to a later stage because 'will landlords participate?' is untested, positioned ourselves beyond listings because substitutes are the strongest Porter force, and made the profile and match preview free because existing Telegram channels are free. If the lecturer gave you specific Task 2 feedback, mention it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Segment type: multi-sided platform. One side is people looking for roommates, the other is landlords with apartments. The sides depend on each other, which is why the canvas calls it multi-sided. We serve university students first: they felt the pain most in our interviews (4 of 5 said price is a major constraint), they are concentrated around campuses, and as students we can reach them cheaply. Young professionals are a secondary segment. Landlords are the second side we add later. Families are not a target because they rent a whole home on their own. People who prefer to live alone (one of our Task 2 challenges) are also not our customer.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Read the sentence once, slowly. It follows the Week 3 template: For [customer] who [need], our [product] [benefit]. Unlike [alternative], we [difference]. The pains come from our five Task 2 interviews; the numbers show how many of the five mentioned each one. Fragmented Telegram channels came up as support for our hypothesis. The gains are what we create: cheaper rent, compatible roommates, one place for the whole process, and verified profiles to reduce the risk of living with strangers.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 minutes for both blocks. Channels: 4 of 5 interviewees already search through Telegram channels or personal networks, so we advertise there, on Instagram and on campus. Students try the free profile and match preview, pay inside the bot with Click or Payme, and receive matches, a group chat and an apartment shortlist in the same bot. Mostly owned, direct channels: the Telegram bot from our Task 2 costs ($100 once). Partners: university Telegram groups and student unions for reach, and payment providers. Relationships: to attract the first customers we use personal assistance, doing the first matches almost by hand. To keep them we use automated services, with match scores, alerts and verification for trust. To grow, communities and co-creation: group chats, reviews and referrals. A customer may only need us once a year, so referrals and returning at lease end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Who pays: students first, landlords later. For what: students get the profile and match preview free and pay to message matches, build a group and see apartments; landlords pay to list apartments and reach ready groups. How: monthly subscriptions paid in the bot with Click or Payme, so this is recurring revenue. Link to Task 2: our costs were $100 once for the bot, $20 a month bot support, $10 a month server and $200 a month marketing for the first three months. So we need 23 paying students a month at launch and only 3 a month after month 3 to cover running costs. The risk: students may pay only while they search, so revenue can behave like one-off transactions. Check: the Task 2 table showed no currency. We assumed US dollars; change the $ signs if you meant something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Segments, value proposition and channels are based on our five Task 2 interviews from 5 to 7 October: 4 of 5 used Telegram channels or personal networks, 4 of 5 said price is a major constraint, 3 of 5 struggled to find enough compatible roommates, and 3 of 5 compromised on location or comfort. Relationships rest on an assumption: that students will trust strangers they meet online. We are least sure about revenue streams: no one has paid for matching yet and Telegram channels are free. Following The Mom Test, we will ask for a real commitment: two weeks of matching in the bot, with success meaning at least 10 of 30 active students pay. Second-least sure: whether landlords will participate.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Summarise the five customer-side blocks and open for questions. All three of us should be ready to answer on any block, especially the revenue test and why students come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png"/><Relationship Id="rId3" Type="http://schemas.openxmlformats.org/officeDocument/2006/relationships/image" Target="../media/image-1003-3.pn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bg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65000"/>
          </a:blip>
          <a:stretch>
            <a:fillRect/>
          </a:stretch>
        </p:blipFill>
        <p:spPr>
          <a:xfrm>
            <a:off x="7863840" y="-502920"/>
            <a:ext cx="4937760" cy="1892808"/>
          </a:xfrm>
          <a:prstGeom prst="rect">
            <a:avLst/>
          </a:prstGeom>
        </p:spPr>
      </p:pic>
      <p:pic>
        <p:nvPicPr>
          <p:cNvPr id="3" name="Image 1" descr="preencoded.png">    </p:cNvPr>
          <p:cNvPicPr>
            <a:picLocks noChangeAspect="1"/>
          </p:cNvPicPr>
          <p:nvPr/>
        </p:nvPicPr>
        <p:blipFill>
          <a:blip r:embed="rId2">
            <a:alphaModFix amt="65000"/>
          </a:blip>
          <a:stretch>
            <a:fillRect/>
          </a:stretch>
        </p:blipFill>
        <p:spPr>
          <a:xfrm>
            <a:off x="-1005840" y="4846320"/>
            <a:ext cx="2377440" cy="2670048"/>
          </a:xfrm>
          <a:prstGeom prst="rect">
            <a:avLst/>
          </a:prstGeom>
        </p:spPr>
      </p:pic>
      <p:sp>
        <p:nvSpPr>
          <p:cNvPr id="4" name="Text 0"/>
          <p:cNvSpPr/>
          <p:nvPr>
            <p:ph idx="102" type="title" hasCustomPrompt="1"/>
          </p:nvPr>
        </p:nvSpPr>
        <p:spPr>
          <a:xfrm>
            <a:off x="731520" y="1920240"/>
            <a:ext cx="6035040" cy="1097280"/>
          </a:xfrm>
          <a:prstGeom prst="rect">
            <a:avLst/>
          </a:prstGeom>
          <a:noFill/>
          <a:ln/>
        </p:spPr>
        <p:txBody>
          <a:bodyPr wrap="square" rtlCol="0"/>
          <a:lstStyle>
            <a:lvl1pPr algn="l" indent="0" marL="0">
              <a:buNone/>
              <a:defRPr lang="en-US" sz="6000" b="1" dirty="0">
                <a:solidFill>
                  <a:schemeClr val="tx1"/>
                </a:solidFill>
              </a:defRPr>
            </a:lvl1pPr>
          </a:lstStyle>
          <a:p>
            <a:pPr algn="l" indent="0" marL="0">
              <a:buNone/>
            </a:pPr>
            <a:endParaRPr lang="en-US" sz="6000" dirty="0"/>
          </a:p>
        </p:txBody>
      </p:sp>
      <p:sp>
        <p:nvSpPr>
          <p:cNvPr id="5" name="Text 0"/>
          <p:cNvSpPr/>
          <p:nvPr>
            <p:ph idx="103" type="body" hasCustomPrompt="1"/>
          </p:nvPr>
        </p:nvSpPr>
        <p:spPr>
          <a:xfrm>
            <a:off x="731520" y="3108960"/>
            <a:ext cx="6035040" cy="548640"/>
          </a:xfrm>
          <a:prstGeom prst="rect">
            <a:avLst/>
          </a:prstGeom>
          <a:noFill/>
          <a:ln/>
        </p:spPr>
        <p:txBody>
          <a:bodyPr wrap="square" rtlCol="0"/>
          <a:lstStyle>
            <a:lvl1pPr algn="l" indent="0" marL="0">
              <a:buNone/>
              <a:defRPr lang="en-US" sz="2400" dirty="0">
                <a:solidFill>
                  <a:schemeClr val="accent1"/>
                </a:solidFill>
              </a:defRPr>
            </a:lvl1pPr>
          </a:lstStyle>
          <a:p>
            <a:pPr algn="l" indent="0" marL="0">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65000"/>
          </a:blip>
          <a:stretch>
            <a:fillRect/>
          </a:stretch>
        </p:blipFill>
        <p:spPr>
          <a:xfrm>
            <a:off x="7863840" y="-502920"/>
            <a:ext cx="4937760" cy="1892808"/>
          </a:xfrm>
          <a:prstGeom prst="rect">
            <a:avLst/>
          </a:prstGeom>
        </p:spPr>
      </p:pic>
      <p:pic>
        <p:nvPicPr>
          <p:cNvPr id="3" name="Image 1" descr="preencoded.png">    </p:cNvPr>
          <p:cNvPicPr>
            <a:picLocks noChangeAspect="1"/>
          </p:cNvPicPr>
          <p:nvPr/>
        </p:nvPicPr>
        <p:blipFill>
          <a:blip r:embed="rId2">
            <a:alphaModFix amt="65000"/>
          </a:blip>
          <a:stretch>
            <a:fillRect/>
          </a:stretch>
        </p:blipFill>
        <p:spPr>
          <a:xfrm>
            <a:off x="-1005840" y="4846320"/>
            <a:ext cx="2377440" cy="2670048"/>
          </a:xfrm>
          <a:prstGeom prst="rect">
            <a:avLst/>
          </a:prstGeom>
        </p:spPr>
      </p:pic>
      <p:pic>
        <p:nvPicPr>
          <p:cNvPr id="4" name="Image 2" descr="preencoded.png">    </p:cNvPr>
          <p:cNvPicPr>
            <a:picLocks noChangeAspect="1"/>
          </p:cNvPicPr>
          <p:nvPr/>
        </p:nvPicPr>
        <p:blipFill>
          <a:blip r:embed="rId3"/>
          <a:stretch>
            <a:fillRect/>
          </a:stretch>
        </p:blipFill>
        <p:spPr>
          <a:xfrm>
            <a:off x="548640" y="347472"/>
            <a:ext cx="603504" cy="457200"/>
          </a:xfrm>
          <a:prstGeom prst="rect">
            <a:avLst/>
          </a:prstGeom>
        </p:spPr>
      </p:pic>
      <p:sp>
        <p:nvSpPr>
          <p:cNvPr id="5" name="Text 0"/>
          <p:cNvSpPr/>
          <p:nvPr/>
        </p:nvSpPr>
        <p:spPr>
          <a:xfrm>
            <a:off x="1261872" y="301752"/>
            <a:ext cx="3200400" cy="292608"/>
          </a:xfrm>
          <a:prstGeom prst="rect">
            <a:avLst/>
          </a:prstGeom>
          <a:noFill/>
          <a:ln/>
        </p:spPr>
        <p:txBody>
          <a:bodyPr wrap="square" lIns="0" tIns="0" rIns="0" bIns="0" rtlCol="0" anchor="ctr"/>
          <a:lstStyle/>
          <a:p>
            <a:pPr indent="0" marL="0">
              <a:buNone/>
            </a:pPr>
            <a:r>
              <a:rPr lang="en-US" sz="1700" b="1" dirty="0">
                <a:solidFill>
                  <a:schemeClr val="tx1"/>
                </a:solidFill>
                <a:latin typeface="Arial" pitchFamily="34" charset="0"/>
                <a:ea typeface="Arial" pitchFamily="34" charset="-122"/>
                <a:cs typeface="Arial" pitchFamily="34" charset="-120"/>
              </a:rPr>
              <a:t>RoomMatch</a:t>
            </a:r>
            <a:endParaRPr lang="en-US" sz="1700" dirty="0"/>
          </a:p>
        </p:txBody>
      </p:sp>
      <p:sp>
        <p:nvSpPr>
          <p:cNvPr id="6" name="Text 1"/>
          <p:cNvSpPr/>
          <p:nvPr/>
        </p:nvSpPr>
        <p:spPr>
          <a:xfrm>
            <a:off x="1261872" y="585216"/>
            <a:ext cx="3200400" cy="237744"/>
          </a:xfrm>
          <a:prstGeom prst="rect">
            <a:avLst/>
          </a:prstGeom>
          <a:noFill/>
          <a:ln/>
        </p:spPr>
        <p:txBody>
          <a:bodyPr wrap="square" lIns="0" tIns="0" rIns="0" bIns="0" rtlCol="0" anchor="ctr"/>
          <a:lstStyle/>
          <a:p>
            <a:pPr indent="0" marL="0">
              <a:buNone/>
            </a:pPr>
            <a:r>
              <a:rPr lang="en-US" sz="1100" dirty="0">
                <a:solidFill>
                  <a:schemeClr val="tx1"/>
                </a:solidFill>
              </a:rPr>
              <a:t>Find the right people to share a home</a:t>
            </a:r>
            <a:endParaRPr lang="en-US" sz="1100" dirty="0"/>
          </a:p>
        </p:txBody>
      </p:sp>
      <p:sp>
        <p:nvSpPr>
          <p:cNvPr id="7" name="Text 2"/>
          <p:cNvSpPr/>
          <p:nvPr/>
        </p:nvSpPr>
        <p:spPr>
          <a:xfrm>
            <a:off x="548640" y="6382512"/>
            <a:ext cx="5486400" cy="274320"/>
          </a:xfrm>
          <a:prstGeom prst="rect">
            <a:avLst/>
          </a:prstGeom>
          <a:noFill/>
          <a:ln/>
        </p:spPr>
        <p:txBody>
          <a:bodyPr wrap="square" lIns="0" tIns="0" rIns="0" bIns="0" rtlCol="0" anchor="ctr"/>
          <a:lstStyle/>
          <a:p>
            <a:pPr indent="0" marL="0">
              <a:buNone/>
            </a:pPr>
            <a:r>
              <a:rPr lang="en-US" sz="1000" dirty="0">
                <a:solidFill>
                  <a:schemeClr val="accent5"/>
                </a:solidFill>
              </a:rPr>
              <a:t>Task 3 · Business Model Canvas I: customer side</a:t>
            </a:r>
            <a:endParaRPr lang="en-US" sz="1000" dirty="0"/>
          </a:p>
        </p:txBody>
      </p:sp>
      <p:sp>
        <p:nvSpPr>
          <p:cNvPr id="8" name="Text 3"/>
          <p:cNvSpPr/>
          <p:nvPr>
            <p:ph idx="106" type="title" hasCustomPrompt="1"/>
          </p:nvPr>
        </p:nvSpPr>
        <p:spPr>
          <a:xfrm>
            <a:off x="4754880" y="301752"/>
            <a:ext cx="6903720" cy="548640"/>
          </a:xfrm>
          <a:prstGeom prst="rect">
            <a:avLst/>
          </a:prstGeom>
          <a:noFill/>
          <a:ln/>
        </p:spPr>
        <p:txBody>
          <a:bodyPr wrap="square" rtlCol="0"/>
          <a:lstStyle>
            <a:lvl1pPr algn="r" indent="0" marL="0">
              <a:buNone/>
              <a:defRPr lang="en-US" sz="2600" b="1" dirty="0">
                <a:solidFill>
                  <a:schemeClr val="tx1"/>
                </a:solidFill>
              </a:defRPr>
            </a:lvl1pPr>
          </a:lstStyle>
          <a:p>
            <a:pPr algn="r" indent="0" marL="0">
              <a:buNone/>
            </a:pPr>
            <a:endParaRPr lang="en-US" sz="2600" dirty="0"/>
          </a:p>
        </p:txBody>
      </p:sp>
      <p:sp>
        <p:nvSpPr>
          <p:cNvPr id="25" name="Slide Number Placeholder 0"/>
          <p:cNvSpPr>
            <a:spLocks noGrp="1"/>
          </p:cNvSpPr>
          <p:nvPr>
            <p:ph type="sldNum" sz="quarter" idx="4294967295"/>
          </p:nvPr>
        </p:nvSpPr>
        <p:spPr>
          <a:xfrm>
            <a:off x="1120140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UMMARY_DARK">
    <p:bg>
      <p:bgPr>
        <a:solidFill>
          <a:schemeClr val="tx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384048"/>
            <a:ext cx="603504" cy="457200"/>
          </a:xfrm>
          <a:prstGeom prst="rect">
            <a:avLst/>
          </a:prstGeom>
        </p:spPr>
      </p:pic>
      <p:sp>
        <p:nvSpPr>
          <p:cNvPr id="3" name="Text 0"/>
          <p:cNvSpPr/>
          <p:nvPr>
            <p:ph idx="101" type="title" hasCustomPrompt="1"/>
          </p:nvPr>
        </p:nvSpPr>
        <p:spPr>
          <a:xfrm>
            <a:off x="1325880" y="320040"/>
            <a:ext cx="8686800" cy="59436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3.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3.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slideLayout" Target="../slideLayouts/slideLayout3.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4.xml"/><Relationship Id="rId4"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Logo" descr="preencoded.png">    </p:cNvPr>
          <p:cNvPicPr>
            <a:picLocks noChangeAspect="1"/>
          </p:cNvPicPr>
          <p:nvPr/>
        </p:nvPicPr>
        <p:blipFill>
          <a:blip r:embed="rId1"/>
          <a:stretch>
            <a:fillRect/>
          </a:stretch>
        </p:blipFill>
        <p:spPr>
          <a:xfrm>
            <a:off x="731520" y="960120"/>
            <a:ext cx="1097280" cy="832104"/>
          </a:xfrm>
          <a:prstGeom prst="rect">
            <a:avLst/>
          </a:prstGeom>
        </p:spPr>
      </p:pic>
      <p:sp>
        <p:nvSpPr>
          <p:cNvPr id="3" name="Text 0"/>
          <p:cNvSpPr/>
          <p:nvPr>
            <p:ph idx="102" type="title" hasCustomPrompt="1"/>
          </p:nvPr>
        </p:nvSpPr>
        <p:spPr>
          <a:xfrm>
            <a:off x="731520" y="1920240"/>
            <a:ext cx="6035040" cy="1097280"/>
          </a:xfrm>
          <a:prstGeom prst="rect">
            <a:avLst/>
          </a:prstGeom>
          <a:noFill/>
          <a:ln/>
        </p:spPr>
        <p:txBody>
          <a:bodyPr wrap="square" lIns="0" tIns="0" rIns="0" bIns="0" rtlCol="0" anchor="b"/>
          <a:lstStyle/>
          <a:p>
            <a:pPr algn="l" indent="0" marL="0">
              <a:buNone/>
            </a:pPr>
            <a:r>
              <a:rPr lang="en-US" sz="6000" b="1" dirty="0">
                <a:solidFill>
                  <a:schemeClr val="tx1"/>
                </a:solidFill>
              </a:rPr>
              <a:t>RoomMatch</a:t>
            </a:r>
            <a:endParaRPr lang="en-US" sz="6000" dirty="0"/>
          </a:p>
        </p:txBody>
      </p:sp>
      <p:sp>
        <p:nvSpPr>
          <p:cNvPr id="4" name="Text 0"/>
          <p:cNvSpPr/>
          <p:nvPr>
            <p:ph idx="103" type="body" hasCustomPrompt="1"/>
          </p:nvPr>
        </p:nvSpPr>
        <p:spPr>
          <a:xfrm>
            <a:off x="731520" y="3108960"/>
            <a:ext cx="6035040" cy="548640"/>
          </a:xfrm>
          <a:prstGeom prst="rect">
            <a:avLst/>
          </a:prstGeom>
          <a:noFill/>
          <a:ln/>
        </p:spPr>
        <p:txBody>
          <a:bodyPr wrap="square" lIns="0" tIns="0" rIns="0" bIns="0" rtlCol="0" anchor="t"/>
          <a:lstStyle/>
          <a:p>
            <a:pPr algn="l" indent="0" marL="0">
              <a:buNone/>
            </a:pPr>
            <a:r>
              <a:rPr lang="en-US" sz="2400" dirty="0">
                <a:solidFill>
                  <a:schemeClr val="accent1"/>
                </a:solidFill>
              </a:rPr>
              <a:t>Find the right people to share a home</a:t>
            </a:r>
            <a:endParaRPr lang="en-US" sz="2400" dirty="0"/>
          </a:p>
        </p:txBody>
      </p:sp>
      <p:sp>
        <p:nvSpPr>
          <p:cNvPr id="5" name="Text 2"/>
          <p:cNvSpPr txBox="1"/>
          <p:nvPr/>
        </p:nvSpPr>
        <p:spPr>
          <a:xfrm>
            <a:off x="731520" y="3977640"/>
            <a:ext cx="6035040" cy="365760"/>
          </a:xfrm>
          <a:prstGeom prst="rect">
            <a:avLst/>
          </a:prstGeom>
          <a:noFill/>
          <a:ln/>
        </p:spPr>
        <p:txBody>
          <a:bodyPr wrap="square" lIns="0" tIns="0" rIns="0" bIns="0" rtlCol="0" anchor="t"/>
          <a:lstStyle/>
          <a:p>
            <a:pPr indent="0" marL="0">
              <a:buNone/>
            </a:pPr>
            <a:r>
              <a:rPr lang="en-US" sz="1700" b="1" dirty="0">
                <a:solidFill>
                  <a:schemeClr val="tx1"/>
                </a:solidFill>
              </a:rPr>
              <a:t>Task 3 · Business Model Canvas I: the customer side</a:t>
            </a:r>
            <a:endParaRPr lang="en-US" sz="1700" dirty="0"/>
          </a:p>
        </p:txBody>
      </p:sp>
      <p:sp>
        <p:nvSpPr>
          <p:cNvPr id="6" name="Text 3"/>
          <p:cNvSpPr txBox="1"/>
          <p:nvPr/>
        </p:nvSpPr>
        <p:spPr>
          <a:xfrm>
            <a:off x="731520" y="4480560"/>
            <a:ext cx="6035040" cy="1005840"/>
          </a:xfrm>
          <a:prstGeom prst="rect">
            <a:avLst/>
          </a:prstGeom>
          <a:noFill/>
          <a:ln/>
        </p:spPr>
        <p:txBody>
          <a:bodyPr wrap="square" lIns="0" tIns="0" rIns="0" bIns="0" rtlCol="0" anchor="t"/>
          <a:lstStyle/>
          <a:p>
            <a:pPr indent="0" marL="0">
              <a:spcAft>
                <a:spcPts val="400"/>
              </a:spcAft>
              <a:buNone/>
            </a:pPr>
            <a:r>
              <a:rPr lang="en-US" sz="1400" dirty="0">
                <a:solidFill>
                  <a:schemeClr val="accent5"/>
                </a:solidFill>
              </a:rPr>
              <a:t>u040203 · Gulsevar Abdurasulova</a:t>
            </a:r>
            <a:endParaRPr lang="en-US" sz="1400" dirty="0"/>
          </a:p>
          <a:p>
            <a:pPr indent="0" marL="0">
              <a:spcAft>
                <a:spcPts val="400"/>
              </a:spcAft>
              <a:buNone/>
            </a:pPr>
            <a:r>
              <a:rPr lang="en-US" sz="1400" dirty="0">
                <a:solidFill>
                  <a:schemeClr val="accent5"/>
                </a:solidFill>
              </a:rPr>
              <a:t>u040198 · Muqaddas Karamadinova</a:t>
            </a:r>
            <a:endParaRPr lang="en-US" sz="1400" dirty="0"/>
          </a:p>
          <a:p>
            <a:pPr indent="0" marL="0">
              <a:spcAft>
                <a:spcPts val="400"/>
              </a:spcAft>
              <a:buNone/>
            </a:pPr>
            <a:r>
              <a:rPr lang="en-US" sz="1400" dirty="0">
                <a:solidFill>
                  <a:schemeClr val="accent5"/>
                </a:solidFill>
              </a:rPr>
              <a:t>u040190 · Ilhomjon Solijonov</a:t>
            </a:r>
            <a:endParaRPr lang="en-US" sz="1400" dirty="0"/>
          </a:p>
        </p:txBody>
      </p:sp>
      <p:sp>
        <p:nvSpPr>
          <p:cNvPr id="7" name="Illustration frame"/>
          <p:cNvSpPr/>
          <p:nvPr/>
        </p:nvSpPr>
        <p:spPr>
          <a:xfrm>
            <a:off x="7086600" y="1188720"/>
            <a:ext cx="4526280" cy="3337560"/>
          </a:xfrm>
          <a:prstGeom prst="roundRect">
            <a:avLst>
              <a:gd name="adj" fmla="val 3836"/>
            </a:avLst>
          </a:prstGeom>
          <a:solidFill>
            <a:schemeClr val="bg1"/>
          </a:solidFill>
          <a:ln/>
          <a:effectLst>
            <a:outerShdw sx="100000" sy="100000" kx="0" ky="0" algn="bl" rotWithShape="0" blurRad="101600" dist="25400" dir="5400000">
              <a:srgbClr val="1B2A3A">
                <a:alpha val="12000"/>
              </a:srgbClr>
            </a:outerShdw>
          </a:effectLst>
        </p:spPr>
      </p:sp>
      <p:pic>
        <p:nvPicPr>
          <p:cNvPr id="8" name="Students illustration" descr="preencoded.png">    </p:cNvPr>
          <p:cNvPicPr>
            <a:picLocks noChangeAspect="1"/>
          </p:cNvPicPr>
          <p:nvPr/>
        </p:nvPicPr>
        <p:blipFill>
          <a:blip r:embed="rId2"/>
          <a:stretch>
            <a:fillRect/>
          </a:stretch>
        </p:blipFill>
        <p:spPr>
          <a:xfrm>
            <a:off x="7269480" y="1563624"/>
            <a:ext cx="4160520" cy="258775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3"/>
          <p:cNvSpPr/>
          <p:nvPr>
            <p:ph idx="106" type="title" hasCustomPrompt="1"/>
          </p:nvPr>
        </p:nvSpPr>
        <p:spPr>
          <a:xfrm>
            <a:off x="4754880" y="301752"/>
            <a:ext cx="6903720" cy="548640"/>
          </a:xfrm>
          <a:prstGeom prst="rect">
            <a:avLst/>
          </a:prstGeom>
          <a:noFill/>
          <a:ln/>
        </p:spPr>
        <p:txBody>
          <a:bodyPr wrap="square" lIns="0" tIns="0" rIns="0" bIns="0" rtlCol="0" anchor="ctr"/>
          <a:lstStyle/>
          <a:p>
            <a:pPr algn="r" indent="0" marL="0">
              <a:buNone/>
            </a:pPr>
            <a:r>
              <a:rPr lang="en-US" sz="2600" b="1" dirty="0">
                <a:solidFill>
                  <a:schemeClr val="tx1"/>
                </a:solidFill>
              </a:rPr>
              <a:t>1 · BUSINESS IDEA</a:t>
            </a:r>
            <a:endParaRPr lang="en-US" sz="2600" dirty="0"/>
          </a:p>
        </p:txBody>
      </p:sp>
      <p:sp>
        <p:nvSpPr>
          <p:cNvPr id="3" name="Text 1"/>
          <p:cNvSpPr txBox="1"/>
          <p:nvPr/>
        </p:nvSpPr>
        <p:spPr>
          <a:xfrm>
            <a:off x="548640" y="1115568"/>
            <a:ext cx="11109960" cy="457200"/>
          </a:xfrm>
          <a:prstGeom prst="rect">
            <a:avLst/>
          </a:prstGeom>
          <a:noFill/>
          <a:ln/>
        </p:spPr>
        <p:txBody>
          <a:bodyPr wrap="square" lIns="0" tIns="0" rIns="0" bIns="0" rtlCol="0" anchor="ctr"/>
          <a:lstStyle/>
          <a:p>
            <a:pPr indent="0" marL="0">
              <a:buNone/>
            </a:pPr>
            <a:r>
              <a:rPr lang="en-US" sz="1900" b="1" dirty="0">
                <a:solidFill>
                  <a:schemeClr val="tx2"/>
                </a:solidFill>
              </a:rPr>
              <a:t>Listings answer “Where can I live?” We answer “Who can I live with?” first</a:t>
            </a:r>
            <a:endParaRPr lang="en-US" sz="1900" dirty="0"/>
          </a:p>
        </p:txBody>
      </p:sp>
      <p:sp>
        <p:nvSpPr>
          <p:cNvPr id="4" name="Idea card"/>
          <p:cNvSpPr/>
          <p:nvPr/>
        </p:nvSpPr>
        <p:spPr>
          <a:xfrm>
            <a:off x="548640" y="1783080"/>
            <a:ext cx="6355080" cy="4343400"/>
          </a:xfrm>
          <a:prstGeom prst="roundRect">
            <a:avLst>
              <a:gd name="adj" fmla="val 2947"/>
            </a:avLst>
          </a:prstGeom>
          <a:solidFill>
            <a:schemeClr val="bg1"/>
          </a:solidFill>
          <a:ln/>
          <a:effectLst>
            <a:outerShdw sx="100000" sy="100000" kx="0" ky="0" algn="bl" rotWithShape="0" blurRad="101600" dist="25400" dir="5400000">
              <a:srgbClr val="1B2A3A">
                <a:alpha val="12000"/>
              </a:srgbClr>
            </a:outerShdw>
          </a:effectLst>
        </p:spPr>
      </p:sp>
      <p:sp>
        <p:nvSpPr>
          <p:cNvPr id="5" name="Text 3"/>
          <p:cNvSpPr txBox="1"/>
          <p:nvPr/>
        </p:nvSpPr>
        <p:spPr>
          <a:xfrm>
            <a:off x="822960" y="1965960"/>
            <a:ext cx="5806440" cy="914400"/>
          </a:xfrm>
          <a:prstGeom prst="rect">
            <a:avLst/>
          </a:prstGeom>
          <a:noFill/>
          <a:ln/>
        </p:spPr>
        <p:txBody>
          <a:bodyPr wrap="square" lIns="0" tIns="0" rIns="0" bIns="0" rtlCol="0" anchor="t"/>
          <a:lstStyle/>
          <a:p>
            <a:pPr indent="0" marL="0">
              <a:buNone/>
            </a:pPr>
            <a:r>
              <a:rPr lang="en-US" sz="1600" dirty="0">
                <a:solidFill>
                  <a:schemeClr val="tx1"/>
                </a:solidFill>
              </a:rPr>
              <a:t>A roommate-matching platform in a Telegram bot. Students find compatible roommates, form a group of 3–5 and rent an apartment together.</a:t>
            </a:r>
            <a:endParaRPr lang="en-US" sz="1600" dirty="0"/>
          </a:p>
        </p:txBody>
      </p:sp>
      <p:sp>
        <p:nvSpPr>
          <p:cNvPr id="6" name="Step Profile circle"/>
          <p:cNvSpPr/>
          <p:nvPr/>
        </p:nvSpPr>
        <p:spPr>
          <a:xfrm>
            <a:off x="1106424" y="3063240"/>
            <a:ext cx="713232" cy="713232"/>
          </a:xfrm>
          <a:prstGeom prst="ellipse">
            <a:avLst/>
          </a:prstGeom>
          <a:solidFill>
            <a:schemeClr val="accent1"/>
          </a:solidFill>
          <a:ln/>
        </p:spPr>
      </p:sp>
      <p:pic>
        <p:nvPicPr>
          <p:cNvPr id="7" name="Step Profile icon" descr="preencoded.png">    </p:cNvPr>
          <p:cNvPicPr>
            <a:picLocks noChangeAspect="1"/>
          </p:cNvPicPr>
          <p:nvPr/>
        </p:nvPicPr>
        <p:blipFill>
          <a:blip r:embed="rId1"/>
          <a:stretch>
            <a:fillRect/>
          </a:stretch>
        </p:blipFill>
        <p:spPr>
          <a:xfrm>
            <a:off x="1284732" y="3241548"/>
            <a:ext cx="356616" cy="356616"/>
          </a:xfrm>
          <a:prstGeom prst="rect">
            <a:avLst/>
          </a:prstGeom>
        </p:spPr>
      </p:pic>
      <p:sp>
        <p:nvSpPr>
          <p:cNvPr id="8" name="Text 5"/>
          <p:cNvSpPr txBox="1"/>
          <p:nvPr/>
        </p:nvSpPr>
        <p:spPr>
          <a:xfrm>
            <a:off x="777240" y="3886200"/>
            <a:ext cx="1371600" cy="320040"/>
          </a:xfrm>
          <a:prstGeom prst="rect">
            <a:avLst/>
          </a:prstGeom>
          <a:noFill/>
          <a:ln/>
        </p:spPr>
        <p:txBody>
          <a:bodyPr wrap="square" lIns="0" tIns="0" rIns="0" bIns="0" rtlCol="0" anchor="t"/>
          <a:lstStyle/>
          <a:p>
            <a:pPr algn="ctr" indent="0" marL="0">
              <a:buNone/>
            </a:pPr>
            <a:r>
              <a:rPr lang="en-US" sz="1500" b="1" dirty="0">
                <a:solidFill>
                  <a:schemeClr val="tx2"/>
                </a:solidFill>
              </a:rPr>
              <a:t>01 Profile</a:t>
            </a:r>
            <a:endParaRPr lang="en-US" sz="1500" dirty="0"/>
          </a:p>
        </p:txBody>
      </p:sp>
      <p:sp>
        <p:nvSpPr>
          <p:cNvPr id="9" name="Text 6"/>
          <p:cNvSpPr txBox="1"/>
          <p:nvPr/>
        </p:nvSpPr>
        <p:spPr>
          <a:xfrm>
            <a:off x="777240" y="4224528"/>
            <a:ext cx="1371600" cy="685800"/>
          </a:xfrm>
          <a:prstGeom prst="rect">
            <a:avLst/>
          </a:prstGeom>
          <a:noFill/>
          <a:ln/>
        </p:spPr>
        <p:txBody>
          <a:bodyPr wrap="square" lIns="0" tIns="0" rIns="0" bIns="0" rtlCol="0" anchor="t"/>
          <a:lstStyle/>
          <a:p>
            <a:pPr algn="ctr" indent="0" marL="0">
              <a:buNone/>
            </a:pPr>
            <a:r>
              <a:rPr lang="en-US" sz="1300" dirty="0">
                <a:solidFill>
                  <a:schemeClr val="accent5"/>
                </a:solidFill>
              </a:rPr>
              <a:t>budget, area, lifestyle</a:t>
            </a:r>
            <a:endParaRPr lang="en-US" sz="1300" dirty="0"/>
          </a:p>
        </p:txBody>
      </p:sp>
      <p:pic>
        <p:nvPicPr>
          <p:cNvPr id="10" name="Arrow 1" descr="preencoded.png">    </p:cNvPr>
          <p:cNvPicPr>
            <a:picLocks noChangeAspect="1"/>
          </p:cNvPicPr>
          <p:nvPr/>
        </p:nvPicPr>
        <p:blipFill>
          <a:blip r:embed="rId2"/>
          <a:stretch>
            <a:fillRect/>
          </a:stretch>
        </p:blipFill>
        <p:spPr>
          <a:xfrm>
            <a:off x="2121408" y="3300984"/>
            <a:ext cx="219456" cy="219456"/>
          </a:xfrm>
          <a:prstGeom prst="rect">
            <a:avLst/>
          </a:prstGeom>
        </p:spPr>
      </p:pic>
      <p:sp>
        <p:nvSpPr>
          <p:cNvPr id="11" name="Step Match circle"/>
          <p:cNvSpPr/>
          <p:nvPr/>
        </p:nvSpPr>
        <p:spPr>
          <a:xfrm>
            <a:off x="2624328" y="3063240"/>
            <a:ext cx="713232" cy="713232"/>
          </a:xfrm>
          <a:prstGeom prst="ellipse">
            <a:avLst/>
          </a:prstGeom>
          <a:solidFill>
            <a:schemeClr val="accent2"/>
          </a:solidFill>
          <a:ln/>
        </p:spPr>
      </p:sp>
      <p:pic>
        <p:nvPicPr>
          <p:cNvPr id="12" name="Step Match icon" descr="preencoded.png">    </p:cNvPr>
          <p:cNvPicPr>
            <a:picLocks noChangeAspect="1"/>
          </p:cNvPicPr>
          <p:nvPr/>
        </p:nvPicPr>
        <p:blipFill>
          <a:blip r:embed="rId3"/>
          <a:stretch>
            <a:fillRect/>
          </a:stretch>
        </p:blipFill>
        <p:spPr>
          <a:xfrm>
            <a:off x="2802636" y="3241548"/>
            <a:ext cx="356616" cy="356616"/>
          </a:xfrm>
          <a:prstGeom prst="rect">
            <a:avLst/>
          </a:prstGeom>
        </p:spPr>
      </p:pic>
      <p:sp>
        <p:nvSpPr>
          <p:cNvPr id="13" name="Text 8"/>
          <p:cNvSpPr txBox="1"/>
          <p:nvPr/>
        </p:nvSpPr>
        <p:spPr>
          <a:xfrm>
            <a:off x="2295144" y="3886200"/>
            <a:ext cx="1371600" cy="320040"/>
          </a:xfrm>
          <a:prstGeom prst="rect">
            <a:avLst/>
          </a:prstGeom>
          <a:noFill/>
          <a:ln/>
        </p:spPr>
        <p:txBody>
          <a:bodyPr wrap="square" lIns="0" tIns="0" rIns="0" bIns="0" rtlCol="0" anchor="t"/>
          <a:lstStyle/>
          <a:p>
            <a:pPr algn="ctr" indent="0" marL="0">
              <a:buNone/>
            </a:pPr>
            <a:r>
              <a:rPr lang="en-US" sz="1500" b="1" dirty="0">
                <a:solidFill>
                  <a:schemeClr val="tx2"/>
                </a:solidFill>
              </a:rPr>
              <a:t>02 Match</a:t>
            </a:r>
            <a:endParaRPr lang="en-US" sz="1500" dirty="0"/>
          </a:p>
        </p:txBody>
      </p:sp>
      <p:sp>
        <p:nvSpPr>
          <p:cNvPr id="14" name="Text 9"/>
          <p:cNvSpPr txBox="1"/>
          <p:nvPr/>
        </p:nvSpPr>
        <p:spPr>
          <a:xfrm>
            <a:off x="2295144" y="4224528"/>
            <a:ext cx="1371600" cy="685800"/>
          </a:xfrm>
          <a:prstGeom prst="rect">
            <a:avLst/>
          </a:prstGeom>
          <a:noFill/>
          <a:ln/>
        </p:spPr>
        <p:txBody>
          <a:bodyPr wrap="square" lIns="0" tIns="0" rIns="0" bIns="0" rtlCol="0" anchor="t"/>
          <a:lstStyle/>
          <a:p>
            <a:pPr algn="ctr" indent="0" marL="0">
              <a:buNone/>
            </a:pPr>
            <a:r>
              <a:rPr lang="en-US" sz="1300" dirty="0">
                <a:solidFill>
                  <a:schemeClr val="accent5"/>
                </a:solidFill>
              </a:rPr>
              <a:t>AI match score with similar people</a:t>
            </a:r>
            <a:endParaRPr lang="en-US" sz="1300" dirty="0"/>
          </a:p>
        </p:txBody>
      </p:sp>
      <p:pic>
        <p:nvPicPr>
          <p:cNvPr id="15" name="Arrow 2" descr="preencoded.png">    </p:cNvPr>
          <p:cNvPicPr>
            <a:picLocks noChangeAspect="1"/>
          </p:cNvPicPr>
          <p:nvPr/>
        </p:nvPicPr>
        <p:blipFill>
          <a:blip r:embed="rId4"/>
          <a:stretch>
            <a:fillRect/>
          </a:stretch>
        </p:blipFill>
        <p:spPr>
          <a:xfrm>
            <a:off x="3639312" y="3300984"/>
            <a:ext cx="219456" cy="219456"/>
          </a:xfrm>
          <a:prstGeom prst="rect">
            <a:avLst/>
          </a:prstGeom>
        </p:spPr>
      </p:pic>
      <p:sp>
        <p:nvSpPr>
          <p:cNvPr id="16" name="Step Group circle"/>
          <p:cNvSpPr/>
          <p:nvPr/>
        </p:nvSpPr>
        <p:spPr>
          <a:xfrm>
            <a:off x="4142232" y="3063240"/>
            <a:ext cx="713232" cy="713232"/>
          </a:xfrm>
          <a:prstGeom prst="ellipse">
            <a:avLst/>
          </a:prstGeom>
          <a:solidFill>
            <a:schemeClr val="accent1"/>
          </a:solidFill>
          <a:ln/>
        </p:spPr>
      </p:sp>
      <p:pic>
        <p:nvPicPr>
          <p:cNvPr id="17" name="Step Group icon" descr="preencoded.png">    </p:cNvPr>
          <p:cNvPicPr>
            <a:picLocks noChangeAspect="1"/>
          </p:cNvPicPr>
          <p:nvPr/>
        </p:nvPicPr>
        <p:blipFill>
          <a:blip r:embed="rId5"/>
          <a:stretch>
            <a:fillRect/>
          </a:stretch>
        </p:blipFill>
        <p:spPr>
          <a:xfrm>
            <a:off x="4320540" y="3241548"/>
            <a:ext cx="356616" cy="356616"/>
          </a:xfrm>
          <a:prstGeom prst="rect">
            <a:avLst/>
          </a:prstGeom>
        </p:spPr>
      </p:pic>
      <p:sp>
        <p:nvSpPr>
          <p:cNvPr id="18" name="Text 11"/>
          <p:cNvSpPr txBox="1"/>
          <p:nvPr/>
        </p:nvSpPr>
        <p:spPr>
          <a:xfrm>
            <a:off x="3813048" y="3886200"/>
            <a:ext cx="1371600" cy="320040"/>
          </a:xfrm>
          <a:prstGeom prst="rect">
            <a:avLst/>
          </a:prstGeom>
          <a:noFill/>
          <a:ln/>
        </p:spPr>
        <p:txBody>
          <a:bodyPr wrap="square" lIns="0" tIns="0" rIns="0" bIns="0" rtlCol="0" anchor="t"/>
          <a:lstStyle/>
          <a:p>
            <a:pPr algn="ctr" indent="0" marL="0">
              <a:buNone/>
            </a:pPr>
            <a:r>
              <a:rPr lang="en-US" sz="1500" b="1" dirty="0">
                <a:solidFill>
                  <a:schemeClr val="tx2"/>
                </a:solidFill>
              </a:rPr>
              <a:t>03 Group</a:t>
            </a:r>
            <a:endParaRPr lang="en-US" sz="1500" dirty="0"/>
          </a:p>
        </p:txBody>
      </p:sp>
      <p:sp>
        <p:nvSpPr>
          <p:cNvPr id="19" name="Text 12"/>
          <p:cNvSpPr txBox="1"/>
          <p:nvPr/>
        </p:nvSpPr>
        <p:spPr>
          <a:xfrm>
            <a:off x="3813048" y="4224528"/>
            <a:ext cx="1371600" cy="685800"/>
          </a:xfrm>
          <a:prstGeom prst="rect">
            <a:avLst/>
          </a:prstGeom>
          <a:noFill/>
          <a:ln/>
        </p:spPr>
        <p:txBody>
          <a:bodyPr wrap="square" lIns="0" tIns="0" rIns="0" bIns="0" rtlCol="0" anchor="t"/>
          <a:lstStyle/>
          <a:p>
            <a:pPr algn="ctr" indent="0" marL="0">
              <a:buNone/>
            </a:pPr>
            <a:r>
              <a:rPr lang="en-US" sz="1300" dirty="0">
                <a:solidFill>
                  <a:schemeClr val="accent5"/>
                </a:solidFill>
              </a:rPr>
              <a:t>3–5 compatible roommates</a:t>
            </a:r>
            <a:endParaRPr lang="en-US" sz="1300" dirty="0"/>
          </a:p>
        </p:txBody>
      </p:sp>
      <p:pic>
        <p:nvPicPr>
          <p:cNvPr id="20" name="Arrow 3" descr="preencoded.png">    </p:cNvPr>
          <p:cNvPicPr>
            <a:picLocks noChangeAspect="1"/>
          </p:cNvPicPr>
          <p:nvPr/>
        </p:nvPicPr>
        <p:blipFill>
          <a:blip r:embed="rId6"/>
          <a:stretch>
            <a:fillRect/>
          </a:stretch>
        </p:blipFill>
        <p:spPr>
          <a:xfrm>
            <a:off x="5157216" y="3300984"/>
            <a:ext cx="219456" cy="219456"/>
          </a:xfrm>
          <a:prstGeom prst="rect">
            <a:avLst/>
          </a:prstGeom>
        </p:spPr>
      </p:pic>
      <p:sp>
        <p:nvSpPr>
          <p:cNvPr id="21" name="Step Home circle"/>
          <p:cNvSpPr/>
          <p:nvPr/>
        </p:nvSpPr>
        <p:spPr>
          <a:xfrm>
            <a:off x="5660136" y="3063240"/>
            <a:ext cx="713232" cy="713232"/>
          </a:xfrm>
          <a:prstGeom prst="ellipse">
            <a:avLst/>
          </a:prstGeom>
          <a:solidFill>
            <a:schemeClr val="accent2"/>
          </a:solidFill>
          <a:ln/>
        </p:spPr>
      </p:sp>
      <p:pic>
        <p:nvPicPr>
          <p:cNvPr id="22" name="Step Home icon" descr="preencoded.png">    </p:cNvPr>
          <p:cNvPicPr>
            <a:picLocks noChangeAspect="1"/>
          </p:cNvPicPr>
          <p:nvPr/>
        </p:nvPicPr>
        <p:blipFill>
          <a:blip r:embed="rId7"/>
          <a:stretch>
            <a:fillRect/>
          </a:stretch>
        </p:blipFill>
        <p:spPr>
          <a:xfrm>
            <a:off x="5838444" y="3241548"/>
            <a:ext cx="356616" cy="356616"/>
          </a:xfrm>
          <a:prstGeom prst="rect">
            <a:avLst/>
          </a:prstGeom>
        </p:spPr>
      </p:pic>
      <p:sp>
        <p:nvSpPr>
          <p:cNvPr id="23" name="Text 14"/>
          <p:cNvSpPr txBox="1"/>
          <p:nvPr/>
        </p:nvSpPr>
        <p:spPr>
          <a:xfrm>
            <a:off x="5330952" y="3886200"/>
            <a:ext cx="1371600" cy="320040"/>
          </a:xfrm>
          <a:prstGeom prst="rect">
            <a:avLst/>
          </a:prstGeom>
          <a:noFill/>
          <a:ln/>
        </p:spPr>
        <p:txBody>
          <a:bodyPr wrap="square" lIns="0" tIns="0" rIns="0" bIns="0" rtlCol="0" anchor="t"/>
          <a:lstStyle/>
          <a:p>
            <a:pPr algn="ctr" indent="0" marL="0">
              <a:buNone/>
            </a:pPr>
            <a:r>
              <a:rPr lang="en-US" sz="1500" b="1" dirty="0">
                <a:solidFill>
                  <a:schemeClr val="tx2"/>
                </a:solidFill>
              </a:rPr>
              <a:t>04 Home</a:t>
            </a:r>
            <a:endParaRPr lang="en-US" sz="1500" dirty="0"/>
          </a:p>
        </p:txBody>
      </p:sp>
      <p:sp>
        <p:nvSpPr>
          <p:cNvPr id="24" name="Text 15"/>
          <p:cNvSpPr txBox="1"/>
          <p:nvPr/>
        </p:nvSpPr>
        <p:spPr>
          <a:xfrm>
            <a:off x="5330952" y="4224528"/>
            <a:ext cx="1371600" cy="685800"/>
          </a:xfrm>
          <a:prstGeom prst="rect">
            <a:avLst/>
          </a:prstGeom>
          <a:noFill/>
          <a:ln/>
        </p:spPr>
        <p:txBody>
          <a:bodyPr wrap="square" lIns="0" tIns="0" rIns="0" bIns="0" rtlCol="0" anchor="t"/>
          <a:lstStyle/>
          <a:p>
            <a:pPr algn="ctr" indent="0" marL="0">
              <a:buNone/>
            </a:pPr>
            <a:r>
              <a:rPr lang="en-US" sz="1300" dirty="0">
                <a:solidFill>
                  <a:schemeClr val="accent5"/>
                </a:solidFill>
              </a:rPr>
              <a:t>apartments that fit the group</a:t>
            </a:r>
            <a:endParaRPr lang="en-US" sz="1300" dirty="0"/>
          </a:p>
        </p:txBody>
      </p:sp>
      <p:sp>
        <p:nvSpPr>
          <p:cNvPr id="25" name="Text 16"/>
          <p:cNvSpPr txBox="1"/>
          <p:nvPr/>
        </p:nvSpPr>
        <p:spPr>
          <a:xfrm>
            <a:off x="822960" y="5120640"/>
            <a:ext cx="5806440" cy="731520"/>
          </a:xfrm>
          <a:prstGeom prst="rect">
            <a:avLst/>
          </a:prstGeom>
          <a:noFill/>
          <a:ln/>
        </p:spPr>
        <p:txBody>
          <a:bodyPr wrap="square" lIns="0" tIns="0" rIns="0" bIns="0" rtlCol="0" anchor="t"/>
          <a:lstStyle/>
          <a:p>
            <a:pPr indent="0" marL="0">
              <a:buNone/>
            </a:pPr>
            <a:r>
              <a:rPr lang="en-US" sz="1400" i="1" dirty="0">
                <a:solidFill>
                  <a:schemeClr val="accent1"/>
                </a:solidFill>
              </a:rPr>
              <a:t>Not an apartment listing site: we match people, then help the group find a home.</a:t>
            </a:r>
            <a:endParaRPr lang="en-US" sz="1400" dirty="0"/>
          </a:p>
        </p:txBody>
      </p:sp>
      <p:sp>
        <p:nvSpPr>
          <p:cNvPr id="26" name="Changes card"/>
          <p:cNvSpPr/>
          <p:nvPr/>
        </p:nvSpPr>
        <p:spPr>
          <a:xfrm>
            <a:off x="7178040" y="1783080"/>
            <a:ext cx="4480560" cy="4343400"/>
          </a:xfrm>
          <a:prstGeom prst="roundRect">
            <a:avLst>
              <a:gd name="adj" fmla="val 2947"/>
            </a:avLst>
          </a:prstGeom>
          <a:solidFill>
            <a:schemeClr val="bg1"/>
          </a:solidFill>
          <a:ln/>
          <a:effectLst>
            <a:outerShdw sx="100000" sy="100000" kx="0" ky="0" algn="bl" rotWithShape="0" blurRad="101600" dist="25400" dir="5400000">
              <a:srgbClr val="1B2A3A">
                <a:alpha val="12000"/>
              </a:srgbClr>
            </a:outerShdw>
          </a:effectLst>
        </p:spPr>
      </p:sp>
      <p:sp>
        <p:nvSpPr>
          <p:cNvPr id="27" name="Text 18"/>
          <p:cNvSpPr txBox="1"/>
          <p:nvPr/>
        </p:nvSpPr>
        <p:spPr>
          <a:xfrm>
            <a:off x="7406640" y="1938528"/>
            <a:ext cx="4023360" cy="365760"/>
          </a:xfrm>
          <a:prstGeom prst="rect">
            <a:avLst/>
          </a:prstGeom>
          <a:noFill/>
          <a:ln/>
        </p:spPr>
        <p:txBody>
          <a:bodyPr wrap="square" lIns="0" tIns="0" rIns="0" bIns="0" rtlCol="0" anchor="t"/>
          <a:lstStyle/>
          <a:p>
            <a:pPr indent="0" marL="0">
              <a:buNone/>
            </a:pPr>
            <a:r>
              <a:rPr lang="en-US" sz="1700" b="1" dirty="0">
                <a:solidFill>
                  <a:schemeClr val="tx2"/>
                </a:solidFill>
              </a:rPr>
              <a:t>What changed after Task 2</a:t>
            </a:r>
            <a:endParaRPr lang="en-US" sz="1700" dirty="0"/>
          </a:p>
        </p:txBody>
      </p:sp>
      <p:sp>
        <p:nvSpPr>
          <p:cNvPr id="28" name="Text 19"/>
          <p:cNvSpPr txBox="1"/>
          <p:nvPr/>
        </p:nvSpPr>
        <p:spPr>
          <a:xfrm>
            <a:off x="7406640" y="2423160"/>
            <a:ext cx="4023360" cy="237744"/>
          </a:xfrm>
          <a:prstGeom prst="rect">
            <a:avLst/>
          </a:prstGeom>
          <a:noFill/>
          <a:ln/>
        </p:spPr>
        <p:txBody>
          <a:bodyPr wrap="square" lIns="0" tIns="0" rIns="0" bIns="0" rtlCol="0" anchor="t"/>
          <a:lstStyle/>
          <a:p>
            <a:pPr indent="0" marL="0">
              <a:buNone/>
            </a:pPr>
            <a:r>
              <a:rPr lang="en-US" sz="1100" b="1" spc="100" kern="0" dirty="0">
                <a:solidFill>
                  <a:schemeClr val="accent2"/>
                </a:solidFill>
              </a:rPr>
              <a:t>CUSTOMERS</a:t>
            </a:r>
            <a:endParaRPr lang="en-US" sz="1100" dirty="0"/>
          </a:p>
        </p:txBody>
      </p:sp>
      <p:sp>
        <p:nvSpPr>
          <p:cNvPr id="29" name="Text 20"/>
          <p:cNvSpPr txBox="1"/>
          <p:nvPr/>
        </p:nvSpPr>
        <p:spPr>
          <a:xfrm>
            <a:off x="7406640" y="2679192"/>
            <a:ext cx="4023360" cy="603504"/>
          </a:xfrm>
          <a:prstGeom prst="rect">
            <a:avLst/>
          </a:prstGeom>
          <a:noFill/>
          <a:ln/>
        </p:spPr>
        <p:txBody>
          <a:bodyPr wrap="square" lIns="0" tIns="0" rIns="0" bIns="0" rtlCol="0" anchor="t"/>
          <a:lstStyle/>
          <a:p>
            <a:pPr indent="0" marL="0">
              <a:buNone/>
            </a:pPr>
            <a:r>
              <a:rPr lang="en-US" sz="1300" strike="sngStrike" dirty="0">
                <a:solidFill>
                  <a:schemeClr val="accent5"/>
                </a:solidFill>
              </a:rPr>
              <a:t>Students + professionals + landlords + everyone</a:t>
            </a:r>
            <a:endParaRPr lang="en-US" sz="1300" dirty="0"/>
          </a:p>
          <a:p>
            <a:pPr indent="0" marL="0">
              <a:buNone/>
            </a:pPr>
            <a:r>
              <a:rPr lang="en-US" sz="1300" b="1" dirty="0">
                <a:solidFill>
                  <a:schemeClr val="tx1"/>
                </a:solidFill>
              </a:rPr>
              <a:t>→ University students looking for 3–5 roommates</a:t>
            </a:r>
            <a:endParaRPr lang="en-US" sz="1300" dirty="0"/>
          </a:p>
        </p:txBody>
      </p:sp>
      <p:sp>
        <p:nvSpPr>
          <p:cNvPr id="30" name="Text 21"/>
          <p:cNvSpPr txBox="1"/>
          <p:nvPr/>
        </p:nvSpPr>
        <p:spPr>
          <a:xfrm>
            <a:off x="7406640" y="3337560"/>
            <a:ext cx="4023360" cy="237744"/>
          </a:xfrm>
          <a:prstGeom prst="rect">
            <a:avLst/>
          </a:prstGeom>
          <a:noFill/>
          <a:ln/>
        </p:spPr>
        <p:txBody>
          <a:bodyPr wrap="square" lIns="0" tIns="0" rIns="0" bIns="0" rtlCol="0" anchor="t"/>
          <a:lstStyle/>
          <a:p>
            <a:pPr indent="0" marL="0">
              <a:buNone/>
            </a:pPr>
            <a:r>
              <a:rPr lang="en-US" sz="1100" b="1" spc="100" kern="0" dirty="0">
                <a:solidFill>
                  <a:schemeClr val="accent2"/>
                </a:solidFill>
              </a:rPr>
              <a:t>LANDLORDS</a:t>
            </a:r>
            <a:endParaRPr lang="en-US" sz="1100" dirty="0"/>
          </a:p>
        </p:txBody>
      </p:sp>
      <p:sp>
        <p:nvSpPr>
          <p:cNvPr id="31" name="Text 22"/>
          <p:cNvSpPr txBox="1"/>
          <p:nvPr/>
        </p:nvSpPr>
        <p:spPr>
          <a:xfrm>
            <a:off x="7406640" y="3593592"/>
            <a:ext cx="4023360" cy="603504"/>
          </a:xfrm>
          <a:prstGeom prst="rect">
            <a:avLst/>
          </a:prstGeom>
          <a:noFill/>
          <a:ln/>
        </p:spPr>
        <p:txBody>
          <a:bodyPr wrap="square" lIns="0" tIns="0" rIns="0" bIns="0" rtlCol="0" anchor="t"/>
          <a:lstStyle/>
          <a:p>
            <a:pPr indent="0" marL="0">
              <a:buNone/>
            </a:pPr>
            <a:r>
              <a:rPr lang="en-US" sz="1300" strike="sngStrike" dirty="0">
                <a:solidFill>
                  <a:schemeClr val="accent5"/>
                </a:solidFill>
              </a:rPr>
              <a:t>Part of the launch</a:t>
            </a:r>
            <a:endParaRPr lang="en-US" sz="1300" dirty="0"/>
          </a:p>
          <a:p>
            <a:pPr indent="0" marL="0">
              <a:buNone/>
            </a:pPr>
            <a:r>
              <a:rPr lang="en-US" sz="1300" b="1" dirty="0">
                <a:solidFill>
                  <a:schemeClr val="tx1"/>
                </a:solidFill>
              </a:rPr>
              <a:t>→ Added later, once we have ready groups</a:t>
            </a:r>
            <a:endParaRPr lang="en-US" sz="1300" dirty="0"/>
          </a:p>
        </p:txBody>
      </p:sp>
      <p:sp>
        <p:nvSpPr>
          <p:cNvPr id="32" name="Text 23"/>
          <p:cNvSpPr txBox="1"/>
          <p:nvPr/>
        </p:nvSpPr>
        <p:spPr>
          <a:xfrm>
            <a:off x="7406640" y="4251960"/>
            <a:ext cx="4023360" cy="237744"/>
          </a:xfrm>
          <a:prstGeom prst="rect">
            <a:avLst/>
          </a:prstGeom>
          <a:noFill/>
          <a:ln/>
        </p:spPr>
        <p:txBody>
          <a:bodyPr wrap="square" lIns="0" tIns="0" rIns="0" bIns="0" rtlCol="0" anchor="t"/>
          <a:lstStyle/>
          <a:p>
            <a:pPr indent="0" marL="0">
              <a:buNone/>
            </a:pPr>
            <a:r>
              <a:rPr lang="en-US" sz="1100" b="1" spc="100" kern="0" dirty="0">
                <a:solidFill>
                  <a:schemeClr val="accent2"/>
                </a:solidFill>
              </a:rPr>
              <a:t>POSITIONING</a:t>
            </a:r>
            <a:endParaRPr lang="en-US" sz="1100" dirty="0"/>
          </a:p>
        </p:txBody>
      </p:sp>
      <p:sp>
        <p:nvSpPr>
          <p:cNvPr id="33" name="Text 24"/>
          <p:cNvSpPr txBox="1"/>
          <p:nvPr/>
        </p:nvSpPr>
        <p:spPr>
          <a:xfrm>
            <a:off x="7406640" y="4507992"/>
            <a:ext cx="4023360" cy="603504"/>
          </a:xfrm>
          <a:prstGeom prst="rect">
            <a:avLst/>
          </a:prstGeom>
          <a:noFill/>
          <a:ln/>
        </p:spPr>
        <p:txBody>
          <a:bodyPr wrap="square" lIns="0" tIns="0" rIns="0" bIns="0" rtlCol="0" anchor="t"/>
          <a:lstStyle/>
          <a:p>
            <a:pPr indent="0" marL="0">
              <a:buNone/>
            </a:pPr>
            <a:r>
              <a:rPr lang="en-US" sz="1300" strike="sngStrike" dirty="0">
                <a:solidFill>
                  <a:schemeClr val="accent5"/>
                </a:solidFill>
              </a:rPr>
              <a:t>Another housing channel</a:t>
            </a:r>
            <a:endParaRPr lang="en-US" sz="1300" dirty="0"/>
          </a:p>
          <a:p>
            <a:pPr indent="0" marL="0">
              <a:buNone/>
            </a:pPr>
            <a:r>
              <a:rPr lang="en-US" sz="1300" b="1" dirty="0">
                <a:solidFill>
                  <a:schemeClr val="tx1"/>
                </a:solidFill>
              </a:rPr>
              <a:t>→ Value beyond listings: compatibility matching</a:t>
            </a:r>
            <a:endParaRPr lang="en-US" sz="1300" dirty="0"/>
          </a:p>
        </p:txBody>
      </p:sp>
      <p:sp>
        <p:nvSpPr>
          <p:cNvPr id="34" name="Text 25"/>
          <p:cNvSpPr txBox="1"/>
          <p:nvPr/>
        </p:nvSpPr>
        <p:spPr>
          <a:xfrm>
            <a:off x="7406640" y="5166360"/>
            <a:ext cx="4023360" cy="237744"/>
          </a:xfrm>
          <a:prstGeom prst="rect">
            <a:avLst/>
          </a:prstGeom>
          <a:noFill/>
          <a:ln/>
        </p:spPr>
        <p:txBody>
          <a:bodyPr wrap="square" lIns="0" tIns="0" rIns="0" bIns="0" rtlCol="0" anchor="t"/>
          <a:lstStyle/>
          <a:p>
            <a:pPr indent="0" marL="0">
              <a:buNone/>
            </a:pPr>
            <a:r>
              <a:rPr lang="en-US" sz="1100" b="1" spc="100" kern="0" dirty="0">
                <a:solidFill>
                  <a:schemeClr val="accent2"/>
                </a:solidFill>
              </a:rPr>
              <a:t>FREE ENTRY</a:t>
            </a:r>
            <a:endParaRPr lang="en-US" sz="1100" dirty="0"/>
          </a:p>
        </p:txBody>
      </p:sp>
      <p:sp>
        <p:nvSpPr>
          <p:cNvPr id="35" name="Text 26"/>
          <p:cNvSpPr txBox="1"/>
          <p:nvPr/>
        </p:nvSpPr>
        <p:spPr>
          <a:xfrm>
            <a:off x="7406640" y="5422392"/>
            <a:ext cx="4023360" cy="603504"/>
          </a:xfrm>
          <a:prstGeom prst="rect">
            <a:avLst/>
          </a:prstGeom>
          <a:noFill/>
          <a:ln/>
        </p:spPr>
        <p:txBody>
          <a:bodyPr wrap="square" lIns="0" tIns="0" rIns="0" bIns="0" rtlCol="0" anchor="t"/>
          <a:lstStyle/>
          <a:p>
            <a:pPr indent="0" marL="0">
              <a:buNone/>
            </a:pPr>
            <a:r>
              <a:rPr lang="en-US" sz="1300" strike="sngStrike" dirty="0">
                <a:solidFill>
                  <a:schemeClr val="accent5"/>
                </a:solidFill>
              </a:rPr>
              <a:t>Pay to use</a:t>
            </a:r>
            <a:endParaRPr lang="en-US" sz="1300" dirty="0"/>
          </a:p>
          <a:p>
            <a:pPr indent="0" marL="0">
              <a:buNone/>
            </a:pPr>
            <a:r>
              <a:rPr lang="en-US" sz="1300" b="1" dirty="0">
                <a:solidFill>
                  <a:schemeClr val="tx1"/>
                </a:solidFill>
              </a:rPr>
              <a:t>→ Free profile and match preview, pay to build a group</a:t>
            </a:r>
            <a:endParaRPr lang="en-US" sz="1300" dirty="0"/>
          </a:p>
        </p:txBody>
      </p:sp>
      <p:sp>
        <p:nvSpPr>
          <p:cNvPr id="25" name="Slide Number Placeholder 0"/>
          <p:cNvSpPr>
            <a:spLocks noGrp="1"/>
          </p:cNvSpPr>
          <p:nvPr>
            <p:ph type="sldNum" sz="quarter" idx="4294967295"/>
          </p:nvPr>
        </p:nvSpPr>
        <p:spPr>
          <a:xfrm>
            <a:off x="1120140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3"/>
          <p:cNvSpPr/>
          <p:nvPr>
            <p:ph idx="106" type="title" hasCustomPrompt="1"/>
          </p:nvPr>
        </p:nvSpPr>
        <p:spPr>
          <a:xfrm>
            <a:off x="4754880" y="301752"/>
            <a:ext cx="6903720" cy="548640"/>
          </a:xfrm>
          <a:prstGeom prst="rect">
            <a:avLst/>
          </a:prstGeom>
          <a:noFill/>
          <a:ln/>
        </p:spPr>
        <p:txBody>
          <a:bodyPr wrap="square" lIns="0" tIns="0" rIns="0" bIns="0" rtlCol="0" anchor="ctr"/>
          <a:lstStyle/>
          <a:p>
            <a:pPr algn="r" indent="0" marL="0">
              <a:buNone/>
            </a:pPr>
            <a:r>
              <a:rPr lang="en-US" sz="2600" b="1" dirty="0">
                <a:solidFill>
                  <a:schemeClr val="tx1"/>
                </a:solidFill>
              </a:rPr>
              <a:t>2 · CUSTOMER SEGMENTS</a:t>
            </a:r>
            <a:endParaRPr lang="en-US" sz="2600" dirty="0"/>
          </a:p>
        </p:txBody>
      </p:sp>
      <p:sp>
        <p:nvSpPr>
          <p:cNvPr id="3" name="Text 1"/>
          <p:cNvSpPr txBox="1"/>
          <p:nvPr/>
        </p:nvSpPr>
        <p:spPr>
          <a:xfrm>
            <a:off x="548640" y="1115568"/>
            <a:ext cx="11109960" cy="457200"/>
          </a:xfrm>
          <a:prstGeom prst="rect">
            <a:avLst/>
          </a:prstGeom>
          <a:noFill/>
          <a:ln/>
        </p:spPr>
        <p:txBody>
          <a:bodyPr wrap="square" lIns="0" tIns="0" rIns="0" bIns="0" rtlCol="0" anchor="ctr"/>
          <a:lstStyle/>
          <a:p>
            <a:pPr indent="0" marL="0">
              <a:buNone/>
            </a:pPr>
            <a:r>
              <a:rPr lang="en-US" sz="1900" b="1" dirty="0">
                <a:solidFill>
                  <a:schemeClr val="tx2"/>
                </a:solidFill>
              </a:rPr>
              <a:t>Type: multi-sided platform. We serve university students first</a:t>
            </a:r>
            <a:endParaRPr lang="en-US" sz="1900" dirty="0"/>
          </a:p>
        </p:txBody>
      </p:sp>
      <p:sp>
        <p:nvSpPr>
          <p:cNvPr id="4" name="Text 2"/>
          <p:cNvSpPr txBox="1"/>
          <p:nvPr/>
        </p:nvSpPr>
        <p:spPr>
          <a:xfrm>
            <a:off x="548640" y="1645920"/>
            <a:ext cx="11109960" cy="502920"/>
          </a:xfrm>
          <a:prstGeom prst="rect">
            <a:avLst/>
          </a:prstGeom>
          <a:noFill/>
          <a:ln/>
        </p:spPr>
        <p:txBody>
          <a:bodyPr wrap="square" lIns="0" tIns="0" rIns="0" bIns="0" rtlCol="0" anchor="t"/>
          <a:lstStyle/>
          <a:p>
            <a:pPr indent="0" marL="0">
              <a:buNone/>
            </a:pPr>
            <a:r>
              <a:rPr lang="en-US" sz="1500" b="1" dirty="0">
                <a:solidFill>
                  <a:schemeClr val="tx1"/>
                </a:solidFill>
              </a:rPr>
              <a:t>Two interdependent sides: </a:t>
            </a:r>
            <a:pPr indent="0" marL="0">
              <a:buNone/>
            </a:pPr>
            <a:r>
              <a:rPr lang="en-US" sz="1500" dirty="0">
                <a:solidFill>
                  <a:schemeClr val="tx1"/>
                </a:solidFill>
              </a:rPr>
              <a:t>groups need apartments, and landlords need reliable groups. Without students there is no group to offer, so we build that side first.</a:t>
            </a:r>
            <a:endParaRPr lang="en-US" sz="1500" dirty="0"/>
          </a:p>
        </p:txBody>
      </p:sp>
      <p:sp>
        <p:nvSpPr>
          <p:cNvPr id="5" name="Segment University students"/>
          <p:cNvSpPr/>
          <p:nvPr/>
        </p:nvSpPr>
        <p:spPr>
          <a:xfrm>
            <a:off x="548640" y="2331720"/>
            <a:ext cx="2670048" cy="2514600"/>
          </a:xfrm>
          <a:prstGeom prst="roundRect">
            <a:avLst>
              <a:gd name="adj" fmla="val 5091"/>
            </a:avLst>
          </a:prstGeom>
          <a:solidFill>
            <a:schemeClr val="accent1"/>
          </a:solidFill>
          <a:ln/>
          <a:effectLst>
            <a:outerShdw sx="100000" sy="100000" kx="0" ky="0" algn="bl" rotWithShape="0" blurRad="101600" dist="25400" dir="5400000">
              <a:srgbClr val="1B2A3A">
                <a:alpha val="12000"/>
              </a:srgbClr>
            </a:outerShdw>
          </a:effectLst>
        </p:spPr>
      </p:sp>
      <p:sp>
        <p:nvSpPr>
          <p:cNvPr id="6" name="Segment University students circle"/>
          <p:cNvSpPr/>
          <p:nvPr/>
        </p:nvSpPr>
        <p:spPr>
          <a:xfrm>
            <a:off x="777240" y="2560320"/>
            <a:ext cx="640080" cy="640080"/>
          </a:xfrm>
          <a:prstGeom prst="ellipse">
            <a:avLst/>
          </a:prstGeom>
          <a:solidFill>
            <a:schemeClr val="tx2"/>
          </a:solidFill>
          <a:ln/>
        </p:spPr>
      </p:sp>
      <p:pic>
        <p:nvPicPr>
          <p:cNvPr id="7" name="Segment University students icon" descr="preencoded.png">    </p:cNvPr>
          <p:cNvPicPr>
            <a:picLocks noChangeAspect="1"/>
          </p:cNvPicPr>
          <p:nvPr/>
        </p:nvPicPr>
        <p:blipFill>
          <a:blip r:embed="rId1"/>
          <a:stretch>
            <a:fillRect/>
          </a:stretch>
        </p:blipFill>
        <p:spPr>
          <a:xfrm>
            <a:off x="937260" y="2720340"/>
            <a:ext cx="320040" cy="320040"/>
          </a:xfrm>
          <a:prstGeom prst="rect">
            <a:avLst/>
          </a:prstGeom>
        </p:spPr>
      </p:pic>
      <p:sp>
        <p:nvSpPr>
          <p:cNvPr id="8" name="Tag University students"/>
          <p:cNvSpPr txBox="1"/>
          <p:nvPr/>
        </p:nvSpPr>
        <p:spPr>
          <a:xfrm>
            <a:off x="1508760" y="2724912"/>
            <a:ext cx="1481328" cy="310896"/>
          </a:xfrm>
          <a:prstGeom prst="roundRect">
            <a:avLst>
              <a:gd name="adj" fmla="val 44118"/>
            </a:avLst>
          </a:prstGeom>
          <a:solidFill>
            <a:schemeClr val="accent6"/>
          </a:solidFill>
          <a:ln/>
        </p:spPr>
        <p:txBody>
          <a:bodyPr wrap="square" lIns="0" tIns="0" rIns="0" bIns="0" rtlCol="0" anchor="ctr"/>
          <a:lstStyle/>
          <a:p>
            <a:pPr algn="ctr" indent="0" marL="0">
              <a:buNone/>
            </a:pPr>
            <a:r>
              <a:rPr lang="en-US" sz="1100" b="1" dirty="0">
                <a:solidFill>
                  <a:schemeClr val="tx2"/>
                </a:solidFill>
              </a:rPr>
              <a:t>SERVE FIRST</a:t>
            </a:r>
            <a:endParaRPr lang="en-US" sz="1100" dirty="0"/>
          </a:p>
        </p:txBody>
      </p:sp>
      <p:sp>
        <p:nvSpPr>
          <p:cNvPr id="9" name="Text 6"/>
          <p:cNvSpPr txBox="1"/>
          <p:nvPr/>
        </p:nvSpPr>
        <p:spPr>
          <a:xfrm>
            <a:off x="777240" y="3355848"/>
            <a:ext cx="2212848" cy="365760"/>
          </a:xfrm>
          <a:prstGeom prst="rect">
            <a:avLst/>
          </a:prstGeom>
          <a:noFill/>
          <a:ln/>
        </p:spPr>
        <p:txBody>
          <a:bodyPr wrap="square" lIns="0" tIns="0" rIns="0" bIns="0" rtlCol="0" anchor="t"/>
          <a:lstStyle/>
          <a:p>
            <a:pPr indent="0" marL="0">
              <a:buNone/>
            </a:pPr>
            <a:r>
              <a:rPr lang="en-US" sz="1600" b="1" dirty="0">
                <a:solidFill>
                  <a:schemeClr val="bg1"/>
                </a:solidFill>
              </a:rPr>
              <a:t>University students</a:t>
            </a:r>
            <a:endParaRPr lang="en-US" sz="1600" dirty="0"/>
          </a:p>
        </p:txBody>
      </p:sp>
      <p:sp>
        <p:nvSpPr>
          <p:cNvPr id="10" name="Text 7"/>
          <p:cNvSpPr txBox="1"/>
          <p:nvPr/>
        </p:nvSpPr>
        <p:spPr>
          <a:xfrm>
            <a:off x="777240" y="3749040"/>
            <a:ext cx="2212848" cy="1005840"/>
          </a:xfrm>
          <a:prstGeom prst="rect">
            <a:avLst/>
          </a:prstGeom>
          <a:noFill/>
          <a:ln/>
        </p:spPr>
        <p:txBody>
          <a:bodyPr wrap="square" lIns="0" tIns="0" rIns="0" bIns="0" rtlCol="0" anchor="t"/>
          <a:lstStyle/>
          <a:p>
            <a:pPr indent="0" marL="0">
              <a:buNone/>
            </a:pPr>
            <a:r>
              <a:rPr lang="en-US" sz="1300" dirty="0">
                <a:solidFill>
                  <a:schemeClr val="bg1"/>
                </a:solidFill>
              </a:rPr>
              <a:t>Can't afford to rent alone and don't want crowded housing. Looking for 3–5 roommates.</a:t>
            </a:r>
            <a:endParaRPr lang="en-US" sz="1300" dirty="0"/>
          </a:p>
        </p:txBody>
      </p:sp>
      <p:sp>
        <p:nvSpPr>
          <p:cNvPr id="11" name="Segment Young professionals"/>
          <p:cNvSpPr/>
          <p:nvPr/>
        </p:nvSpPr>
        <p:spPr>
          <a:xfrm>
            <a:off x="3362249" y="2331720"/>
            <a:ext cx="2670048" cy="2514600"/>
          </a:xfrm>
          <a:prstGeom prst="roundRect">
            <a:avLst>
              <a:gd name="adj" fmla="val 5091"/>
            </a:avLst>
          </a:prstGeom>
          <a:solidFill>
            <a:schemeClr val="bg1"/>
          </a:solidFill>
          <a:ln/>
          <a:effectLst>
            <a:outerShdw sx="100000" sy="100000" kx="0" ky="0" algn="bl" rotWithShape="0" blurRad="101600" dist="25400" dir="5400000">
              <a:srgbClr val="1B2A3A">
                <a:alpha val="12000"/>
              </a:srgbClr>
            </a:outerShdw>
          </a:effectLst>
        </p:spPr>
      </p:sp>
      <p:sp>
        <p:nvSpPr>
          <p:cNvPr id="12" name="Segment Young professionals circle"/>
          <p:cNvSpPr/>
          <p:nvPr/>
        </p:nvSpPr>
        <p:spPr>
          <a:xfrm>
            <a:off x="3590849" y="2560320"/>
            <a:ext cx="640080" cy="640080"/>
          </a:xfrm>
          <a:prstGeom prst="ellipse">
            <a:avLst/>
          </a:prstGeom>
          <a:solidFill>
            <a:schemeClr val="accent5"/>
          </a:solidFill>
          <a:ln/>
        </p:spPr>
      </p:sp>
      <p:pic>
        <p:nvPicPr>
          <p:cNvPr id="13" name="Segment Young professionals icon" descr="preencoded.png">    </p:cNvPr>
          <p:cNvPicPr>
            <a:picLocks noChangeAspect="1"/>
          </p:cNvPicPr>
          <p:nvPr/>
        </p:nvPicPr>
        <p:blipFill>
          <a:blip r:embed="rId2"/>
          <a:stretch>
            <a:fillRect/>
          </a:stretch>
        </p:blipFill>
        <p:spPr>
          <a:xfrm>
            <a:off x="3750869" y="2720340"/>
            <a:ext cx="320040" cy="320040"/>
          </a:xfrm>
          <a:prstGeom prst="rect">
            <a:avLst/>
          </a:prstGeom>
        </p:spPr>
      </p:pic>
      <p:sp>
        <p:nvSpPr>
          <p:cNvPr id="14" name="Tag Young professionals"/>
          <p:cNvSpPr txBox="1"/>
          <p:nvPr/>
        </p:nvSpPr>
        <p:spPr>
          <a:xfrm>
            <a:off x="4322369" y="2724912"/>
            <a:ext cx="1481328" cy="310896"/>
          </a:xfrm>
          <a:prstGeom prst="roundRect">
            <a:avLst>
              <a:gd name="adj" fmla="val 44118"/>
            </a:avLst>
          </a:prstGeom>
          <a:solidFill>
            <a:schemeClr val="bg2"/>
          </a:solidFill>
          <a:ln/>
        </p:spPr>
        <p:txBody>
          <a:bodyPr wrap="square" lIns="0" tIns="0" rIns="0" bIns="0" rtlCol="0" anchor="ctr"/>
          <a:lstStyle/>
          <a:p>
            <a:pPr algn="ctr" indent="0" marL="0">
              <a:buNone/>
            </a:pPr>
            <a:r>
              <a:rPr lang="en-US" sz="1100" b="1" dirty="0">
                <a:solidFill>
                  <a:schemeClr val="tx1"/>
                </a:solidFill>
              </a:rPr>
              <a:t>SECONDARY</a:t>
            </a:r>
            <a:endParaRPr lang="en-US" sz="1100" dirty="0"/>
          </a:p>
        </p:txBody>
      </p:sp>
      <p:sp>
        <p:nvSpPr>
          <p:cNvPr id="15" name="Text 11"/>
          <p:cNvSpPr txBox="1"/>
          <p:nvPr/>
        </p:nvSpPr>
        <p:spPr>
          <a:xfrm>
            <a:off x="3590849" y="3355848"/>
            <a:ext cx="2212848" cy="365760"/>
          </a:xfrm>
          <a:prstGeom prst="rect">
            <a:avLst/>
          </a:prstGeom>
          <a:noFill/>
          <a:ln/>
        </p:spPr>
        <p:txBody>
          <a:bodyPr wrap="square" lIns="0" tIns="0" rIns="0" bIns="0" rtlCol="0" anchor="t"/>
          <a:lstStyle/>
          <a:p>
            <a:pPr indent="0" marL="0">
              <a:buNone/>
            </a:pPr>
            <a:r>
              <a:rPr lang="en-US" sz="1600" b="1" dirty="0">
                <a:solidFill>
                  <a:schemeClr val="tx2"/>
                </a:solidFill>
              </a:rPr>
              <a:t>Young professionals</a:t>
            </a:r>
            <a:endParaRPr lang="en-US" sz="1600" dirty="0"/>
          </a:p>
        </p:txBody>
      </p:sp>
      <p:sp>
        <p:nvSpPr>
          <p:cNvPr id="16" name="Text 12"/>
          <p:cNvSpPr txBox="1"/>
          <p:nvPr/>
        </p:nvSpPr>
        <p:spPr>
          <a:xfrm>
            <a:off x="3590849" y="3749040"/>
            <a:ext cx="2212848" cy="1005840"/>
          </a:xfrm>
          <a:prstGeom prst="rect">
            <a:avLst/>
          </a:prstGeom>
          <a:noFill/>
          <a:ln/>
        </p:spPr>
        <p:txBody>
          <a:bodyPr wrap="square" lIns="0" tIns="0" rIns="0" bIns="0" rtlCol="0" anchor="t"/>
          <a:lstStyle/>
          <a:p>
            <a:pPr indent="0" marL="0">
              <a:buNone/>
            </a:pPr>
            <a:r>
              <a:rPr lang="en-US" sz="1300" dirty="0">
                <a:solidFill>
                  <a:schemeClr val="tx1"/>
                </a:solidFill>
              </a:rPr>
              <a:t>Relocating to the city for work; same need, higher budget.</a:t>
            </a:r>
            <a:endParaRPr lang="en-US" sz="1300" dirty="0"/>
          </a:p>
        </p:txBody>
      </p:sp>
      <p:sp>
        <p:nvSpPr>
          <p:cNvPr id="17" name="Segment Landlords (lessors)"/>
          <p:cNvSpPr/>
          <p:nvPr/>
        </p:nvSpPr>
        <p:spPr>
          <a:xfrm>
            <a:off x="6175858" y="2331720"/>
            <a:ext cx="2670048" cy="2514600"/>
          </a:xfrm>
          <a:prstGeom prst="roundRect">
            <a:avLst>
              <a:gd name="adj" fmla="val 5091"/>
            </a:avLst>
          </a:prstGeom>
          <a:solidFill>
            <a:schemeClr val="bg1"/>
          </a:solidFill>
          <a:ln/>
          <a:effectLst>
            <a:outerShdw sx="100000" sy="100000" kx="0" ky="0" algn="bl" rotWithShape="0" blurRad="101600" dist="25400" dir="5400000">
              <a:srgbClr val="1B2A3A">
                <a:alpha val="12000"/>
              </a:srgbClr>
            </a:outerShdw>
          </a:effectLst>
        </p:spPr>
      </p:sp>
      <p:sp>
        <p:nvSpPr>
          <p:cNvPr id="18" name="Segment Landlords (lessors) circle"/>
          <p:cNvSpPr/>
          <p:nvPr/>
        </p:nvSpPr>
        <p:spPr>
          <a:xfrm>
            <a:off x="6404458" y="2560320"/>
            <a:ext cx="640080" cy="640080"/>
          </a:xfrm>
          <a:prstGeom prst="ellipse">
            <a:avLst/>
          </a:prstGeom>
          <a:solidFill>
            <a:schemeClr val="accent2"/>
          </a:solidFill>
          <a:ln/>
        </p:spPr>
      </p:sp>
      <p:pic>
        <p:nvPicPr>
          <p:cNvPr id="19" name="Segment Landlords (lessors) icon" descr="preencoded.png">    </p:cNvPr>
          <p:cNvPicPr>
            <a:picLocks noChangeAspect="1"/>
          </p:cNvPicPr>
          <p:nvPr/>
        </p:nvPicPr>
        <p:blipFill>
          <a:blip r:embed="rId3"/>
          <a:stretch>
            <a:fillRect/>
          </a:stretch>
        </p:blipFill>
        <p:spPr>
          <a:xfrm>
            <a:off x="6564478" y="2720340"/>
            <a:ext cx="320040" cy="320040"/>
          </a:xfrm>
          <a:prstGeom prst="rect">
            <a:avLst/>
          </a:prstGeom>
        </p:spPr>
      </p:pic>
      <p:sp>
        <p:nvSpPr>
          <p:cNvPr id="20" name="Tag Landlords (lessors)"/>
          <p:cNvSpPr txBox="1"/>
          <p:nvPr/>
        </p:nvSpPr>
        <p:spPr>
          <a:xfrm>
            <a:off x="7135978" y="2724912"/>
            <a:ext cx="1481328" cy="310896"/>
          </a:xfrm>
          <a:prstGeom prst="roundRect">
            <a:avLst>
              <a:gd name="adj" fmla="val 44118"/>
            </a:avLst>
          </a:prstGeom>
          <a:solidFill>
            <a:schemeClr val="bg2"/>
          </a:solidFill>
          <a:ln/>
        </p:spPr>
        <p:txBody>
          <a:bodyPr wrap="square" lIns="0" tIns="0" rIns="0" bIns="0" rtlCol="0" anchor="ctr"/>
          <a:lstStyle/>
          <a:p>
            <a:pPr algn="ctr" indent="0" marL="0">
              <a:buNone/>
            </a:pPr>
            <a:r>
              <a:rPr lang="en-US" sz="1100" b="1" dirty="0">
                <a:solidFill>
                  <a:schemeClr val="tx1"/>
                </a:solidFill>
              </a:rPr>
              <a:t>OTHER SIDE · LATER</a:t>
            </a:r>
            <a:endParaRPr lang="en-US" sz="1100" dirty="0"/>
          </a:p>
        </p:txBody>
      </p:sp>
      <p:sp>
        <p:nvSpPr>
          <p:cNvPr id="21" name="Text 16"/>
          <p:cNvSpPr txBox="1"/>
          <p:nvPr/>
        </p:nvSpPr>
        <p:spPr>
          <a:xfrm>
            <a:off x="6404458" y="3355848"/>
            <a:ext cx="2212848" cy="365760"/>
          </a:xfrm>
          <a:prstGeom prst="rect">
            <a:avLst/>
          </a:prstGeom>
          <a:noFill/>
          <a:ln/>
        </p:spPr>
        <p:txBody>
          <a:bodyPr wrap="square" lIns="0" tIns="0" rIns="0" bIns="0" rtlCol="0" anchor="t"/>
          <a:lstStyle/>
          <a:p>
            <a:pPr indent="0" marL="0">
              <a:buNone/>
            </a:pPr>
            <a:r>
              <a:rPr lang="en-US" sz="1600" b="1" dirty="0">
                <a:solidFill>
                  <a:schemeClr val="tx2"/>
                </a:solidFill>
              </a:rPr>
              <a:t>Landlords (lessors)</a:t>
            </a:r>
            <a:endParaRPr lang="en-US" sz="1600" dirty="0"/>
          </a:p>
        </p:txBody>
      </p:sp>
      <p:sp>
        <p:nvSpPr>
          <p:cNvPr id="22" name="Text 17"/>
          <p:cNvSpPr txBox="1"/>
          <p:nvPr/>
        </p:nvSpPr>
        <p:spPr>
          <a:xfrm>
            <a:off x="6404458" y="3749040"/>
            <a:ext cx="2212848" cy="1005840"/>
          </a:xfrm>
          <a:prstGeom prst="rect">
            <a:avLst/>
          </a:prstGeom>
          <a:noFill/>
          <a:ln/>
        </p:spPr>
        <p:txBody>
          <a:bodyPr wrap="square" lIns="0" tIns="0" rIns="0" bIns="0" rtlCol="0" anchor="t"/>
          <a:lstStyle/>
          <a:p>
            <a:pPr indent="0" marL="0">
              <a:buNone/>
            </a:pPr>
            <a:r>
              <a:rPr lang="en-US" sz="1300" dirty="0">
                <a:solidFill>
                  <a:schemeClr val="tx1"/>
                </a:solidFill>
              </a:rPr>
              <a:t>Want reliable groups of tenants for 2–4-room apartments.</a:t>
            </a:r>
            <a:endParaRPr lang="en-US" sz="1300" dirty="0"/>
          </a:p>
        </p:txBody>
      </p:sp>
      <p:sp>
        <p:nvSpPr>
          <p:cNvPr id="23" name="Segment Families"/>
          <p:cNvSpPr/>
          <p:nvPr/>
        </p:nvSpPr>
        <p:spPr>
          <a:xfrm>
            <a:off x="8989466" y="2331720"/>
            <a:ext cx="2670048" cy="2514600"/>
          </a:xfrm>
          <a:prstGeom prst="roundRect">
            <a:avLst>
              <a:gd name="adj" fmla="val 5091"/>
            </a:avLst>
          </a:prstGeom>
          <a:solidFill>
            <a:schemeClr val="bg1"/>
          </a:solidFill>
          <a:ln/>
          <a:effectLst>
            <a:outerShdw sx="100000" sy="100000" kx="0" ky="0" algn="bl" rotWithShape="0" blurRad="101600" dist="25400" dir="5400000">
              <a:srgbClr val="1B2A3A">
                <a:alpha val="12000"/>
              </a:srgbClr>
            </a:outerShdw>
          </a:effectLst>
        </p:spPr>
      </p:sp>
      <p:sp>
        <p:nvSpPr>
          <p:cNvPr id="24" name="Segment Families circle"/>
          <p:cNvSpPr/>
          <p:nvPr/>
        </p:nvSpPr>
        <p:spPr>
          <a:xfrm>
            <a:off x="9218066" y="2560320"/>
            <a:ext cx="640080" cy="640080"/>
          </a:xfrm>
          <a:prstGeom prst="ellipse">
            <a:avLst/>
          </a:prstGeom>
          <a:solidFill>
            <a:schemeClr val="accent5"/>
          </a:solidFill>
          <a:ln/>
        </p:spPr>
      </p:sp>
      <p:pic>
        <p:nvPicPr>
          <p:cNvPr id="25" name="Segment Families icon" descr="preencoded.png">    </p:cNvPr>
          <p:cNvPicPr>
            <a:picLocks noChangeAspect="1"/>
          </p:cNvPicPr>
          <p:nvPr/>
        </p:nvPicPr>
        <p:blipFill>
          <a:blip r:embed="rId4"/>
          <a:stretch>
            <a:fillRect/>
          </a:stretch>
        </p:blipFill>
        <p:spPr>
          <a:xfrm>
            <a:off x="9378086" y="2720340"/>
            <a:ext cx="320040" cy="320040"/>
          </a:xfrm>
          <a:prstGeom prst="rect">
            <a:avLst/>
          </a:prstGeom>
        </p:spPr>
      </p:pic>
      <p:sp>
        <p:nvSpPr>
          <p:cNvPr id="26" name="Tag Families"/>
          <p:cNvSpPr txBox="1"/>
          <p:nvPr/>
        </p:nvSpPr>
        <p:spPr>
          <a:xfrm>
            <a:off x="9949586" y="2724912"/>
            <a:ext cx="1481328" cy="310896"/>
          </a:xfrm>
          <a:prstGeom prst="roundRect">
            <a:avLst>
              <a:gd name="adj" fmla="val 44118"/>
            </a:avLst>
          </a:prstGeom>
          <a:solidFill>
            <a:schemeClr val="bg2"/>
          </a:solidFill>
          <a:ln/>
        </p:spPr>
        <p:txBody>
          <a:bodyPr wrap="square" lIns="0" tIns="0" rIns="0" bIns="0" rtlCol="0" anchor="ctr"/>
          <a:lstStyle/>
          <a:p>
            <a:pPr algn="ctr" indent="0" marL="0">
              <a:buNone/>
            </a:pPr>
            <a:r>
              <a:rPr lang="en-US" sz="1100" b="1" dirty="0">
                <a:solidFill>
                  <a:schemeClr val="tx1"/>
                </a:solidFill>
              </a:rPr>
              <a:t>NOT NOW</a:t>
            </a:r>
            <a:endParaRPr lang="en-US" sz="1100" dirty="0"/>
          </a:p>
        </p:txBody>
      </p:sp>
      <p:sp>
        <p:nvSpPr>
          <p:cNvPr id="27" name="Text 21"/>
          <p:cNvSpPr txBox="1"/>
          <p:nvPr/>
        </p:nvSpPr>
        <p:spPr>
          <a:xfrm>
            <a:off x="9218066" y="3355848"/>
            <a:ext cx="2212848" cy="365760"/>
          </a:xfrm>
          <a:prstGeom prst="rect">
            <a:avLst/>
          </a:prstGeom>
          <a:noFill/>
          <a:ln/>
        </p:spPr>
        <p:txBody>
          <a:bodyPr wrap="square" lIns="0" tIns="0" rIns="0" bIns="0" rtlCol="0" anchor="t"/>
          <a:lstStyle/>
          <a:p>
            <a:pPr indent="0" marL="0">
              <a:buNone/>
            </a:pPr>
            <a:r>
              <a:rPr lang="en-US" sz="1600" b="1" dirty="0">
                <a:solidFill>
                  <a:schemeClr val="tx2"/>
                </a:solidFill>
              </a:rPr>
              <a:t>Families</a:t>
            </a:r>
            <a:endParaRPr lang="en-US" sz="1600" dirty="0"/>
          </a:p>
        </p:txBody>
      </p:sp>
      <p:sp>
        <p:nvSpPr>
          <p:cNvPr id="28" name="Text 22"/>
          <p:cNvSpPr txBox="1"/>
          <p:nvPr/>
        </p:nvSpPr>
        <p:spPr>
          <a:xfrm>
            <a:off x="9218066" y="3749040"/>
            <a:ext cx="2212848" cy="1005840"/>
          </a:xfrm>
          <a:prstGeom prst="rect">
            <a:avLst/>
          </a:prstGeom>
          <a:noFill/>
          <a:ln/>
        </p:spPr>
        <p:txBody>
          <a:bodyPr wrap="square" lIns="0" tIns="0" rIns="0" bIns="0" rtlCol="0" anchor="t"/>
          <a:lstStyle/>
          <a:p>
            <a:pPr indent="0" marL="0">
              <a:buNone/>
            </a:pPr>
            <a:r>
              <a:rPr lang="en-US" sz="1300" dirty="0">
                <a:solidFill>
                  <a:schemeClr val="tx1"/>
                </a:solidFill>
              </a:rPr>
              <a:t>Not a target: they usually rent a whole home on their own.</a:t>
            </a:r>
            <a:endParaRPr lang="en-US" sz="1300" dirty="0"/>
          </a:p>
        </p:txBody>
      </p:sp>
      <p:sp>
        <p:nvSpPr>
          <p:cNvPr id="29" name="Text 23"/>
          <p:cNvSpPr txBox="1"/>
          <p:nvPr/>
        </p:nvSpPr>
        <p:spPr>
          <a:xfrm>
            <a:off x="548640" y="5029200"/>
            <a:ext cx="5486400" cy="320040"/>
          </a:xfrm>
          <a:prstGeom prst="rect">
            <a:avLst/>
          </a:prstGeom>
          <a:noFill/>
          <a:ln/>
        </p:spPr>
        <p:txBody>
          <a:bodyPr wrap="square" lIns="0" tIns="0" rIns="0" bIns="0" rtlCol="0" anchor="t"/>
          <a:lstStyle/>
          <a:p>
            <a:pPr indent="0" marL="0">
              <a:buNone/>
            </a:pPr>
            <a:r>
              <a:rPr lang="en-US" sz="1500" b="1" dirty="0">
                <a:solidFill>
                  <a:schemeClr val="tx2"/>
                </a:solidFill>
              </a:rPr>
              <a:t>Why students first?</a:t>
            </a:r>
            <a:endParaRPr lang="en-US" sz="1500" dirty="0"/>
          </a:p>
        </p:txBody>
      </p:sp>
      <p:sp>
        <p:nvSpPr>
          <p:cNvPr id="30" name="Text 24"/>
          <p:cNvSpPr txBox="1"/>
          <p:nvPr/>
        </p:nvSpPr>
        <p:spPr>
          <a:xfrm>
            <a:off x="548640" y="5394960"/>
            <a:ext cx="3566160" cy="731520"/>
          </a:xfrm>
          <a:prstGeom prst="rect">
            <a:avLst/>
          </a:prstGeom>
          <a:noFill/>
          <a:ln/>
        </p:spPr>
        <p:txBody>
          <a:bodyPr wrap="square" lIns="0" tIns="0" rIns="0" bIns="0" rtlCol="0" anchor="t"/>
          <a:lstStyle/>
          <a:p>
            <a:pPr indent="0" marL="0">
              <a:buNone/>
            </a:pPr>
            <a:r>
              <a:rPr lang="en-US" sz="1400" b="1" dirty="0">
                <a:solidFill>
                  <a:schemeClr val="accent1"/>
                </a:solidFill>
              </a:rPr>
              <a:t>Strongest pain: </a:t>
            </a:r>
            <a:pPr indent="0" marL="0">
              <a:buNone/>
            </a:pPr>
            <a:r>
              <a:rPr lang="en-US" sz="1400" dirty="0">
                <a:solidFill>
                  <a:schemeClr val="tx1"/>
                </a:solidFill>
              </a:rPr>
              <a:t>4/5 interviewees called price a major constraint</a:t>
            </a:r>
            <a:endParaRPr lang="en-US" sz="1400" dirty="0"/>
          </a:p>
        </p:txBody>
      </p:sp>
      <p:sp>
        <p:nvSpPr>
          <p:cNvPr id="31" name="Text 25"/>
          <p:cNvSpPr txBox="1"/>
          <p:nvPr/>
        </p:nvSpPr>
        <p:spPr>
          <a:xfrm>
            <a:off x="4297680" y="5394960"/>
            <a:ext cx="3566160" cy="731520"/>
          </a:xfrm>
          <a:prstGeom prst="rect">
            <a:avLst/>
          </a:prstGeom>
          <a:noFill/>
          <a:ln/>
        </p:spPr>
        <p:txBody>
          <a:bodyPr wrap="square" lIns="0" tIns="0" rIns="0" bIns="0" rtlCol="0" anchor="t"/>
          <a:lstStyle/>
          <a:p>
            <a:pPr indent="0" marL="0">
              <a:buNone/>
            </a:pPr>
            <a:r>
              <a:rPr lang="en-US" sz="1400" b="1" dirty="0">
                <a:solidFill>
                  <a:schemeClr val="accent1"/>
                </a:solidFill>
              </a:rPr>
              <a:t>Same place: </a:t>
            </a:r>
            <a:pPr indent="0" marL="0">
              <a:buNone/>
            </a:pPr>
            <a:r>
              <a:rPr lang="en-US" sz="1400" dirty="0">
                <a:solidFill>
                  <a:schemeClr val="tx1"/>
                </a:solidFill>
              </a:rPr>
              <a:t>students cluster around universities and dorms</a:t>
            </a:r>
            <a:endParaRPr lang="en-US" sz="1400" dirty="0"/>
          </a:p>
        </p:txBody>
      </p:sp>
      <p:sp>
        <p:nvSpPr>
          <p:cNvPr id="32" name="Text 26"/>
          <p:cNvSpPr txBox="1"/>
          <p:nvPr/>
        </p:nvSpPr>
        <p:spPr>
          <a:xfrm>
            <a:off x="8046720" y="5394960"/>
            <a:ext cx="3566160" cy="731520"/>
          </a:xfrm>
          <a:prstGeom prst="rect">
            <a:avLst/>
          </a:prstGeom>
          <a:noFill/>
          <a:ln/>
        </p:spPr>
        <p:txBody>
          <a:bodyPr wrap="square" lIns="0" tIns="0" rIns="0" bIns="0" rtlCol="0" anchor="t"/>
          <a:lstStyle/>
          <a:p>
            <a:pPr indent="0" marL="0">
              <a:buNone/>
            </a:pPr>
            <a:r>
              <a:rPr lang="en-US" sz="1400" b="1" dirty="0">
                <a:solidFill>
                  <a:schemeClr val="accent1"/>
                </a:solidFill>
              </a:rPr>
              <a:t>Our network: </a:t>
            </a:r>
            <a:pPr indent="0" marL="0">
              <a:buNone/>
            </a:pPr>
            <a:r>
              <a:rPr lang="en-US" sz="1400" dirty="0">
                <a:solidFill>
                  <a:schemeClr val="tx1"/>
                </a:solidFill>
              </a:rPr>
              <a:t>we are students: cheap to reach and to test</a:t>
            </a:r>
            <a:endParaRPr lang="en-US" sz="1400" dirty="0"/>
          </a:p>
        </p:txBody>
      </p:sp>
      <p:sp>
        <p:nvSpPr>
          <p:cNvPr id="25" name="Slide Number Placeholder 0"/>
          <p:cNvSpPr>
            <a:spLocks noGrp="1"/>
          </p:cNvSpPr>
          <p:nvPr>
            <p:ph type="sldNum" sz="quarter" idx="4294967295"/>
          </p:nvPr>
        </p:nvSpPr>
        <p:spPr>
          <a:xfrm>
            <a:off x="1120140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3"/>
          <p:cNvSpPr/>
          <p:nvPr>
            <p:ph idx="106" type="title" hasCustomPrompt="1"/>
          </p:nvPr>
        </p:nvSpPr>
        <p:spPr>
          <a:xfrm>
            <a:off x="4754880" y="301752"/>
            <a:ext cx="6903720" cy="548640"/>
          </a:xfrm>
          <a:prstGeom prst="rect">
            <a:avLst/>
          </a:prstGeom>
          <a:noFill/>
          <a:ln/>
        </p:spPr>
        <p:txBody>
          <a:bodyPr wrap="square" lIns="0" tIns="0" rIns="0" bIns="0" rtlCol="0" anchor="ctr"/>
          <a:lstStyle/>
          <a:p>
            <a:pPr algn="r" indent="0" marL="0">
              <a:buNone/>
            </a:pPr>
            <a:r>
              <a:rPr lang="en-US" sz="2600" b="1" dirty="0">
                <a:solidFill>
                  <a:schemeClr val="tx1"/>
                </a:solidFill>
              </a:rPr>
              <a:t>3 · VALUE PROPOSITION</a:t>
            </a:r>
            <a:endParaRPr lang="en-US" sz="2600" dirty="0"/>
          </a:p>
        </p:txBody>
      </p:sp>
      <p:sp>
        <p:nvSpPr>
          <p:cNvPr id="3" name="Value proposition sentence"/>
          <p:cNvSpPr/>
          <p:nvPr/>
        </p:nvSpPr>
        <p:spPr>
          <a:xfrm>
            <a:off x="548640" y="1143000"/>
            <a:ext cx="11109960" cy="1783080"/>
          </a:xfrm>
          <a:prstGeom prst="roundRect">
            <a:avLst>
              <a:gd name="adj" fmla="val 7179"/>
            </a:avLst>
          </a:prstGeom>
          <a:solidFill>
            <a:schemeClr val="tx2"/>
          </a:solidFill>
          <a:ln/>
        </p:spPr>
      </p:sp>
      <p:sp>
        <p:nvSpPr>
          <p:cNvPr id="4" name="Text 2"/>
          <p:cNvSpPr txBox="1"/>
          <p:nvPr/>
        </p:nvSpPr>
        <p:spPr>
          <a:xfrm>
            <a:off x="868680" y="1280160"/>
            <a:ext cx="10469880" cy="1508760"/>
          </a:xfrm>
          <a:prstGeom prst="rect">
            <a:avLst/>
          </a:prstGeom>
          <a:noFill/>
          <a:ln/>
        </p:spPr>
        <p:txBody>
          <a:bodyPr wrap="square" lIns="0" tIns="0" rIns="0" bIns="0" rtlCol="0" anchor="ctr"/>
          <a:lstStyle/>
          <a:p>
            <a:pPr indent="0" marL="0">
              <a:buNone/>
            </a:pPr>
            <a:r>
              <a:rPr lang="en-US" sz="1900" dirty="0">
                <a:solidFill>
                  <a:schemeClr val="bg1"/>
                </a:solidFill>
              </a:rPr>
              <a:t>For </a:t>
            </a:r>
            <a:pPr indent="0" marL="0">
              <a:buNone/>
            </a:pPr>
            <a:r>
              <a:rPr lang="en-US" sz="1900" b="1" dirty="0">
                <a:solidFill>
                  <a:schemeClr val="accent6"/>
                </a:solidFill>
              </a:rPr>
              <a:t>university students</a:t>
            </a:r>
            <a:pPr indent="0" marL="0">
              <a:buNone/>
            </a:pPr>
            <a:r>
              <a:rPr lang="en-US" sz="1900" dirty="0">
                <a:solidFill>
                  <a:schemeClr val="bg1"/>
                </a:solidFill>
              </a:rPr>
              <a:t> who </a:t>
            </a:r>
            <a:pPr indent="0" marL="0">
              <a:buNone/>
            </a:pPr>
            <a:r>
              <a:rPr lang="en-US" sz="1900" b="1" dirty="0">
                <a:solidFill>
                  <a:schemeClr val="accent6"/>
                </a:solidFill>
              </a:rPr>
              <a:t>can't afford to rent alone but struggle to find enough compatible roommates</a:t>
            </a:r>
            <a:pPr indent="0" marL="0">
              <a:buNone/>
            </a:pPr>
            <a:r>
              <a:rPr lang="en-US" sz="1900" dirty="0">
                <a:solidFill>
                  <a:schemeClr val="bg1"/>
                </a:solidFill>
              </a:rPr>
              <a:t>, RoomMatch </a:t>
            </a:r>
            <a:pPr indent="0" marL="0">
              <a:buNone/>
            </a:pPr>
            <a:r>
              <a:rPr lang="en-US" sz="1900" b="1" dirty="0">
                <a:solidFill>
                  <a:schemeClr val="accent6"/>
                </a:solidFill>
              </a:rPr>
              <a:t>matches them by budget, area and lifestyle and helps them form a group of 3–5 to rent together</a:t>
            </a:r>
            <a:pPr indent="0" marL="0">
              <a:buNone/>
            </a:pPr>
            <a:r>
              <a:rPr lang="en-US" sz="1900" dirty="0">
                <a:solidFill>
                  <a:schemeClr val="bg1"/>
                </a:solidFill>
              </a:rPr>
              <a:t>. Unlike </a:t>
            </a:r>
            <a:pPr indent="0" marL="0">
              <a:buNone/>
            </a:pPr>
            <a:r>
              <a:rPr lang="en-US" sz="1900" b="1" dirty="0">
                <a:solidFill>
                  <a:schemeClr val="accent6"/>
                </a:solidFill>
              </a:rPr>
              <a:t>Telegram housing channels and asking friends</a:t>
            </a:r>
            <a:pPr indent="0" marL="0">
              <a:buNone/>
            </a:pPr>
            <a:r>
              <a:rPr lang="en-US" sz="1900" dirty="0">
                <a:solidFill>
                  <a:schemeClr val="bg1"/>
                </a:solidFill>
              </a:rPr>
              <a:t>, we </a:t>
            </a:r>
            <a:pPr indent="0" marL="0">
              <a:buNone/>
            </a:pPr>
            <a:r>
              <a:rPr lang="en-US" sz="1900" b="1" dirty="0">
                <a:solidFill>
                  <a:schemeClr val="accent6"/>
                </a:solidFill>
              </a:rPr>
              <a:t>match people by compatibility, not just list apartments</a:t>
            </a:r>
            <a:pPr indent="0" marL="0">
              <a:buNone/>
            </a:pPr>
            <a:r>
              <a:rPr lang="en-US" sz="1900" dirty="0">
                <a:solidFill>
                  <a:schemeClr val="bg1"/>
                </a:solidFill>
              </a:rPr>
              <a:t>.</a:t>
            </a:r>
            <a:endParaRPr lang="en-US" sz="1900" dirty="0"/>
          </a:p>
        </p:txBody>
      </p:sp>
      <p:sp>
        <p:nvSpPr>
          <p:cNvPr id="5" name="Text 3"/>
          <p:cNvSpPr txBox="1"/>
          <p:nvPr/>
        </p:nvSpPr>
        <p:spPr>
          <a:xfrm>
            <a:off x="548640" y="3035808"/>
            <a:ext cx="11109960" cy="292608"/>
          </a:xfrm>
          <a:prstGeom prst="rect">
            <a:avLst/>
          </a:prstGeom>
          <a:noFill/>
          <a:ln/>
        </p:spPr>
        <p:txBody>
          <a:bodyPr wrap="square" lIns="0" tIns="0" rIns="0" bIns="0" rtlCol="0" anchor="t"/>
          <a:lstStyle/>
          <a:p>
            <a:pPr indent="0" marL="0">
              <a:buNone/>
            </a:pPr>
            <a:r>
              <a:rPr lang="en-US" sz="1300" i="1" dirty="0">
                <a:solidFill>
                  <a:schemeClr val="accent5"/>
                </a:solidFill>
              </a:rPr>
              <a:t>Value elements: Cost reduction  ·  Convenience  ·  Risk reduction  ·  Customisation</a:t>
            </a:r>
            <a:endParaRPr lang="en-US" sz="1300" dirty="0"/>
          </a:p>
        </p:txBody>
      </p:sp>
      <p:sp>
        <p:nvSpPr>
          <p:cNvPr id="6" name="Pain card"/>
          <p:cNvSpPr/>
          <p:nvPr/>
        </p:nvSpPr>
        <p:spPr>
          <a:xfrm>
            <a:off x="548640" y="3474720"/>
            <a:ext cx="5440680" cy="2697480"/>
          </a:xfrm>
          <a:prstGeom prst="roundRect">
            <a:avLst>
              <a:gd name="adj" fmla="val 4746"/>
            </a:avLst>
          </a:prstGeom>
          <a:solidFill>
            <a:schemeClr val="bg1"/>
          </a:solidFill>
          <a:ln/>
          <a:effectLst>
            <a:outerShdw sx="100000" sy="100000" kx="0" ky="0" algn="bl" rotWithShape="0" blurRad="101600" dist="25400" dir="5400000">
              <a:srgbClr val="1B2A3A">
                <a:alpha val="12000"/>
              </a:srgbClr>
            </a:outerShdw>
          </a:effectLst>
        </p:spPr>
      </p:sp>
      <p:sp>
        <p:nvSpPr>
          <p:cNvPr id="7" name="Text 5"/>
          <p:cNvSpPr txBox="1"/>
          <p:nvPr/>
        </p:nvSpPr>
        <p:spPr>
          <a:xfrm>
            <a:off x="777240" y="3611880"/>
            <a:ext cx="4937760" cy="365760"/>
          </a:xfrm>
          <a:prstGeom prst="rect">
            <a:avLst/>
          </a:prstGeom>
          <a:noFill/>
          <a:ln/>
        </p:spPr>
        <p:txBody>
          <a:bodyPr wrap="square" lIns="0" tIns="0" rIns="0" bIns="0" rtlCol="0" anchor="t"/>
          <a:lstStyle/>
          <a:p>
            <a:pPr indent="0" marL="0">
              <a:buNone/>
            </a:pPr>
            <a:r>
              <a:rPr lang="en-US" sz="1700" b="1" dirty="0">
                <a:solidFill>
                  <a:schemeClr val="accent3"/>
                </a:solidFill>
              </a:rPr>
              <a:t>Pains we relieve</a:t>
            </a:r>
            <a:endParaRPr lang="en-US" sz="1700" dirty="0"/>
          </a:p>
        </p:txBody>
      </p:sp>
      <p:sp>
        <p:nvSpPr>
          <p:cNvPr id="8" name="Pain 1 circle"/>
          <p:cNvSpPr/>
          <p:nvPr/>
        </p:nvSpPr>
        <p:spPr>
          <a:xfrm>
            <a:off x="777240" y="4114800"/>
            <a:ext cx="365760" cy="365760"/>
          </a:xfrm>
          <a:prstGeom prst="ellipse">
            <a:avLst/>
          </a:prstGeom>
          <a:solidFill>
            <a:schemeClr val="accent3"/>
          </a:solidFill>
          <a:ln/>
        </p:spPr>
      </p:sp>
      <p:pic>
        <p:nvPicPr>
          <p:cNvPr id="9" name="Pain 1 icon" descr="preencoded.png">    </p:cNvPr>
          <p:cNvPicPr>
            <a:picLocks noChangeAspect="1"/>
          </p:cNvPicPr>
          <p:nvPr/>
        </p:nvPicPr>
        <p:blipFill>
          <a:blip r:embed="rId1"/>
          <a:stretch>
            <a:fillRect/>
          </a:stretch>
        </p:blipFill>
        <p:spPr>
          <a:xfrm>
            <a:off x="868680" y="4206240"/>
            <a:ext cx="182880" cy="182880"/>
          </a:xfrm>
          <a:prstGeom prst="rect">
            <a:avLst/>
          </a:prstGeom>
        </p:spPr>
      </p:pic>
      <p:sp>
        <p:nvSpPr>
          <p:cNvPr id="10" name="Text 7"/>
          <p:cNvSpPr txBox="1"/>
          <p:nvPr/>
        </p:nvSpPr>
        <p:spPr>
          <a:xfrm>
            <a:off x="1280160" y="4087368"/>
            <a:ext cx="3794760" cy="420624"/>
          </a:xfrm>
          <a:prstGeom prst="rect">
            <a:avLst/>
          </a:prstGeom>
          <a:noFill/>
          <a:ln/>
        </p:spPr>
        <p:txBody>
          <a:bodyPr wrap="square" lIns="0" tIns="0" rIns="0" bIns="0" rtlCol="0" anchor="ctr"/>
          <a:lstStyle/>
          <a:p>
            <a:pPr indent="0" marL="0">
              <a:buNone/>
            </a:pPr>
            <a:r>
              <a:rPr lang="en-US" sz="1400" dirty="0">
                <a:solidFill>
                  <a:schemeClr val="tx1"/>
                </a:solidFill>
              </a:rPr>
              <a:t>Renting alone is too expensive</a:t>
            </a:r>
            <a:endParaRPr lang="en-US" sz="1400" dirty="0"/>
          </a:p>
        </p:txBody>
      </p:sp>
      <p:sp>
        <p:nvSpPr>
          <p:cNvPr id="11" name="Evidence 4/5"/>
          <p:cNvSpPr txBox="1"/>
          <p:nvPr/>
        </p:nvSpPr>
        <p:spPr>
          <a:xfrm>
            <a:off x="5120640" y="4142232"/>
            <a:ext cx="640080" cy="310896"/>
          </a:xfrm>
          <a:prstGeom prst="roundRect">
            <a:avLst>
              <a:gd name="adj" fmla="val 44118"/>
            </a:avLst>
          </a:prstGeom>
          <a:solidFill>
            <a:schemeClr val="bg2"/>
          </a:solidFill>
          <a:ln/>
        </p:spPr>
        <p:txBody>
          <a:bodyPr wrap="square" lIns="0" tIns="0" rIns="0" bIns="0" rtlCol="0" anchor="ctr"/>
          <a:lstStyle/>
          <a:p>
            <a:pPr algn="ctr" indent="0" marL="0">
              <a:buNone/>
            </a:pPr>
            <a:r>
              <a:rPr lang="en-US" sz="1100" b="1" dirty="0">
                <a:solidFill>
                  <a:schemeClr val="tx1"/>
                </a:solidFill>
              </a:rPr>
              <a:t>4/5</a:t>
            </a:r>
            <a:endParaRPr lang="en-US" sz="1100" dirty="0"/>
          </a:p>
        </p:txBody>
      </p:sp>
      <p:sp>
        <p:nvSpPr>
          <p:cNvPr id="12" name="Pain 2 circle"/>
          <p:cNvSpPr/>
          <p:nvPr/>
        </p:nvSpPr>
        <p:spPr>
          <a:xfrm>
            <a:off x="777240" y="4617720"/>
            <a:ext cx="365760" cy="365760"/>
          </a:xfrm>
          <a:prstGeom prst="ellipse">
            <a:avLst/>
          </a:prstGeom>
          <a:solidFill>
            <a:schemeClr val="accent3"/>
          </a:solidFill>
          <a:ln/>
        </p:spPr>
      </p:sp>
      <p:pic>
        <p:nvPicPr>
          <p:cNvPr id="13" name="Pain 2 icon" descr="preencoded.png">    </p:cNvPr>
          <p:cNvPicPr>
            <a:picLocks noChangeAspect="1"/>
          </p:cNvPicPr>
          <p:nvPr/>
        </p:nvPicPr>
        <p:blipFill>
          <a:blip r:embed="rId2"/>
          <a:stretch>
            <a:fillRect/>
          </a:stretch>
        </p:blipFill>
        <p:spPr>
          <a:xfrm>
            <a:off x="868680" y="4709160"/>
            <a:ext cx="182880" cy="182880"/>
          </a:xfrm>
          <a:prstGeom prst="rect">
            <a:avLst/>
          </a:prstGeom>
        </p:spPr>
      </p:pic>
      <p:sp>
        <p:nvSpPr>
          <p:cNvPr id="14" name="Text 10"/>
          <p:cNvSpPr txBox="1"/>
          <p:nvPr/>
        </p:nvSpPr>
        <p:spPr>
          <a:xfrm>
            <a:off x="1280160" y="4590288"/>
            <a:ext cx="3794760" cy="420624"/>
          </a:xfrm>
          <a:prstGeom prst="rect">
            <a:avLst/>
          </a:prstGeom>
          <a:noFill/>
          <a:ln/>
        </p:spPr>
        <p:txBody>
          <a:bodyPr wrap="square" lIns="0" tIns="0" rIns="0" bIns="0" rtlCol="0" anchor="ctr"/>
          <a:lstStyle/>
          <a:p>
            <a:pPr indent="0" marL="0">
              <a:buNone/>
            </a:pPr>
            <a:r>
              <a:rPr lang="en-US" sz="1400" dirty="0">
                <a:solidFill>
                  <a:schemeClr val="tx1"/>
                </a:solidFill>
              </a:rPr>
              <a:t>Can't find enough compatible people</a:t>
            </a:r>
            <a:endParaRPr lang="en-US" sz="1400" dirty="0"/>
          </a:p>
        </p:txBody>
      </p:sp>
      <p:sp>
        <p:nvSpPr>
          <p:cNvPr id="15" name="Evidence 3/5"/>
          <p:cNvSpPr txBox="1"/>
          <p:nvPr/>
        </p:nvSpPr>
        <p:spPr>
          <a:xfrm>
            <a:off x="5120640" y="4645152"/>
            <a:ext cx="640080" cy="310896"/>
          </a:xfrm>
          <a:prstGeom prst="roundRect">
            <a:avLst>
              <a:gd name="adj" fmla="val 44118"/>
            </a:avLst>
          </a:prstGeom>
          <a:solidFill>
            <a:schemeClr val="bg2"/>
          </a:solidFill>
          <a:ln/>
        </p:spPr>
        <p:txBody>
          <a:bodyPr wrap="square" lIns="0" tIns="0" rIns="0" bIns="0" rtlCol="0" anchor="ctr"/>
          <a:lstStyle/>
          <a:p>
            <a:pPr algn="ctr" indent="0" marL="0">
              <a:buNone/>
            </a:pPr>
            <a:r>
              <a:rPr lang="en-US" sz="1100" b="1" dirty="0">
                <a:solidFill>
                  <a:schemeClr val="tx1"/>
                </a:solidFill>
              </a:rPr>
              <a:t>3/5</a:t>
            </a:r>
            <a:endParaRPr lang="en-US" sz="1100" dirty="0"/>
          </a:p>
        </p:txBody>
      </p:sp>
      <p:sp>
        <p:nvSpPr>
          <p:cNvPr id="16" name="Pain 3 circle"/>
          <p:cNvSpPr/>
          <p:nvPr/>
        </p:nvSpPr>
        <p:spPr>
          <a:xfrm>
            <a:off x="777240" y="5120640"/>
            <a:ext cx="365760" cy="365760"/>
          </a:xfrm>
          <a:prstGeom prst="ellipse">
            <a:avLst/>
          </a:prstGeom>
          <a:solidFill>
            <a:schemeClr val="accent3"/>
          </a:solidFill>
          <a:ln/>
        </p:spPr>
      </p:sp>
      <p:pic>
        <p:nvPicPr>
          <p:cNvPr id="17" name="Pain 3 icon" descr="preencoded.png">    </p:cNvPr>
          <p:cNvPicPr>
            <a:picLocks noChangeAspect="1"/>
          </p:cNvPicPr>
          <p:nvPr/>
        </p:nvPicPr>
        <p:blipFill>
          <a:blip r:embed="rId3"/>
          <a:stretch>
            <a:fillRect/>
          </a:stretch>
        </p:blipFill>
        <p:spPr>
          <a:xfrm>
            <a:off x="868680" y="5212080"/>
            <a:ext cx="182880" cy="182880"/>
          </a:xfrm>
          <a:prstGeom prst="rect">
            <a:avLst/>
          </a:prstGeom>
        </p:spPr>
      </p:pic>
      <p:sp>
        <p:nvSpPr>
          <p:cNvPr id="18" name="Text 13"/>
          <p:cNvSpPr txBox="1"/>
          <p:nvPr/>
        </p:nvSpPr>
        <p:spPr>
          <a:xfrm>
            <a:off x="1280160" y="5093208"/>
            <a:ext cx="3794760" cy="420624"/>
          </a:xfrm>
          <a:prstGeom prst="rect">
            <a:avLst/>
          </a:prstGeom>
          <a:noFill/>
          <a:ln/>
        </p:spPr>
        <p:txBody>
          <a:bodyPr wrap="square" lIns="0" tIns="0" rIns="0" bIns="0" rtlCol="0" anchor="ctr"/>
          <a:lstStyle/>
          <a:p>
            <a:pPr indent="0" marL="0">
              <a:buNone/>
            </a:pPr>
            <a:r>
              <a:rPr lang="en-US" sz="1400" dirty="0">
                <a:solidFill>
                  <a:schemeClr val="tx1"/>
                </a:solidFill>
              </a:rPr>
              <a:t>Forced to compromise on location or comfort</a:t>
            </a:r>
            <a:endParaRPr lang="en-US" sz="1400" dirty="0"/>
          </a:p>
        </p:txBody>
      </p:sp>
      <p:sp>
        <p:nvSpPr>
          <p:cNvPr id="19" name="Evidence 3/5"/>
          <p:cNvSpPr txBox="1"/>
          <p:nvPr/>
        </p:nvSpPr>
        <p:spPr>
          <a:xfrm>
            <a:off x="5120640" y="5148072"/>
            <a:ext cx="640080" cy="310896"/>
          </a:xfrm>
          <a:prstGeom prst="roundRect">
            <a:avLst>
              <a:gd name="adj" fmla="val 44118"/>
            </a:avLst>
          </a:prstGeom>
          <a:solidFill>
            <a:schemeClr val="bg2"/>
          </a:solidFill>
          <a:ln/>
        </p:spPr>
        <p:txBody>
          <a:bodyPr wrap="square" lIns="0" tIns="0" rIns="0" bIns="0" rtlCol="0" anchor="ctr"/>
          <a:lstStyle/>
          <a:p>
            <a:pPr algn="ctr" indent="0" marL="0">
              <a:buNone/>
            </a:pPr>
            <a:r>
              <a:rPr lang="en-US" sz="1100" b="1" dirty="0">
                <a:solidFill>
                  <a:schemeClr val="tx1"/>
                </a:solidFill>
              </a:rPr>
              <a:t>3/5</a:t>
            </a:r>
            <a:endParaRPr lang="en-US" sz="1100" dirty="0"/>
          </a:p>
        </p:txBody>
      </p:sp>
      <p:sp>
        <p:nvSpPr>
          <p:cNvPr id="20" name="Pain 4 circle"/>
          <p:cNvSpPr/>
          <p:nvPr/>
        </p:nvSpPr>
        <p:spPr>
          <a:xfrm>
            <a:off x="777240" y="5623560"/>
            <a:ext cx="365760" cy="365760"/>
          </a:xfrm>
          <a:prstGeom prst="ellipse">
            <a:avLst/>
          </a:prstGeom>
          <a:solidFill>
            <a:schemeClr val="accent3"/>
          </a:solidFill>
          <a:ln/>
        </p:spPr>
      </p:sp>
      <p:pic>
        <p:nvPicPr>
          <p:cNvPr id="21" name="Pain 4 icon" descr="preencoded.png">    </p:cNvPr>
          <p:cNvPicPr>
            <a:picLocks noChangeAspect="1"/>
          </p:cNvPicPr>
          <p:nvPr/>
        </p:nvPicPr>
        <p:blipFill>
          <a:blip r:embed="rId4"/>
          <a:stretch>
            <a:fillRect/>
          </a:stretch>
        </p:blipFill>
        <p:spPr>
          <a:xfrm>
            <a:off x="868680" y="5715000"/>
            <a:ext cx="182880" cy="182880"/>
          </a:xfrm>
          <a:prstGeom prst="rect">
            <a:avLst/>
          </a:prstGeom>
        </p:spPr>
      </p:pic>
      <p:sp>
        <p:nvSpPr>
          <p:cNvPr id="22" name="Text 16"/>
          <p:cNvSpPr txBox="1"/>
          <p:nvPr/>
        </p:nvSpPr>
        <p:spPr>
          <a:xfrm>
            <a:off x="1280160" y="5596128"/>
            <a:ext cx="4480560" cy="420624"/>
          </a:xfrm>
          <a:prstGeom prst="rect">
            <a:avLst/>
          </a:prstGeom>
          <a:noFill/>
          <a:ln/>
        </p:spPr>
        <p:txBody>
          <a:bodyPr wrap="square" lIns="0" tIns="0" rIns="0" bIns="0" rtlCol="0" anchor="ctr"/>
          <a:lstStyle/>
          <a:p>
            <a:pPr indent="0" marL="0">
              <a:buNone/>
            </a:pPr>
            <a:r>
              <a:rPr lang="en-US" sz="1400" dirty="0">
                <a:solidFill>
                  <a:schemeClr val="tx1"/>
                </a:solidFill>
              </a:rPr>
              <a:t>Telegram channels are fragmented and random</a:t>
            </a:r>
            <a:endParaRPr lang="en-US" sz="1400" dirty="0"/>
          </a:p>
        </p:txBody>
      </p:sp>
      <p:sp>
        <p:nvSpPr>
          <p:cNvPr id="23" name="Gain card"/>
          <p:cNvSpPr/>
          <p:nvPr/>
        </p:nvSpPr>
        <p:spPr>
          <a:xfrm>
            <a:off x="6217920" y="3474720"/>
            <a:ext cx="5440680" cy="2697480"/>
          </a:xfrm>
          <a:prstGeom prst="roundRect">
            <a:avLst>
              <a:gd name="adj" fmla="val 4746"/>
            </a:avLst>
          </a:prstGeom>
          <a:solidFill>
            <a:schemeClr val="bg1"/>
          </a:solidFill>
          <a:ln/>
          <a:effectLst>
            <a:outerShdw sx="100000" sy="100000" kx="0" ky="0" algn="bl" rotWithShape="0" blurRad="101600" dist="25400" dir="5400000">
              <a:srgbClr val="1B2A3A">
                <a:alpha val="12000"/>
              </a:srgbClr>
            </a:outerShdw>
          </a:effectLst>
        </p:spPr>
      </p:sp>
      <p:sp>
        <p:nvSpPr>
          <p:cNvPr id="24" name="Text 18"/>
          <p:cNvSpPr txBox="1"/>
          <p:nvPr/>
        </p:nvSpPr>
        <p:spPr>
          <a:xfrm>
            <a:off x="6446520" y="3611880"/>
            <a:ext cx="4937760" cy="365760"/>
          </a:xfrm>
          <a:prstGeom prst="rect">
            <a:avLst/>
          </a:prstGeom>
          <a:noFill/>
          <a:ln/>
        </p:spPr>
        <p:txBody>
          <a:bodyPr wrap="square" lIns="0" tIns="0" rIns="0" bIns="0" rtlCol="0" anchor="t"/>
          <a:lstStyle/>
          <a:p>
            <a:pPr indent="0" marL="0">
              <a:buNone/>
            </a:pPr>
            <a:r>
              <a:rPr lang="en-US" sz="1700" b="1" dirty="0">
                <a:solidFill>
                  <a:schemeClr val="accent4"/>
                </a:solidFill>
              </a:rPr>
              <a:t>Gains we create</a:t>
            </a:r>
            <a:endParaRPr lang="en-US" sz="1700" dirty="0"/>
          </a:p>
        </p:txBody>
      </p:sp>
      <p:sp>
        <p:nvSpPr>
          <p:cNvPr id="25" name="Gain 1 circle"/>
          <p:cNvSpPr/>
          <p:nvPr/>
        </p:nvSpPr>
        <p:spPr>
          <a:xfrm>
            <a:off x="6446520" y="4114800"/>
            <a:ext cx="365760" cy="365760"/>
          </a:xfrm>
          <a:prstGeom prst="ellipse">
            <a:avLst/>
          </a:prstGeom>
          <a:solidFill>
            <a:schemeClr val="accent4"/>
          </a:solidFill>
          <a:ln/>
        </p:spPr>
      </p:sp>
      <p:pic>
        <p:nvPicPr>
          <p:cNvPr id="26" name="Gain 1 icon" descr="preencoded.png">    </p:cNvPr>
          <p:cNvPicPr>
            <a:picLocks noChangeAspect="1"/>
          </p:cNvPicPr>
          <p:nvPr/>
        </p:nvPicPr>
        <p:blipFill>
          <a:blip r:embed="rId5"/>
          <a:stretch>
            <a:fillRect/>
          </a:stretch>
        </p:blipFill>
        <p:spPr>
          <a:xfrm>
            <a:off x="6537960" y="4206240"/>
            <a:ext cx="182880" cy="182880"/>
          </a:xfrm>
          <a:prstGeom prst="rect">
            <a:avLst/>
          </a:prstGeom>
        </p:spPr>
      </p:pic>
      <p:sp>
        <p:nvSpPr>
          <p:cNvPr id="27" name="Text 20"/>
          <p:cNvSpPr txBox="1"/>
          <p:nvPr/>
        </p:nvSpPr>
        <p:spPr>
          <a:xfrm>
            <a:off x="6949440" y="4087368"/>
            <a:ext cx="4480560" cy="420624"/>
          </a:xfrm>
          <a:prstGeom prst="rect">
            <a:avLst/>
          </a:prstGeom>
          <a:noFill/>
          <a:ln/>
        </p:spPr>
        <p:txBody>
          <a:bodyPr wrap="square" lIns="0" tIns="0" rIns="0" bIns="0" rtlCol="0" anchor="ctr"/>
          <a:lstStyle/>
          <a:p>
            <a:pPr indent="0" marL="0">
              <a:buNone/>
            </a:pPr>
            <a:r>
              <a:rPr lang="en-US" sz="1400" dirty="0">
                <a:solidFill>
                  <a:schemeClr val="tx1"/>
                </a:solidFill>
              </a:rPr>
              <a:t>Lower rent, split between 3–5 people</a:t>
            </a:r>
            <a:endParaRPr lang="en-US" sz="1400" dirty="0"/>
          </a:p>
        </p:txBody>
      </p:sp>
      <p:sp>
        <p:nvSpPr>
          <p:cNvPr id="28" name="Gain 2 circle"/>
          <p:cNvSpPr/>
          <p:nvPr/>
        </p:nvSpPr>
        <p:spPr>
          <a:xfrm>
            <a:off x="6446520" y="4617720"/>
            <a:ext cx="365760" cy="365760"/>
          </a:xfrm>
          <a:prstGeom prst="ellipse">
            <a:avLst/>
          </a:prstGeom>
          <a:solidFill>
            <a:schemeClr val="accent4"/>
          </a:solidFill>
          <a:ln/>
        </p:spPr>
      </p:sp>
      <p:pic>
        <p:nvPicPr>
          <p:cNvPr id="29" name="Gain 2 icon" descr="preencoded.png">    </p:cNvPr>
          <p:cNvPicPr>
            <a:picLocks noChangeAspect="1"/>
          </p:cNvPicPr>
          <p:nvPr/>
        </p:nvPicPr>
        <p:blipFill>
          <a:blip r:embed="rId6"/>
          <a:stretch>
            <a:fillRect/>
          </a:stretch>
        </p:blipFill>
        <p:spPr>
          <a:xfrm>
            <a:off x="6537960" y="4709160"/>
            <a:ext cx="182880" cy="182880"/>
          </a:xfrm>
          <a:prstGeom prst="rect">
            <a:avLst/>
          </a:prstGeom>
        </p:spPr>
      </p:pic>
      <p:sp>
        <p:nvSpPr>
          <p:cNvPr id="30" name="Text 22"/>
          <p:cNvSpPr txBox="1"/>
          <p:nvPr/>
        </p:nvSpPr>
        <p:spPr>
          <a:xfrm>
            <a:off x="6949440" y="4590288"/>
            <a:ext cx="4480560" cy="420624"/>
          </a:xfrm>
          <a:prstGeom prst="rect">
            <a:avLst/>
          </a:prstGeom>
          <a:noFill/>
          <a:ln/>
        </p:spPr>
        <p:txBody>
          <a:bodyPr wrap="square" lIns="0" tIns="0" rIns="0" bIns="0" rtlCol="0" anchor="ctr"/>
          <a:lstStyle/>
          <a:p>
            <a:pPr indent="0" marL="0">
              <a:buNone/>
            </a:pPr>
            <a:r>
              <a:rPr lang="en-US" sz="1400" dirty="0">
                <a:solidFill>
                  <a:schemeClr val="tx1"/>
                </a:solidFill>
              </a:rPr>
              <a:t>Roommates with similar habits and budget</a:t>
            </a:r>
            <a:endParaRPr lang="en-US" sz="1400" dirty="0"/>
          </a:p>
        </p:txBody>
      </p:sp>
      <p:sp>
        <p:nvSpPr>
          <p:cNvPr id="31" name="Gain 3 circle"/>
          <p:cNvSpPr/>
          <p:nvPr/>
        </p:nvSpPr>
        <p:spPr>
          <a:xfrm>
            <a:off x="6446520" y="5120640"/>
            <a:ext cx="365760" cy="365760"/>
          </a:xfrm>
          <a:prstGeom prst="ellipse">
            <a:avLst/>
          </a:prstGeom>
          <a:solidFill>
            <a:schemeClr val="accent4"/>
          </a:solidFill>
          <a:ln/>
        </p:spPr>
      </p:sp>
      <p:pic>
        <p:nvPicPr>
          <p:cNvPr id="32" name="Gain 3 icon" descr="preencoded.png">    </p:cNvPr>
          <p:cNvPicPr>
            <a:picLocks noChangeAspect="1"/>
          </p:cNvPicPr>
          <p:nvPr/>
        </p:nvPicPr>
        <p:blipFill>
          <a:blip r:embed="rId7"/>
          <a:stretch>
            <a:fillRect/>
          </a:stretch>
        </p:blipFill>
        <p:spPr>
          <a:xfrm>
            <a:off x="6537960" y="5212080"/>
            <a:ext cx="182880" cy="182880"/>
          </a:xfrm>
          <a:prstGeom prst="rect">
            <a:avLst/>
          </a:prstGeom>
        </p:spPr>
      </p:pic>
      <p:sp>
        <p:nvSpPr>
          <p:cNvPr id="33" name="Text 24"/>
          <p:cNvSpPr txBox="1"/>
          <p:nvPr/>
        </p:nvSpPr>
        <p:spPr>
          <a:xfrm>
            <a:off x="6949440" y="5093208"/>
            <a:ext cx="4480560" cy="420624"/>
          </a:xfrm>
          <a:prstGeom prst="rect">
            <a:avLst/>
          </a:prstGeom>
          <a:noFill/>
          <a:ln/>
        </p:spPr>
        <p:txBody>
          <a:bodyPr wrap="square" lIns="0" tIns="0" rIns="0" bIns="0" rtlCol="0" anchor="ctr"/>
          <a:lstStyle/>
          <a:p>
            <a:pPr indent="0" marL="0">
              <a:buNone/>
            </a:pPr>
            <a:r>
              <a:rPr lang="en-US" sz="1400" dirty="0">
                <a:solidFill>
                  <a:schemeClr val="tx1"/>
                </a:solidFill>
              </a:rPr>
              <a:t>One place from profile to apartment</a:t>
            </a:r>
            <a:endParaRPr lang="en-US" sz="1400" dirty="0"/>
          </a:p>
        </p:txBody>
      </p:sp>
      <p:sp>
        <p:nvSpPr>
          <p:cNvPr id="34" name="Gain 4 circle"/>
          <p:cNvSpPr/>
          <p:nvPr/>
        </p:nvSpPr>
        <p:spPr>
          <a:xfrm>
            <a:off x="6446520" y="5623560"/>
            <a:ext cx="365760" cy="365760"/>
          </a:xfrm>
          <a:prstGeom prst="ellipse">
            <a:avLst/>
          </a:prstGeom>
          <a:solidFill>
            <a:schemeClr val="accent4"/>
          </a:solidFill>
          <a:ln/>
        </p:spPr>
      </p:sp>
      <p:pic>
        <p:nvPicPr>
          <p:cNvPr id="35" name="Gain 4 icon" descr="preencoded.png">    </p:cNvPr>
          <p:cNvPicPr>
            <a:picLocks noChangeAspect="1"/>
          </p:cNvPicPr>
          <p:nvPr/>
        </p:nvPicPr>
        <p:blipFill>
          <a:blip r:embed="rId8"/>
          <a:stretch>
            <a:fillRect/>
          </a:stretch>
        </p:blipFill>
        <p:spPr>
          <a:xfrm>
            <a:off x="6537960" y="5715000"/>
            <a:ext cx="182880" cy="182880"/>
          </a:xfrm>
          <a:prstGeom prst="rect">
            <a:avLst/>
          </a:prstGeom>
        </p:spPr>
      </p:pic>
      <p:sp>
        <p:nvSpPr>
          <p:cNvPr id="36" name="Text 26"/>
          <p:cNvSpPr txBox="1"/>
          <p:nvPr/>
        </p:nvSpPr>
        <p:spPr>
          <a:xfrm>
            <a:off x="6949440" y="5596128"/>
            <a:ext cx="4480560" cy="420624"/>
          </a:xfrm>
          <a:prstGeom prst="rect">
            <a:avLst/>
          </a:prstGeom>
          <a:noFill/>
          <a:ln/>
        </p:spPr>
        <p:txBody>
          <a:bodyPr wrap="square" lIns="0" tIns="0" rIns="0" bIns="0" rtlCol="0" anchor="ctr"/>
          <a:lstStyle/>
          <a:p>
            <a:pPr indent="0" marL="0">
              <a:buNone/>
            </a:pPr>
            <a:r>
              <a:rPr lang="en-US" sz="1400" dirty="0">
                <a:solidFill>
                  <a:schemeClr val="tx1"/>
                </a:solidFill>
              </a:rPr>
              <a:t>Verified profiles: less risk with strangers</a:t>
            </a:r>
            <a:endParaRPr lang="en-US" sz="1400" dirty="0"/>
          </a:p>
        </p:txBody>
      </p:sp>
      <p:sp>
        <p:nvSpPr>
          <p:cNvPr id="25" name="Slide Number Placeholder 0"/>
          <p:cNvSpPr>
            <a:spLocks noGrp="1"/>
          </p:cNvSpPr>
          <p:nvPr>
            <p:ph type="sldNum" sz="quarter" idx="4294967295"/>
          </p:nvPr>
        </p:nvSpPr>
        <p:spPr>
          <a:xfrm>
            <a:off x="1120140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3"/>
          <p:cNvSpPr/>
          <p:nvPr>
            <p:ph idx="106" type="title" hasCustomPrompt="1"/>
          </p:nvPr>
        </p:nvSpPr>
        <p:spPr>
          <a:xfrm>
            <a:off x="4754880" y="301752"/>
            <a:ext cx="6903720" cy="548640"/>
          </a:xfrm>
          <a:prstGeom prst="rect">
            <a:avLst/>
          </a:prstGeom>
          <a:noFill/>
          <a:ln/>
        </p:spPr>
        <p:txBody>
          <a:bodyPr wrap="square" lIns="0" tIns="0" rIns="0" bIns="0" rtlCol="0" anchor="ctr"/>
          <a:lstStyle/>
          <a:p>
            <a:pPr algn="r" indent="0" marL="0">
              <a:buNone/>
            </a:pPr>
            <a:r>
              <a:rPr lang="en-US" sz="2600" b="1" dirty="0">
                <a:solidFill>
                  <a:schemeClr val="tx1"/>
                </a:solidFill>
              </a:rPr>
              <a:t>4–5 · CHANNELS &amp; RELATIONSHIPS</a:t>
            </a:r>
            <a:endParaRPr lang="en-US" sz="2600" dirty="0"/>
          </a:p>
        </p:txBody>
      </p:sp>
      <p:sp>
        <p:nvSpPr>
          <p:cNvPr id="3" name="Text 1"/>
          <p:cNvSpPr txBox="1"/>
          <p:nvPr/>
        </p:nvSpPr>
        <p:spPr>
          <a:xfrm>
            <a:off x="548640" y="1115568"/>
            <a:ext cx="11109960" cy="457200"/>
          </a:xfrm>
          <a:prstGeom prst="rect">
            <a:avLst/>
          </a:prstGeom>
          <a:noFill/>
          <a:ln/>
        </p:spPr>
        <p:txBody>
          <a:bodyPr wrap="square" lIns="0" tIns="0" rIns="0" bIns="0" rtlCol="0" anchor="ctr"/>
          <a:lstStyle/>
          <a:p>
            <a:pPr indent="0" marL="0">
              <a:buNone/>
            </a:pPr>
            <a:r>
              <a:rPr lang="en-US" sz="1900" b="1" dirty="0">
                <a:solidFill>
                  <a:schemeClr val="tx2"/>
                </a:solidFill>
              </a:rPr>
              <a:t>Channels: we go where students already look, then keep everything in our bot</a:t>
            </a:r>
            <a:endParaRPr lang="en-US" sz="1900" dirty="0"/>
          </a:p>
        </p:txBody>
      </p:sp>
      <p:sp>
        <p:nvSpPr>
          <p:cNvPr id="4" name="Channel Awareness"/>
          <p:cNvSpPr/>
          <p:nvPr/>
        </p:nvSpPr>
        <p:spPr>
          <a:xfrm>
            <a:off x="548640" y="1691640"/>
            <a:ext cx="2130552" cy="1874520"/>
          </a:xfrm>
          <a:prstGeom prst="roundRect">
            <a:avLst>
              <a:gd name="adj" fmla="val 6829"/>
            </a:avLst>
          </a:prstGeom>
          <a:solidFill>
            <a:schemeClr val="bg1"/>
          </a:solidFill>
          <a:ln/>
          <a:effectLst>
            <a:outerShdw sx="100000" sy="100000" kx="0" ky="0" algn="bl" rotWithShape="0" blurRad="101600" dist="25400" dir="5400000">
              <a:srgbClr val="1B2A3A">
                <a:alpha val="12000"/>
              </a:srgbClr>
            </a:outerShdw>
          </a:effectLst>
        </p:spPr>
      </p:sp>
      <p:sp>
        <p:nvSpPr>
          <p:cNvPr id="5" name="Channel Awareness circle"/>
          <p:cNvSpPr/>
          <p:nvPr/>
        </p:nvSpPr>
        <p:spPr>
          <a:xfrm>
            <a:off x="731520" y="1874520"/>
            <a:ext cx="502920" cy="502920"/>
          </a:xfrm>
          <a:prstGeom prst="ellipse">
            <a:avLst/>
          </a:prstGeom>
          <a:solidFill>
            <a:schemeClr val="accent1"/>
          </a:solidFill>
          <a:ln/>
        </p:spPr>
      </p:sp>
      <p:pic>
        <p:nvPicPr>
          <p:cNvPr id="6" name="Channel Awareness icon" descr="preencoded.png">    </p:cNvPr>
          <p:cNvPicPr>
            <a:picLocks noChangeAspect="1"/>
          </p:cNvPicPr>
          <p:nvPr/>
        </p:nvPicPr>
        <p:blipFill>
          <a:blip r:embed="rId1"/>
          <a:stretch>
            <a:fillRect/>
          </a:stretch>
        </p:blipFill>
        <p:spPr>
          <a:xfrm>
            <a:off x="857250" y="2000250"/>
            <a:ext cx="251460" cy="251460"/>
          </a:xfrm>
          <a:prstGeom prst="rect">
            <a:avLst/>
          </a:prstGeom>
        </p:spPr>
      </p:pic>
      <p:sp>
        <p:nvSpPr>
          <p:cNvPr id="7" name="Text 4"/>
          <p:cNvSpPr txBox="1"/>
          <p:nvPr/>
        </p:nvSpPr>
        <p:spPr>
          <a:xfrm>
            <a:off x="1325880" y="1938528"/>
            <a:ext cx="1261872" cy="365760"/>
          </a:xfrm>
          <a:prstGeom prst="rect">
            <a:avLst/>
          </a:prstGeom>
          <a:noFill/>
          <a:ln/>
        </p:spPr>
        <p:txBody>
          <a:bodyPr wrap="square" lIns="0" tIns="0" rIns="0" bIns="0" rtlCol="0" anchor="ctr"/>
          <a:lstStyle/>
          <a:p>
            <a:pPr indent="0" marL="0">
              <a:buNone/>
            </a:pPr>
            <a:r>
              <a:rPr lang="en-US" sz="1500" b="1" dirty="0">
                <a:solidFill>
                  <a:schemeClr val="tx2"/>
                </a:solidFill>
              </a:rPr>
              <a:t>Awareness</a:t>
            </a:r>
            <a:endParaRPr lang="en-US" sz="1500" dirty="0"/>
          </a:p>
        </p:txBody>
      </p:sp>
      <p:sp>
        <p:nvSpPr>
          <p:cNvPr id="8" name="Text 5"/>
          <p:cNvSpPr txBox="1"/>
          <p:nvPr/>
        </p:nvSpPr>
        <p:spPr>
          <a:xfrm>
            <a:off x="731520" y="2496312"/>
            <a:ext cx="1810512" cy="731520"/>
          </a:xfrm>
          <a:prstGeom prst="rect">
            <a:avLst/>
          </a:prstGeom>
          <a:noFill/>
          <a:ln/>
        </p:spPr>
        <p:txBody>
          <a:bodyPr wrap="square" lIns="0" tIns="0" rIns="0" bIns="0" rtlCol="0" anchor="t"/>
          <a:lstStyle/>
          <a:p>
            <a:pPr indent="0" marL="0">
              <a:buNone/>
            </a:pPr>
            <a:r>
              <a:rPr lang="en-US" sz="1300" dirty="0">
                <a:solidFill>
                  <a:schemeClr val="tx1"/>
                </a:solidFill>
              </a:rPr>
              <a:t>University and housing Telegram groups, Instagram, campus posters</a:t>
            </a:r>
            <a:endParaRPr lang="en-US" sz="1300" dirty="0"/>
          </a:p>
        </p:txBody>
      </p:sp>
      <p:sp>
        <p:nvSpPr>
          <p:cNvPr id="9" name="Text 6"/>
          <p:cNvSpPr txBox="1"/>
          <p:nvPr/>
        </p:nvSpPr>
        <p:spPr>
          <a:xfrm>
            <a:off x="731520" y="3227832"/>
            <a:ext cx="1764792" cy="256032"/>
          </a:xfrm>
          <a:prstGeom prst="rect">
            <a:avLst/>
          </a:prstGeom>
          <a:noFill/>
          <a:ln/>
        </p:spPr>
        <p:txBody>
          <a:bodyPr wrap="square" lIns="0" tIns="0" rIns="0" bIns="0" rtlCol="0" anchor="t"/>
          <a:lstStyle/>
          <a:p>
            <a:pPr indent="0" marL="0">
              <a:buNone/>
            </a:pPr>
            <a:r>
              <a:rPr lang="en-US" sz="1100" b="1" dirty="0">
                <a:solidFill>
                  <a:schemeClr val="accent2"/>
                </a:solidFill>
              </a:rPr>
              <a:t>Owned + partner</a:t>
            </a:r>
            <a:endParaRPr lang="en-US" sz="1100" dirty="0"/>
          </a:p>
        </p:txBody>
      </p:sp>
      <p:sp>
        <p:nvSpPr>
          <p:cNvPr id="10" name="Channel Evaluation"/>
          <p:cNvSpPr/>
          <p:nvPr/>
        </p:nvSpPr>
        <p:spPr>
          <a:xfrm>
            <a:off x="2793492" y="1691640"/>
            <a:ext cx="2130552" cy="1874520"/>
          </a:xfrm>
          <a:prstGeom prst="roundRect">
            <a:avLst>
              <a:gd name="adj" fmla="val 6829"/>
            </a:avLst>
          </a:prstGeom>
          <a:solidFill>
            <a:schemeClr val="bg1"/>
          </a:solidFill>
          <a:ln/>
          <a:effectLst>
            <a:outerShdw sx="100000" sy="100000" kx="0" ky="0" algn="bl" rotWithShape="0" blurRad="101600" dist="25400" dir="5400000">
              <a:srgbClr val="1B2A3A">
                <a:alpha val="12000"/>
              </a:srgbClr>
            </a:outerShdw>
          </a:effectLst>
        </p:spPr>
      </p:sp>
      <p:sp>
        <p:nvSpPr>
          <p:cNvPr id="11" name="Channel Evaluation circle"/>
          <p:cNvSpPr/>
          <p:nvPr/>
        </p:nvSpPr>
        <p:spPr>
          <a:xfrm>
            <a:off x="2976372" y="1874520"/>
            <a:ext cx="502920" cy="502920"/>
          </a:xfrm>
          <a:prstGeom prst="ellipse">
            <a:avLst/>
          </a:prstGeom>
          <a:solidFill>
            <a:schemeClr val="accent1"/>
          </a:solidFill>
          <a:ln/>
        </p:spPr>
      </p:sp>
      <p:pic>
        <p:nvPicPr>
          <p:cNvPr id="12" name="Channel Evaluation icon" descr="preencoded.png">    </p:cNvPr>
          <p:cNvPicPr>
            <a:picLocks noChangeAspect="1"/>
          </p:cNvPicPr>
          <p:nvPr/>
        </p:nvPicPr>
        <p:blipFill>
          <a:blip r:embed="rId2"/>
          <a:stretch>
            <a:fillRect/>
          </a:stretch>
        </p:blipFill>
        <p:spPr>
          <a:xfrm>
            <a:off x="3102102" y="2000250"/>
            <a:ext cx="251460" cy="251460"/>
          </a:xfrm>
          <a:prstGeom prst="rect">
            <a:avLst/>
          </a:prstGeom>
        </p:spPr>
      </p:pic>
      <p:sp>
        <p:nvSpPr>
          <p:cNvPr id="13" name="Text 9"/>
          <p:cNvSpPr txBox="1"/>
          <p:nvPr/>
        </p:nvSpPr>
        <p:spPr>
          <a:xfrm>
            <a:off x="3570732" y="1938528"/>
            <a:ext cx="1261872" cy="365760"/>
          </a:xfrm>
          <a:prstGeom prst="rect">
            <a:avLst/>
          </a:prstGeom>
          <a:noFill/>
          <a:ln/>
        </p:spPr>
        <p:txBody>
          <a:bodyPr wrap="square" lIns="0" tIns="0" rIns="0" bIns="0" rtlCol="0" anchor="ctr"/>
          <a:lstStyle/>
          <a:p>
            <a:pPr indent="0" marL="0">
              <a:buNone/>
            </a:pPr>
            <a:r>
              <a:rPr lang="en-US" sz="1500" b="1" dirty="0">
                <a:solidFill>
                  <a:schemeClr val="tx2"/>
                </a:solidFill>
              </a:rPr>
              <a:t>Evaluation</a:t>
            </a:r>
            <a:endParaRPr lang="en-US" sz="1500" dirty="0"/>
          </a:p>
        </p:txBody>
      </p:sp>
      <p:sp>
        <p:nvSpPr>
          <p:cNvPr id="14" name="Text 10"/>
          <p:cNvSpPr txBox="1"/>
          <p:nvPr/>
        </p:nvSpPr>
        <p:spPr>
          <a:xfrm>
            <a:off x="2976372" y="2496312"/>
            <a:ext cx="1810512" cy="731520"/>
          </a:xfrm>
          <a:prstGeom prst="rect">
            <a:avLst/>
          </a:prstGeom>
          <a:noFill/>
          <a:ln/>
        </p:spPr>
        <p:txBody>
          <a:bodyPr wrap="square" lIns="0" tIns="0" rIns="0" bIns="0" rtlCol="0" anchor="t"/>
          <a:lstStyle/>
          <a:p>
            <a:pPr indent="0" marL="0">
              <a:buNone/>
            </a:pPr>
            <a:r>
              <a:rPr lang="en-US" sz="1300" dirty="0">
                <a:solidFill>
                  <a:schemeClr val="tx1"/>
                </a:solidFill>
              </a:rPr>
              <a:t>Free profile and match preview in the bot</a:t>
            </a:r>
            <a:endParaRPr lang="en-US" sz="1300" dirty="0"/>
          </a:p>
        </p:txBody>
      </p:sp>
      <p:sp>
        <p:nvSpPr>
          <p:cNvPr id="15" name="Text 11"/>
          <p:cNvSpPr txBox="1"/>
          <p:nvPr/>
        </p:nvSpPr>
        <p:spPr>
          <a:xfrm>
            <a:off x="2976372" y="3227832"/>
            <a:ext cx="1764792" cy="256032"/>
          </a:xfrm>
          <a:prstGeom prst="rect">
            <a:avLst/>
          </a:prstGeom>
          <a:noFill/>
          <a:ln/>
        </p:spPr>
        <p:txBody>
          <a:bodyPr wrap="square" lIns="0" tIns="0" rIns="0" bIns="0" rtlCol="0" anchor="t"/>
          <a:lstStyle/>
          <a:p>
            <a:pPr indent="0" marL="0">
              <a:buNone/>
            </a:pPr>
            <a:r>
              <a:rPr lang="en-US" sz="1100" b="1" dirty="0">
                <a:solidFill>
                  <a:schemeClr val="accent1"/>
                </a:solidFill>
              </a:rPr>
              <a:t>Owned</a:t>
            </a:r>
            <a:endParaRPr lang="en-US" sz="1100" dirty="0"/>
          </a:p>
        </p:txBody>
      </p:sp>
      <p:sp>
        <p:nvSpPr>
          <p:cNvPr id="16" name="Channel Purchase"/>
          <p:cNvSpPr/>
          <p:nvPr/>
        </p:nvSpPr>
        <p:spPr>
          <a:xfrm>
            <a:off x="5038344" y="1691640"/>
            <a:ext cx="2130552" cy="1874520"/>
          </a:xfrm>
          <a:prstGeom prst="roundRect">
            <a:avLst>
              <a:gd name="adj" fmla="val 6829"/>
            </a:avLst>
          </a:prstGeom>
          <a:solidFill>
            <a:schemeClr val="bg1"/>
          </a:solidFill>
          <a:ln/>
          <a:effectLst>
            <a:outerShdw sx="100000" sy="100000" kx="0" ky="0" algn="bl" rotWithShape="0" blurRad="101600" dist="25400" dir="5400000">
              <a:srgbClr val="1B2A3A">
                <a:alpha val="12000"/>
              </a:srgbClr>
            </a:outerShdw>
          </a:effectLst>
        </p:spPr>
      </p:sp>
      <p:sp>
        <p:nvSpPr>
          <p:cNvPr id="17" name="Channel Purchase circle"/>
          <p:cNvSpPr/>
          <p:nvPr/>
        </p:nvSpPr>
        <p:spPr>
          <a:xfrm>
            <a:off x="5221224" y="1874520"/>
            <a:ext cx="502920" cy="502920"/>
          </a:xfrm>
          <a:prstGeom prst="ellipse">
            <a:avLst/>
          </a:prstGeom>
          <a:solidFill>
            <a:schemeClr val="accent1"/>
          </a:solidFill>
          <a:ln/>
        </p:spPr>
      </p:sp>
      <p:pic>
        <p:nvPicPr>
          <p:cNvPr id="18" name="Channel Purchase icon" descr="preencoded.png">    </p:cNvPr>
          <p:cNvPicPr>
            <a:picLocks noChangeAspect="1"/>
          </p:cNvPicPr>
          <p:nvPr/>
        </p:nvPicPr>
        <p:blipFill>
          <a:blip r:embed="rId3"/>
          <a:stretch>
            <a:fillRect/>
          </a:stretch>
        </p:blipFill>
        <p:spPr>
          <a:xfrm>
            <a:off x="5346954" y="2000250"/>
            <a:ext cx="251460" cy="251460"/>
          </a:xfrm>
          <a:prstGeom prst="rect">
            <a:avLst/>
          </a:prstGeom>
        </p:spPr>
      </p:pic>
      <p:sp>
        <p:nvSpPr>
          <p:cNvPr id="19" name="Text 14"/>
          <p:cNvSpPr txBox="1"/>
          <p:nvPr/>
        </p:nvSpPr>
        <p:spPr>
          <a:xfrm>
            <a:off x="5815584" y="1938528"/>
            <a:ext cx="1261872" cy="365760"/>
          </a:xfrm>
          <a:prstGeom prst="rect">
            <a:avLst/>
          </a:prstGeom>
          <a:noFill/>
          <a:ln/>
        </p:spPr>
        <p:txBody>
          <a:bodyPr wrap="square" lIns="0" tIns="0" rIns="0" bIns="0" rtlCol="0" anchor="ctr"/>
          <a:lstStyle/>
          <a:p>
            <a:pPr indent="0" marL="0">
              <a:buNone/>
            </a:pPr>
            <a:r>
              <a:rPr lang="en-US" sz="1500" b="1" dirty="0">
                <a:solidFill>
                  <a:schemeClr val="tx2"/>
                </a:solidFill>
              </a:rPr>
              <a:t>Purchase</a:t>
            </a:r>
            <a:endParaRPr lang="en-US" sz="1500" dirty="0"/>
          </a:p>
        </p:txBody>
      </p:sp>
      <p:sp>
        <p:nvSpPr>
          <p:cNvPr id="20" name="Text 15"/>
          <p:cNvSpPr txBox="1"/>
          <p:nvPr/>
        </p:nvSpPr>
        <p:spPr>
          <a:xfrm>
            <a:off x="5221224" y="2496312"/>
            <a:ext cx="1810512" cy="731520"/>
          </a:xfrm>
          <a:prstGeom prst="rect">
            <a:avLst/>
          </a:prstGeom>
          <a:noFill/>
          <a:ln/>
        </p:spPr>
        <p:txBody>
          <a:bodyPr wrap="square" lIns="0" tIns="0" rIns="0" bIns="0" rtlCol="0" anchor="t"/>
          <a:lstStyle/>
          <a:p>
            <a:pPr indent="0" marL="0">
              <a:buNone/>
            </a:pPr>
            <a:r>
              <a:rPr lang="en-US" sz="1300" dirty="0">
                <a:solidFill>
                  <a:schemeClr val="tx1"/>
                </a:solidFill>
              </a:rPr>
              <a:t>Subscription inside the bot, paid with Click or Payme</a:t>
            </a:r>
            <a:endParaRPr lang="en-US" sz="1300" dirty="0"/>
          </a:p>
        </p:txBody>
      </p:sp>
      <p:sp>
        <p:nvSpPr>
          <p:cNvPr id="21" name="Text 16"/>
          <p:cNvSpPr txBox="1"/>
          <p:nvPr/>
        </p:nvSpPr>
        <p:spPr>
          <a:xfrm>
            <a:off x="5221224" y="3227832"/>
            <a:ext cx="1764792" cy="256032"/>
          </a:xfrm>
          <a:prstGeom prst="rect">
            <a:avLst/>
          </a:prstGeom>
          <a:noFill/>
          <a:ln/>
        </p:spPr>
        <p:txBody>
          <a:bodyPr wrap="square" lIns="0" tIns="0" rIns="0" bIns="0" rtlCol="0" anchor="t"/>
          <a:lstStyle/>
          <a:p>
            <a:pPr indent="0" marL="0">
              <a:buNone/>
            </a:pPr>
            <a:r>
              <a:rPr lang="en-US" sz="1100" b="1" dirty="0">
                <a:solidFill>
                  <a:schemeClr val="accent2"/>
                </a:solidFill>
              </a:rPr>
              <a:t>Owned + partner</a:t>
            </a:r>
            <a:endParaRPr lang="en-US" sz="1100" dirty="0"/>
          </a:p>
        </p:txBody>
      </p:sp>
      <p:sp>
        <p:nvSpPr>
          <p:cNvPr id="22" name="Channel Delivery"/>
          <p:cNvSpPr/>
          <p:nvPr/>
        </p:nvSpPr>
        <p:spPr>
          <a:xfrm>
            <a:off x="7283196" y="1691640"/>
            <a:ext cx="2130552" cy="1874520"/>
          </a:xfrm>
          <a:prstGeom prst="roundRect">
            <a:avLst>
              <a:gd name="adj" fmla="val 6829"/>
            </a:avLst>
          </a:prstGeom>
          <a:solidFill>
            <a:schemeClr val="bg1"/>
          </a:solidFill>
          <a:ln/>
          <a:effectLst>
            <a:outerShdw sx="100000" sy="100000" kx="0" ky="0" algn="bl" rotWithShape="0" blurRad="101600" dist="25400" dir="5400000">
              <a:srgbClr val="1B2A3A">
                <a:alpha val="12000"/>
              </a:srgbClr>
            </a:outerShdw>
          </a:effectLst>
        </p:spPr>
      </p:sp>
      <p:sp>
        <p:nvSpPr>
          <p:cNvPr id="23" name="Channel Delivery circle"/>
          <p:cNvSpPr/>
          <p:nvPr/>
        </p:nvSpPr>
        <p:spPr>
          <a:xfrm>
            <a:off x="7466076" y="1874520"/>
            <a:ext cx="502920" cy="502920"/>
          </a:xfrm>
          <a:prstGeom prst="ellipse">
            <a:avLst/>
          </a:prstGeom>
          <a:solidFill>
            <a:schemeClr val="accent1"/>
          </a:solidFill>
          <a:ln/>
        </p:spPr>
      </p:sp>
      <p:pic>
        <p:nvPicPr>
          <p:cNvPr id="24" name="Channel Delivery icon" descr="preencoded.png">    </p:cNvPr>
          <p:cNvPicPr>
            <a:picLocks noChangeAspect="1"/>
          </p:cNvPicPr>
          <p:nvPr/>
        </p:nvPicPr>
        <p:blipFill>
          <a:blip r:embed="rId4"/>
          <a:stretch>
            <a:fillRect/>
          </a:stretch>
        </p:blipFill>
        <p:spPr>
          <a:xfrm>
            <a:off x="7591806" y="2000250"/>
            <a:ext cx="251460" cy="251460"/>
          </a:xfrm>
          <a:prstGeom prst="rect">
            <a:avLst/>
          </a:prstGeom>
        </p:spPr>
      </p:pic>
      <p:sp>
        <p:nvSpPr>
          <p:cNvPr id="25" name="Text 19"/>
          <p:cNvSpPr txBox="1"/>
          <p:nvPr/>
        </p:nvSpPr>
        <p:spPr>
          <a:xfrm>
            <a:off x="8060436" y="1938528"/>
            <a:ext cx="1261872" cy="365760"/>
          </a:xfrm>
          <a:prstGeom prst="rect">
            <a:avLst/>
          </a:prstGeom>
          <a:noFill/>
          <a:ln/>
        </p:spPr>
        <p:txBody>
          <a:bodyPr wrap="square" lIns="0" tIns="0" rIns="0" bIns="0" rtlCol="0" anchor="ctr"/>
          <a:lstStyle/>
          <a:p>
            <a:pPr indent="0" marL="0">
              <a:buNone/>
            </a:pPr>
            <a:r>
              <a:rPr lang="en-US" sz="1500" b="1" dirty="0">
                <a:solidFill>
                  <a:schemeClr val="tx2"/>
                </a:solidFill>
              </a:rPr>
              <a:t>Delivery</a:t>
            </a:r>
            <a:endParaRPr lang="en-US" sz="1500" dirty="0"/>
          </a:p>
        </p:txBody>
      </p:sp>
      <p:sp>
        <p:nvSpPr>
          <p:cNvPr id="26" name="Text 20"/>
          <p:cNvSpPr txBox="1"/>
          <p:nvPr/>
        </p:nvSpPr>
        <p:spPr>
          <a:xfrm>
            <a:off x="7466076" y="2496312"/>
            <a:ext cx="1810512" cy="731520"/>
          </a:xfrm>
          <a:prstGeom prst="rect">
            <a:avLst/>
          </a:prstGeom>
          <a:noFill/>
          <a:ln/>
        </p:spPr>
        <p:txBody>
          <a:bodyPr wrap="square" lIns="0" tIns="0" rIns="0" bIns="0" rtlCol="0" anchor="t"/>
          <a:lstStyle/>
          <a:p>
            <a:pPr indent="0" marL="0">
              <a:buNone/>
            </a:pPr>
            <a:r>
              <a:rPr lang="en-US" sz="1300" dirty="0">
                <a:solidFill>
                  <a:schemeClr val="tx1"/>
                </a:solidFill>
              </a:rPr>
              <a:t>Matches, group chat and apartment shortlist in the bot</a:t>
            </a:r>
            <a:endParaRPr lang="en-US" sz="1300" dirty="0"/>
          </a:p>
        </p:txBody>
      </p:sp>
      <p:sp>
        <p:nvSpPr>
          <p:cNvPr id="27" name="Text 21"/>
          <p:cNvSpPr txBox="1"/>
          <p:nvPr/>
        </p:nvSpPr>
        <p:spPr>
          <a:xfrm>
            <a:off x="7466076" y="3227832"/>
            <a:ext cx="1764792" cy="256032"/>
          </a:xfrm>
          <a:prstGeom prst="rect">
            <a:avLst/>
          </a:prstGeom>
          <a:noFill/>
          <a:ln/>
        </p:spPr>
        <p:txBody>
          <a:bodyPr wrap="square" lIns="0" tIns="0" rIns="0" bIns="0" rtlCol="0" anchor="t"/>
          <a:lstStyle/>
          <a:p>
            <a:pPr indent="0" marL="0">
              <a:buNone/>
            </a:pPr>
            <a:r>
              <a:rPr lang="en-US" sz="1100" b="1" dirty="0">
                <a:solidFill>
                  <a:schemeClr val="accent1"/>
                </a:solidFill>
              </a:rPr>
              <a:t>Owned</a:t>
            </a:r>
            <a:endParaRPr lang="en-US" sz="1100" dirty="0"/>
          </a:p>
        </p:txBody>
      </p:sp>
      <p:sp>
        <p:nvSpPr>
          <p:cNvPr id="28" name="Channel After-sales"/>
          <p:cNvSpPr/>
          <p:nvPr/>
        </p:nvSpPr>
        <p:spPr>
          <a:xfrm>
            <a:off x="9528048" y="1691640"/>
            <a:ext cx="2130552" cy="1874520"/>
          </a:xfrm>
          <a:prstGeom prst="roundRect">
            <a:avLst>
              <a:gd name="adj" fmla="val 6829"/>
            </a:avLst>
          </a:prstGeom>
          <a:solidFill>
            <a:schemeClr val="bg1"/>
          </a:solidFill>
          <a:ln/>
          <a:effectLst>
            <a:outerShdw sx="100000" sy="100000" kx="0" ky="0" algn="bl" rotWithShape="0" blurRad="101600" dist="25400" dir="5400000">
              <a:srgbClr val="1B2A3A">
                <a:alpha val="12000"/>
              </a:srgbClr>
            </a:outerShdw>
          </a:effectLst>
        </p:spPr>
      </p:sp>
      <p:sp>
        <p:nvSpPr>
          <p:cNvPr id="29" name="Channel After-sales circle"/>
          <p:cNvSpPr/>
          <p:nvPr/>
        </p:nvSpPr>
        <p:spPr>
          <a:xfrm>
            <a:off x="9710928" y="1874520"/>
            <a:ext cx="502920" cy="502920"/>
          </a:xfrm>
          <a:prstGeom prst="ellipse">
            <a:avLst/>
          </a:prstGeom>
          <a:solidFill>
            <a:schemeClr val="accent1"/>
          </a:solidFill>
          <a:ln/>
        </p:spPr>
      </p:sp>
      <p:pic>
        <p:nvPicPr>
          <p:cNvPr id="30" name="Channel After-sales icon" descr="preencoded.png">    </p:cNvPr>
          <p:cNvPicPr>
            <a:picLocks noChangeAspect="1"/>
          </p:cNvPicPr>
          <p:nvPr/>
        </p:nvPicPr>
        <p:blipFill>
          <a:blip r:embed="rId5"/>
          <a:stretch>
            <a:fillRect/>
          </a:stretch>
        </p:blipFill>
        <p:spPr>
          <a:xfrm>
            <a:off x="9836658" y="2000250"/>
            <a:ext cx="251460" cy="251460"/>
          </a:xfrm>
          <a:prstGeom prst="rect">
            <a:avLst/>
          </a:prstGeom>
        </p:spPr>
      </p:pic>
      <p:sp>
        <p:nvSpPr>
          <p:cNvPr id="31" name="Text 24"/>
          <p:cNvSpPr txBox="1"/>
          <p:nvPr/>
        </p:nvSpPr>
        <p:spPr>
          <a:xfrm>
            <a:off x="10305288" y="1938528"/>
            <a:ext cx="1261872" cy="365760"/>
          </a:xfrm>
          <a:prstGeom prst="rect">
            <a:avLst/>
          </a:prstGeom>
          <a:noFill/>
          <a:ln/>
        </p:spPr>
        <p:txBody>
          <a:bodyPr wrap="square" lIns="0" tIns="0" rIns="0" bIns="0" rtlCol="0" anchor="ctr"/>
          <a:lstStyle/>
          <a:p>
            <a:pPr indent="0" marL="0">
              <a:buNone/>
            </a:pPr>
            <a:r>
              <a:rPr lang="en-US" sz="1500" b="1" dirty="0">
                <a:solidFill>
                  <a:schemeClr val="tx2"/>
                </a:solidFill>
              </a:rPr>
              <a:t>After-sales</a:t>
            </a:r>
            <a:endParaRPr lang="en-US" sz="1500" dirty="0"/>
          </a:p>
        </p:txBody>
      </p:sp>
      <p:sp>
        <p:nvSpPr>
          <p:cNvPr id="32" name="Text 25"/>
          <p:cNvSpPr txBox="1"/>
          <p:nvPr/>
        </p:nvSpPr>
        <p:spPr>
          <a:xfrm>
            <a:off x="9710928" y="2496312"/>
            <a:ext cx="1810512" cy="731520"/>
          </a:xfrm>
          <a:prstGeom prst="rect">
            <a:avLst/>
          </a:prstGeom>
          <a:noFill/>
          <a:ln/>
        </p:spPr>
        <p:txBody>
          <a:bodyPr wrap="square" lIns="0" tIns="0" rIns="0" bIns="0" rtlCol="0" anchor="t"/>
          <a:lstStyle/>
          <a:p>
            <a:pPr indent="0" marL="0">
              <a:buNone/>
            </a:pPr>
            <a:r>
              <a:rPr lang="en-US" sz="1300" dirty="0">
                <a:solidFill>
                  <a:schemeClr val="tx1"/>
                </a:solidFill>
              </a:rPr>
              <a:t>In-bot support and feedback after move-in</a:t>
            </a:r>
            <a:endParaRPr lang="en-US" sz="1300" dirty="0"/>
          </a:p>
        </p:txBody>
      </p:sp>
      <p:sp>
        <p:nvSpPr>
          <p:cNvPr id="33" name="Text 26"/>
          <p:cNvSpPr txBox="1"/>
          <p:nvPr/>
        </p:nvSpPr>
        <p:spPr>
          <a:xfrm>
            <a:off x="9710928" y="3227832"/>
            <a:ext cx="1764792" cy="256032"/>
          </a:xfrm>
          <a:prstGeom prst="rect">
            <a:avLst/>
          </a:prstGeom>
          <a:noFill/>
          <a:ln/>
        </p:spPr>
        <p:txBody>
          <a:bodyPr wrap="square" lIns="0" tIns="0" rIns="0" bIns="0" rtlCol="0" anchor="t"/>
          <a:lstStyle/>
          <a:p>
            <a:pPr indent="0" marL="0">
              <a:buNone/>
            </a:pPr>
            <a:r>
              <a:rPr lang="en-US" sz="1100" b="1" dirty="0">
                <a:solidFill>
                  <a:schemeClr val="accent1"/>
                </a:solidFill>
              </a:rPr>
              <a:t>Owned</a:t>
            </a:r>
            <a:endParaRPr lang="en-US" sz="1100" dirty="0"/>
          </a:p>
        </p:txBody>
      </p:sp>
      <p:sp>
        <p:nvSpPr>
          <p:cNvPr id="34" name="Text 27"/>
          <p:cNvSpPr txBox="1"/>
          <p:nvPr/>
        </p:nvSpPr>
        <p:spPr>
          <a:xfrm>
            <a:off x="548640" y="3730752"/>
            <a:ext cx="11109960" cy="365760"/>
          </a:xfrm>
          <a:prstGeom prst="rect">
            <a:avLst/>
          </a:prstGeom>
          <a:noFill/>
          <a:ln/>
        </p:spPr>
        <p:txBody>
          <a:bodyPr wrap="square" lIns="0" tIns="0" rIns="0" bIns="0" rtlCol="0" anchor="ctr"/>
          <a:lstStyle/>
          <a:p>
            <a:pPr indent="0" marL="0">
              <a:buNone/>
            </a:pPr>
            <a:r>
              <a:rPr lang="en-US" sz="1700" b="1" dirty="0">
                <a:solidFill>
                  <a:schemeClr val="tx2"/>
                </a:solidFill>
              </a:rPr>
              <a:t>Relationships: personal help for the first groups, then automated self-service and community</a:t>
            </a:r>
            <a:endParaRPr lang="en-US" sz="1700" dirty="0"/>
          </a:p>
        </p:txBody>
      </p:sp>
      <p:sp>
        <p:nvSpPr>
          <p:cNvPr id="35" name="Relationship Attract (acquisition)"/>
          <p:cNvSpPr/>
          <p:nvPr/>
        </p:nvSpPr>
        <p:spPr>
          <a:xfrm>
            <a:off x="548640" y="4206240"/>
            <a:ext cx="3611880" cy="1920240"/>
          </a:xfrm>
          <a:prstGeom prst="roundRect">
            <a:avLst>
              <a:gd name="adj" fmla="val 6667"/>
            </a:avLst>
          </a:prstGeom>
          <a:solidFill>
            <a:schemeClr val="bg1"/>
          </a:solidFill>
          <a:ln/>
          <a:effectLst>
            <a:outerShdw sx="100000" sy="100000" kx="0" ky="0" algn="bl" rotWithShape="0" blurRad="101600" dist="25400" dir="5400000">
              <a:srgbClr val="1B2A3A">
                <a:alpha val="12000"/>
              </a:srgbClr>
            </a:outerShdw>
          </a:effectLst>
        </p:spPr>
      </p:sp>
      <p:sp>
        <p:nvSpPr>
          <p:cNvPr id="36" name="Relationship Attract (acquisition) circle"/>
          <p:cNvSpPr/>
          <p:nvPr/>
        </p:nvSpPr>
        <p:spPr>
          <a:xfrm>
            <a:off x="731520" y="4389120"/>
            <a:ext cx="502920" cy="502920"/>
          </a:xfrm>
          <a:prstGeom prst="ellipse">
            <a:avLst/>
          </a:prstGeom>
          <a:solidFill>
            <a:schemeClr val="accent2"/>
          </a:solidFill>
          <a:ln/>
        </p:spPr>
      </p:sp>
      <p:pic>
        <p:nvPicPr>
          <p:cNvPr id="37" name="Relationship Attract (acquisition) icon" descr="preencoded.png">    </p:cNvPr>
          <p:cNvPicPr>
            <a:picLocks noChangeAspect="1"/>
          </p:cNvPicPr>
          <p:nvPr/>
        </p:nvPicPr>
        <p:blipFill>
          <a:blip r:embed="rId6"/>
          <a:stretch>
            <a:fillRect/>
          </a:stretch>
        </p:blipFill>
        <p:spPr>
          <a:xfrm>
            <a:off x="857250" y="4514850"/>
            <a:ext cx="251460" cy="251460"/>
          </a:xfrm>
          <a:prstGeom prst="rect">
            <a:avLst/>
          </a:prstGeom>
        </p:spPr>
      </p:pic>
      <p:sp>
        <p:nvSpPr>
          <p:cNvPr id="38" name="Text 30"/>
          <p:cNvSpPr txBox="1"/>
          <p:nvPr/>
        </p:nvSpPr>
        <p:spPr>
          <a:xfrm>
            <a:off x="1371600" y="4361688"/>
            <a:ext cx="2651760" cy="292608"/>
          </a:xfrm>
          <a:prstGeom prst="rect">
            <a:avLst/>
          </a:prstGeom>
          <a:noFill/>
          <a:ln/>
        </p:spPr>
        <p:txBody>
          <a:bodyPr wrap="square" lIns="0" tIns="0" rIns="0" bIns="0" rtlCol="0" anchor="t"/>
          <a:lstStyle/>
          <a:p>
            <a:pPr indent="0" marL="0">
              <a:buNone/>
            </a:pPr>
            <a:r>
              <a:rPr lang="en-US" sz="1500" b="1" dirty="0">
                <a:solidFill>
                  <a:schemeClr val="tx2"/>
                </a:solidFill>
              </a:rPr>
              <a:t>Attract (acquisition)</a:t>
            </a:r>
            <a:endParaRPr lang="en-US" sz="1500" dirty="0"/>
          </a:p>
        </p:txBody>
      </p:sp>
      <p:sp>
        <p:nvSpPr>
          <p:cNvPr id="39" name="Text 31"/>
          <p:cNvSpPr txBox="1"/>
          <p:nvPr/>
        </p:nvSpPr>
        <p:spPr>
          <a:xfrm>
            <a:off x="1371600" y="4645152"/>
            <a:ext cx="2651760" cy="274320"/>
          </a:xfrm>
          <a:prstGeom prst="rect">
            <a:avLst/>
          </a:prstGeom>
          <a:noFill/>
          <a:ln/>
        </p:spPr>
        <p:txBody>
          <a:bodyPr wrap="square" lIns="0" tIns="0" rIns="0" bIns="0" rtlCol="0" anchor="t"/>
          <a:lstStyle/>
          <a:p>
            <a:pPr indent="0" marL="0">
              <a:buNone/>
            </a:pPr>
            <a:r>
              <a:rPr lang="en-US" sz="1200" b="1" dirty="0">
                <a:solidFill>
                  <a:schemeClr val="accent2"/>
                </a:solidFill>
              </a:rPr>
              <a:t>Personal assistance</a:t>
            </a:r>
            <a:endParaRPr lang="en-US" sz="1200" dirty="0"/>
          </a:p>
        </p:txBody>
      </p:sp>
      <p:sp>
        <p:nvSpPr>
          <p:cNvPr id="40" name="Text 32"/>
          <p:cNvSpPr txBox="1"/>
          <p:nvPr/>
        </p:nvSpPr>
        <p:spPr>
          <a:xfrm>
            <a:off x="731520" y="5074920"/>
            <a:ext cx="3246120" cy="960120"/>
          </a:xfrm>
          <a:prstGeom prst="rect">
            <a:avLst/>
          </a:prstGeom>
          <a:noFill/>
          <a:ln/>
        </p:spPr>
        <p:txBody>
          <a:bodyPr wrap="square" lIns="0" tIns="0" rIns="0" bIns="0" rtlCol="0" anchor="t"/>
          <a:lstStyle/>
          <a:p>
            <a:pPr indent="0" marL="0">
              <a:buNone/>
            </a:pPr>
            <a:r>
              <a:rPr lang="en-US" sz="1300" dirty="0">
                <a:solidFill>
                  <a:schemeClr val="tx1"/>
                </a:solidFill>
              </a:rPr>
              <a:t>We personally help the first groups form, and run roommate meetups on campus.</a:t>
            </a:r>
            <a:endParaRPr lang="en-US" sz="1300" dirty="0"/>
          </a:p>
        </p:txBody>
      </p:sp>
      <p:sp>
        <p:nvSpPr>
          <p:cNvPr id="41" name="Relationship Keep (retention)"/>
          <p:cNvSpPr/>
          <p:nvPr/>
        </p:nvSpPr>
        <p:spPr>
          <a:xfrm>
            <a:off x="4297680" y="4206240"/>
            <a:ext cx="3611880" cy="1920240"/>
          </a:xfrm>
          <a:prstGeom prst="roundRect">
            <a:avLst>
              <a:gd name="adj" fmla="val 6667"/>
            </a:avLst>
          </a:prstGeom>
          <a:solidFill>
            <a:schemeClr val="bg1"/>
          </a:solidFill>
          <a:ln/>
          <a:effectLst>
            <a:outerShdw sx="100000" sy="100000" kx="0" ky="0" algn="bl" rotWithShape="0" blurRad="101600" dist="25400" dir="5400000">
              <a:srgbClr val="1B2A3A">
                <a:alpha val="12000"/>
              </a:srgbClr>
            </a:outerShdw>
          </a:effectLst>
        </p:spPr>
      </p:sp>
      <p:sp>
        <p:nvSpPr>
          <p:cNvPr id="42" name="Relationship Keep (retention) circle"/>
          <p:cNvSpPr/>
          <p:nvPr/>
        </p:nvSpPr>
        <p:spPr>
          <a:xfrm>
            <a:off x="4480560" y="4389120"/>
            <a:ext cx="502920" cy="502920"/>
          </a:xfrm>
          <a:prstGeom prst="ellipse">
            <a:avLst/>
          </a:prstGeom>
          <a:solidFill>
            <a:schemeClr val="accent2"/>
          </a:solidFill>
          <a:ln/>
        </p:spPr>
      </p:sp>
      <p:pic>
        <p:nvPicPr>
          <p:cNvPr id="43" name="Relationship Keep (retention) icon" descr="preencoded.png">    </p:cNvPr>
          <p:cNvPicPr>
            <a:picLocks noChangeAspect="1"/>
          </p:cNvPicPr>
          <p:nvPr/>
        </p:nvPicPr>
        <p:blipFill>
          <a:blip r:embed="rId7"/>
          <a:stretch>
            <a:fillRect/>
          </a:stretch>
        </p:blipFill>
        <p:spPr>
          <a:xfrm>
            <a:off x="4606290" y="4514850"/>
            <a:ext cx="251460" cy="251460"/>
          </a:xfrm>
          <a:prstGeom prst="rect">
            <a:avLst/>
          </a:prstGeom>
        </p:spPr>
      </p:pic>
      <p:sp>
        <p:nvSpPr>
          <p:cNvPr id="44" name="Text 35"/>
          <p:cNvSpPr txBox="1"/>
          <p:nvPr/>
        </p:nvSpPr>
        <p:spPr>
          <a:xfrm>
            <a:off x="5120640" y="4361688"/>
            <a:ext cx="2651760" cy="292608"/>
          </a:xfrm>
          <a:prstGeom prst="rect">
            <a:avLst/>
          </a:prstGeom>
          <a:noFill/>
          <a:ln/>
        </p:spPr>
        <p:txBody>
          <a:bodyPr wrap="square" lIns="0" tIns="0" rIns="0" bIns="0" rtlCol="0" anchor="t"/>
          <a:lstStyle/>
          <a:p>
            <a:pPr indent="0" marL="0">
              <a:buNone/>
            </a:pPr>
            <a:r>
              <a:rPr lang="en-US" sz="1500" b="1" dirty="0">
                <a:solidFill>
                  <a:schemeClr val="tx2"/>
                </a:solidFill>
              </a:rPr>
              <a:t>Keep (retention)</a:t>
            </a:r>
            <a:endParaRPr lang="en-US" sz="1500" dirty="0"/>
          </a:p>
        </p:txBody>
      </p:sp>
      <p:sp>
        <p:nvSpPr>
          <p:cNvPr id="45" name="Text 36"/>
          <p:cNvSpPr txBox="1"/>
          <p:nvPr/>
        </p:nvSpPr>
        <p:spPr>
          <a:xfrm>
            <a:off x="5120640" y="4645152"/>
            <a:ext cx="2651760" cy="274320"/>
          </a:xfrm>
          <a:prstGeom prst="rect">
            <a:avLst/>
          </a:prstGeom>
          <a:noFill/>
          <a:ln/>
        </p:spPr>
        <p:txBody>
          <a:bodyPr wrap="square" lIns="0" tIns="0" rIns="0" bIns="0" rtlCol="0" anchor="t"/>
          <a:lstStyle/>
          <a:p>
            <a:pPr indent="0" marL="0">
              <a:buNone/>
            </a:pPr>
            <a:r>
              <a:rPr lang="en-US" sz="1200" b="1" dirty="0">
                <a:solidFill>
                  <a:schemeClr val="accent2"/>
                </a:solidFill>
              </a:rPr>
              <a:t>Automated services</a:t>
            </a:r>
            <a:endParaRPr lang="en-US" sz="1200" dirty="0"/>
          </a:p>
        </p:txBody>
      </p:sp>
      <p:sp>
        <p:nvSpPr>
          <p:cNvPr id="46" name="Text 37"/>
          <p:cNvSpPr txBox="1"/>
          <p:nvPr/>
        </p:nvSpPr>
        <p:spPr>
          <a:xfrm>
            <a:off x="4480560" y="5074920"/>
            <a:ext cx="3246120" cy="960120"/>
          </a:xfrm>
          <a:prstGeom prst="rect">
            <a:avLst/>
          </a:prstGeom>
          <a:noFill/>
          <a:ln/>
        </p:spPr>
        <p:txBody>
          <a:bodyPr wrap="square" lIns="0" tIns="0" rIns="0" bIns="0" rtlCol="0" anchor="t"/>
          <a:lstStyle/>
          <a:p>
            <a:pPr indent="0" marL="0">
              <a:buNone/>
            </a:pPr>
            <a:r>
              <a:rPr lang="en-US" sz="1300" dirty="0">
                <a:solidFill>
                  <a:schemeClr val="tx1"/>
                </a:solidFill>
              </a:rPr>
              <a:t>AI match score and alerts on new matches; verified profiles and moderation build trust.</a:t>
            </a:r>
            <a:endParaRPr lang="en-US" sz="1300" dirty="0"/>
          </a:p>
        </p:txBody>
      </p:sp>
      <p:sp>
        <p:nvSpPr>
          <p:cNvPr id="47" name="Relationship Grow (boosting sales)"/>
          <p:cNvSpPr/>
          <p:nvPr/>
        </p:nvSpPr>
        <p:spPr>
          <a:xfrm>
            <a:off x="8046720" y="4206240"/>
            <a:ext cx="3611880" cy="1920240"/>
          </a:xfrm>
          <a:prstGeom prst="roundRect">
            <a:avLst>
              <a:gd name="adj" fmla="val 6667"/>
            </a:avLst>
          </a:prstGeom>
          <a:solidFill>
            <a:schemeClr val="bg1"/>
          </a:solidFill>
          <a:ln/>
          <a:effectLst>
            <a:outerShdw sx="100000" sy="100000" kx="0" ky="0" algn="bl" rotWithShape="0" blurRad="101600" dist="25400" dir="5400000">
              <a:srgbClr val="1B2A3A">
                <a:alpha val="12000"/>
              </a:srgbClr>
            </a:outerShdw>
          </a:effectLst>
        </p:spPr>
      </p:sp>
      <p:sp>
        <p:nvSpPr>
          <p:cNvPr id="48" name="Relationship Grow (boosting sales) circle"/>
          <p:cNvSpPr/>
          <p:nvPr/>
        </p:nvSpPr>
        <p:spPr>
          <a:xfrm>
            <a:off x="8229600" y="4389120"/>
            <a:ext cx="502920" cy="502920"/>
          </a:xfrm>
          <a:prstGeom prst="ellipse">
            <a:avLst/>
          </a:prstGeom>
          <a:solidFill>
            <a:schemeClr val="accent2"/>
          </a:solidFill>
          <a:ln/>
        </p:spPr>
      </p:sp>
      <p:pic>
        <p:nvPicPr>
          <p:cNvPr id="49" name="Relationship Grow (boosting sales) icon" descr="preencoded.png">    </p:cNvPr>
          <p:cNvPicPr>
            <a:picLocks noChangeAspect="1"/>
          </p:cNvPicPr>
          <p:nvPr/>
        </p:nvPicPr>
        <p:blipFill>
          <a:blip r:embed="rId8"/>
          <a:stretch>
            <a:fillRect/>
          </a:stretch>
        </p:blipFill>
        <p:spPr>
          <a:xfrm>
            <a:off x="8355330" y="4514850"/>
            <a:ext cx="251460" cy="251460"/>
          </a:xfrm>
          <a:prstGeom prst="rect">
            <a:avLst/>
          </a:prstGeom>
        </p:spPr>
      </p:pic>
      <p:sp>
        <p:nvSpPr>
          <p:cNvPr id="50" name="Text 40"/>
          <p:cNvSpPr txBox="1"/>
          <p:nvPr/>
        </p:nvSpPr>
        <p:spPr>
          <a:xfrm>
            <a:off x="8869680" y="4361688"/>
            <a:ext cx="2651760" cy="292608"/>
          </a:xfrm>
          <a:prstGeom prst="rect">
            <a:avLst/>
          </a:prstGeom>
          <a:noFill/>
          <a:ln/>
        </p:spPr>
        <p:txBody>
          <a:bodyPr wrap="square" lIns="0" tIns="0" rIns="0" bIns="0" rtlCol="0" anchor="t"/>
          <a:lstStyle/>
          <a:p>
            <a:pPr indent="0" marL="0">
              <a:buNone/>
            </a:pPr>
            <a:r>
              <a:rPr lang="en-US" sz="1500" b="1" dirty="0">
                <a:solidFill>
                  <a:schemeClr val="tx2"/>
                </a:solidFill>
              </a:rPr>
              <a:t>Grow (boosting sales)</a:t>
            </a:r>
            <a:endParaRPr lang="en-US" sz="1500" dirty="0"/>
          </a:p>
        </p:txBody>
      </p:sp>
      <p:sp>
        <p:nvSpPr>
          <p:cNvPr id="51" name="Text 41"/>
          <p:cNvSpPr txBox="1"/>
          <p:nvPr/>
        </p:nvSpPr>
        <p:spPr>
          <a:xfrm>
            <a:off x="8869680" y="4645152"/>
            <a:ext cx="2651760" cy="274320"/>
          </a:xfrm>
          <a:prstGeom prst="rect">
            <a:avLst/>
          </a:prstGeom>
          <a:noFill/>
          <a:ln/>
        </p:spPr>
        <p:txBody>
          <a:bodyPr wrap="square" lIns="0" tIns="0" rIns="0" bIns="0" rtlCol="0" anchor="t"/>
          <a:lstStyle/>
          <a:p>
            <a:pPr indent="0" marL="0">
              <a:buNone/>
            </a:pPr>
            <a:r>
              <a:rPr lang="en-US" sz="1200" b="1" dirty="0">
                <a:solidFill>
                  <a:schemeClr val="accent2"/>
                </a:solidFill>
              </a:rPr>
              <a:t>Communities + co-creation</a:t>
            </a:r>
            <a:endParaRPr lang="en-US" sz="1200" dirty="0"/>
          </a:p>
        </p:txBody>
      </p:sp>
      <p:sp>
        <p:nvSpPr>
          <p:cNvPr id="52" name="Text 42"/>
          <p:cNvSpPr txBox="1"/>
          <p:nvPr/>
        </p:nvSpPr>
        <p:spPr>
          <a:xfrm>
            <a:off x="8229600" y="5074920"/>
            <a:ext cx="3246120" cy="960120"/>
          </a:xfrm>
          <a:prstGeom prst="rect">
            <a:avLst/>
          </a:prstGeom>
          <a:noFill/>
          <a:ln/>
        </p:spPr>
        <p:txBody>
          <a:bodyPr wrap="square" lIns="0" tIns="0" rIns="0" bIns="0" rtlCol="0" anchor="t"/>
          <a:lstStyle/>
          <a:p>
            <a:pPr indent="0" marL="0">
              <a:buNone/>
            </a:pPr>
            <a:r>
              <a:rPr lang="en-US" sz="1300" dirty="0">
                <a:solidFill>
                  <a:schemeClr val="tx1"/>
                </a:solidFill>
              </a:rPr>
              <a:t>Group chats, reviews of roommates and flats, referrals, and a return visit when the lease ends.</a:t>
            </a:r>
            <a:endParaRPr lang="en-US" sz="1300" dirty="0"/>
          </a:p>
        </p:txBody>
      </p:sp>
      <p:sp>
        <p:nvSpPr>
          <p:cNvPr id="25" name="Slide Number Placeholder 0"/>
          <p:cNvSpPr>
            <a:spLocks noGrp="1"/>
          </p:cNvSpPr>
          <p:nvPr>
            <p:ph type="sldNum" sz="quarter" idx="4294967295"/>
          </p:nvPr>
        </p:nvSpPr>
        <p:spPr>
          <a:xfrm>
            <a:off x="1120140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3"/>
          <p:cNvSpPr/>
          <p:nvPr>
            <p:ph idx="106" type="title" hasCustomPrompt="1"/>
          </p:nvPr>
        </p:nvSpPr>
        <p:spPr>
          <a:xfrm>
            <a:off x="4754880" y="301752"/>
            <a:ext cx="6903720" cy="548640"/>
          </a:xfrm>
          <a:prstGeom prst="rect">
            <a:avLst/>
          </a:prstGeom>
          <a:noFill/>
          <a:ln/>
        </p:spPr>
        <p:txBody>
          <a:bodyPr wrap="square" lIns="0" tIns="0" rIns="0" bIns="0" rtlCol="0" anchor="ctr"/>
          <a:lstStyle/>
          <a:p>
            <a:pPr algn="r" indent="0" marL="0">
              <a:buNone/>
            </a:pPr>
            <a:r>
              <a:rPr lang="en-US" sz="2600" b="1" dirty="0">
                <a:solidFill>
                  <a:schemeClr val="tx1"/>
                </a:solidFill>
              </a:rPr>
              <a:t>6 · REVENUE STREAMS</a:t>
            </a:r>
            <a:endParaRPr lang="en-US" sz="2600" dirty="0"/>
          </a:p>
        </p:txBody>
      </p:sp>
      <p:sp>
        <p:nvSpPr>
          <p:cNvPr id="3" name="Text 1"/>
          <p:cNvSpPr txBox="1"/>
          <p:nvPr/>
        </p:nvSpPr>
        <p:spPr>
          <a:xfrm>
            <a:off x="548640" y="1115568"/>
            <a:ext cx="11109960" cy="457200"/>
          </a:xfrm>
          <a:prstGeom prst="rect">
            <a:avLst/>
          </a:prstGeom>
          <a:noFill/>
          <a:ln/>
        </p:spPr>
        <p:txBody>
          <a:bodyPr wrap="square" lIns="0" tIns="0" rIns="0" bIns="0" rtlCol="0" anchor="ctr"/>
          <a:lstStyle/>
          <a:p>
            <a:pPr indent="0" marL="0">
              <a:buNone/>
            </a:pPr>
            <a:r>
              <a:rPr lang="en-US" sz="1900" b="1" dirty="0">
                <a:solidFill>
                  <a:schemeClr val="tx2"/>
                </a:solidFill>
              </a:rPr>
              <a:t>Recurring revenue: subscriptions on both sides of the platform</a:t>
            </a:r>
            <a:endParaRPr lang="en-US" sz="1900" dirty="0"/>
          </a:p>
        </p:txBody>
      </p:sp>
      <p:sp>
        <p:nvSpPr>
          <p:cNvPr id="4" name="Students payer"/>
          <p:cNvSpPr/>
          <p:nvPr/>
        </p:nvSpPr>
        <p:spPr>
          <a:xfrm>
            <a:off x="548640" y="1737360"/>
            <a:ext cx="6675120" cy="1965960"/>
          </a:xfrm>
          <a:prstGeom prst="roundRect">
            <a:avLst>
              <a:gd name="adj" fmla="val 6512"/>
            </a:avLst>
          </a:prstGeom>
          <a:solidFill>
            <a:schemeClr val="bg1"/>
          </a:solidFill>
          <a:ln/>
          <a:effectLst>
            <a:outerShdw sx="100000" sy="100000" kx="0" ky="0" algn="bl" rotWithShape="0" blurRad="101600" dist="25400" dir="5400000">
              <a:srgbClr val="1B2A3A">
                <a:alpha val="12000"/>
              </a:srgbClr>
            </a:outerShdw>
          </a:effectLst>
        </p:spPr>
      </p:sp>
      <p:sp>
        <p:nvSpPr>
          <p:cNvPr id="5" name="Students payer circle"/>
          <p:cNvSpPr/>
          <p:nvPr/>
        </p:nvSpPr>
        <p:spPr>
          <a:xfrm>
            <a:off x="777240" y="1965960"/>
            <a:ext cx="594360" cy="594360"/>
          </a:xfrm>
          <a:prstGeom prst="ellipse">
            <a:avLst/>
          </a:prstGeom>
          <a:solidFill>
            <a:schemeClr val="accent1"/>
          </a:solidFill>
          <a:ln/>
        </p:spPr>
      </p:sp>
      <p:pic>
        <p:nvPicPr>
          <p:cNvPr id="6" name="Students payer icon" descr="preencoded.png">    </p:cNvPr>
          <p:cNvPicPr>
            <a:picLocks noChangeAspect="1"/>
          </p:cNvPicPr>
          <p:nvPr/>
        </p:nvPicPr>
        <p:blipFill>
          <a:blip r:embed="rId1"/>
          <a:stretch>
            <a:fillRect/>
          </a:stretch>
        </p:blipFill>
        <p:spPr>
          <a:xfrm>
            <a:off x="925830" y="2114550"/>
            <a:ext cx="297180" cy="297180"/>
          </a:xfrm>
          <a:prstGeom prst="rect">
            <a:avLst/>
          </a:prstGeom>
        </p:spPr>
      </p:pic>
      <p:sp>
        <p:nvSpPr>
          <p:cNvPr id="7" name="Text 4"/>
          <p:cNvSpPr txBox="1"/>
          <p:nvPr/>
        </p:nvSpPr>
        <p:spPr>
          <a:xfrm>
            <a:off x="1554480" y="1938528"/>
            <a:ext cx="3291840" cy="320040"/>
          </a:xfrm>
          <a:prstGeom prst="rect">
            <a:avLst/>
          </a:prstGeom>
          <a:noFill/>
          <a:ln/>
        </p:spPr>
        <p:txBody>
          <a:bodyPr wrap="square" lIns="0" tIns="0" rIns="0" bIns="0" rtlCol="0" anchor="t"/>
          <a:lstStyle/>
          <a:p>
            <a:pPr indent="0" marL="0">
              <a:buNone/>
            </a:pPr>
            <a:r>
              <a:rPr lang="en-US" sz="1600" b="1" dirty="0">
                <a:solidFill>
                  <a:schemeClr val="tx2"/>
                </a:solidFill>
              </a:rPr>
              <a:t>Students (lessees)</a:t>
            </a:r>
            <a:endParaRPr lang="en-US" sz="1600" dirty="0"/>
          </a:p>
        </p:txBody>
      </p:sp>
      <p:sp>
        <p:nvSpPr>
          <p:cNvPr id="8" name="Students payer tag"/>
          <p:cNvSpPr txBox="1"/>
          <p:nvPr/>
        </p:nvSpPr>
        <p:spPr>
          <a:xfrm>
            <a:off x="1554480" y="2304288"/>
            <a:ext cx="1828800" cy="310896"/>
          </a:xfrm>
          <a:prstGeom prst="roundRect">
            <a:avLst>
              <a:gd name="adj" fmla="val 44118"/>
            </a:avLst>
          </a:prstGeom>
          <a:solidFill>
            <a:schemeClr val="bg2"/>
          </a:solidFill>
          <a:ln/>
        </p:spPr>
        <p:txBody>
          <a:bodyPr wrap="square" lIns="0" tIns="0" rIns="0" bIns="0" rtlCol="0" anchor="ctr"/>
          <a:lstStyle/>
          <a:p>
            <a:pPr algn="ctr" indent="0" marL="0">
              <a:buNone/>
            </a:pPr>
            <a:r>
              <a:rPr lang="en-US" sz="1100" b="1" dirty="0">
                <a:solidFill>
                  <a:schemeClr val="tx1"/>
                </a:solidFill>
              </a:rPr>
              <a:t>FIRST · SUBSCRIPTION</a:t>
            </a:r>
            <a:endParaRPr lang="en-US" sz="1100" dirty="0"/>
          </a:p>
        </p:txBody>
      </p:sp>
      <p:sp>
        <p:nvSpPr>
          <p:cNvPr id="9" name="Text 6"/>
          <p:cNvSpPr txBox="1"/>
          <p:nvPr/>
        </p:nvSpPr>
        <p:spPr>
          <a:xfrm>
            <a:off x="777240" y="2761488"/>
            <a:ext cx="4069080" cy="868680"/>
          </a:xfrm>
          <a:prstGeom prst="rect">
            <a:avLst/>
          </a:prstGeom>
          <a:noFill/>
          <a:ln/>
        </p:spPr>
        <p:txBody>
          <a:bodyPr wrap="square" lIns="0" tIns="0" rIns="0" bIns="0" rtlCol="0" anchor="t"/>
          <a:lstStyle/>
          <a:p>
            <a:pPr indent="0" marL="0">
              <a:buNone/>
            </a:pPr>
            <a:r>
              <a:rPr lang="en-US" sz="1300" dirty="0">
                <a:solidFill>
                  <a:schemeClr val="tx1"/>
                </a:solidFill>
              </a:rPr>
              <a:t>Profile and match preview are free. They pay to message matches, build a group and see apartments. Paid with Click or Payme in the bot.</a:t>
            </a:r>
            <a:endParaRPr lang="en-US" sz="1300" dirty="0"/>
          </a:p>
        </p:txBody>
      </p:sp>
      <p:sp>
        <p:nvSpPr>
          <p:cNvPr id="10" name="Text 7"/>
          <p:cNvSpPr txBox="1"/>
          <p:nvPr/>
        </p:nvSpPr>
        <p:spPr>
          <a:xfrm>
            <a:off x="4892040" y="2011680"/>
            <a:ext cx="2148840" cy="685800"/>
          </a:xfrm>
          <a:prstGeom prst="rect">
            <a:avLst/>
          </a:prstGeom>
          <a:noFill/>
          <a:ln/>
        </p:spPr>
        <p:txBody>
          <a:bodyPr wrap="square" lIns="0" tIns="0" rIns="0" bIns="0" rtlCol="0" anchor="t"/>
          <a:lstStyle/>
          <a:p>
            <a:pPr algn="r" indent="0" marL="0">
              <a:buNone/>
            </a:pPr>
            <a:r>
              <a:rPr lang="en-US" sz="3600" b="1" dirty="0">
                <a:solidFill>
                  <a:schemeClr val="accent1"/>
                </a:solidFill>
              </a:rPr>
              <a:t>$10</a:t>
            </a:r>
            <a:endParaRPr lang="en-US" sz="3600" dirty="0"/>
          </a:p>
        </p:txBody>
      </p:sp>
      <p:sp>
        <p:nvSpPr>
          <p:cNvPr id="11" name="Text 8"/>
          <p:cNvSpPr txBox="1"/>
          <p:nvPr/>
        </p:nvSpPr>
        <p:spPr>
          <a:xfrm>
            <a:off x="4892040" y="2697480"/>
            <a:ext cx="2148840" cy="822960"/>
          </a:xfrm>
          <a:prstGeom prst="rect">
            <a:avLst/>
          </a:prstGeom>
          <a:noFill/>
          <a:ln/>
        </p:spPr>
        <p:txBody>
          <a:bodyPr wrap="square" lIns="0" tIns="0" rIns="0" bIns="0" rtlCol="0" anchor="t"/>
          <a:lstStyle/>
          <a:p>
            <a:pPr algn="r" indent="0" marL="0">
              <a:buNone/>
            </a:pPr>
            <a:r>
              <a:rPr lang="en-US" sz="1200" dirty="0">
                <a:solidFill>
                  <a:schemeClr val="accent5"/>
                </a:solidFill>
              </a:rPr>
              <a:t>per month, lessee subscription</a:t>
            </a:r>
            <a:endParaRPr lang="en-US" sz="1200" dirty="0"/>
          </a:p>
        </p:txBody>
      </p:sp>
      <p:sp>
        <p:nvSpPr>
          <p:cNvPr id="12" name="Landlords payer"/>
          <p:cNvSpPr/>
          <p:nvPr/>
        </p:nvSpPr>
        <p:spPr>
          <a:xfrm>
            <a:off x="548640" y="3840480"/>
            <a:ext cx="6675120" cy="1965960"/>
          </a:xfrm>
          <a:prstGeom prst="roundRect">
            <a:avLst>
              <a:gd name="adj" fmla="val 6512"/>
            </a:avLst>
          </a:prstGeom>
          <a:solidFill>
            <a:schemeClr val="bg1"/>
          </a:solidFill>
          <a:ln/>
          <a:effectLst>
            <a:outerShdw sx="100000" sy="100000" kx="0" ky="0" algn="bl" rotWithShape="0" blurRad="101600" dist="25400" dir="5400000">
              <a:srgbClr val="1B2A3A">
                <a:alpha val="12000"/>
              </a:srgbClr>
            </a:outerShdw>
          </a:effectLst>
        </p:spPr>
      </p:sp>
      <p:sp>
        <p:nvSpPr>
          <p:cNvPr id="13" name="Landlords payer circle"/>
          <p:cNvSpPr/>
          <p:nvPr/>
        </p:nvSpPr>
        <p:spPr>
          <a:xfrm>
            <a:off x="777240" y="4069080"/>
            <a:ext cx="594360" cy="594360"/>
          </a:xfrm>
          <a:prstGeom prst="ellipse">
            <a:avLst/>
          </a:prstGeom>
          <a:solidFill>
            <a:schemeClr val="accent2"/>
          </a:solidFill>
          <a:ln/>
        </p:spPr>
      </p:sp>
      <p:pic>
        <p:nvPicPr>
          <p:cNvPr id="14" name="Landlords payer icon" descr="preencoded.png">    </p:cNvPr>
          <p:cNvPicPr>
            <a:picLocks noChangeAspect="1"/>
          </p:cNvPicPr>
          <p:nvPr/>
        </p:nvPicPr>
        <p:blipFill>
          <a:blip r:embed="rId2"/>
          <a:stretch>
            <a:fillRect/>
          </a:stretch>
        </p:blipFill>
        <p:spPr>
          <a:xfrm>
            <a:off x="925830" y="4217670"/>
            <a:ext cx="297180" cy="297180"/>
          </a:xfrm>
          <a:prstGeom prst="rect">
            <a:avLst/>
          </a:prstGeom>
        </p:spPr>
      </p:pic>
      <p:sp>
        <p:nvSpPr>
          <p:cNvPr id="15" name="Text 11"/>
          <p:cNvSpPr txBox="1"/>
          <p:nvPr/>
        </p:nvSpPr>
        <p:spPr>
          <a:xfrm>
            <a:off x="1554480" y="4041648"/>
            <a:ext cx="3291840" cy="320040"/>
          </a:xfrm>
          <a:prstGeom prst="rect">
            <a:avLst/>
          </a:prstGeom>
          <a:noFill/>
          <a:ln/>
        </p:spPr>
        <p:txBody>
          <a:bodyPr wrap="square" lIns="0" tIns="0" rIns="0" bIns="0" rtlCol="0" anchor="t"/>
          <a:lstStyle/>
          <a:p>
            <a:pPr indent="0" marL="0">
              <a:buNone/>
            </a:pPr>
            <a:r>
              <a:rPr lang="en-US" sz="1600" b="1" dirty="0">
                <a:solidFill>
                  <a:schemeClr val="tx2"/>
                </a:solidFill>
              </a:rPr>
              <a:t>Landlords (lessors)</a:t>
            </a:r>
            <a:endParaRPr lang="en-US" sz="1600" dirty="0"/>
          </a:p>
        </p:txBody>
      </p:sp>
      <p:sp>
        <p:nvSpPr>
          <p:cNvPr id="16" name="Landlords payer tag"/>
          <p:cNvSpPr txBox="1"/>
          <p:nvPr/>
        </p:nvSpPr>
        <p:spPr>
          <a:xfrm>
            <a:off x="1554480" y="4407408"/>
            <a:ext cx="1828800" cy="310896"/>
          </a:xfrm>
          <a:prstGeom prst="roundRect">
            <a:avLst>
              <a:gd name="adj" fmla="val 44118"/>
            </a:avLst>
          </a:prstGeom>
          <a:solidFill>
            <a:schemeClr val="bg2"/>
          </a:solidFill>
          <a:ln/>
        </p:spPr>
        <p:txBody>
          <a:bodyPr wrap="square" lIns="0" tIns="0" rIns="0" bIns="0" rtlCol="0" anchor="ctr"/>
          <a:lstStyle/>
          <a:p>
            <a:pPr algn="ctr" indent="0" marL="0">
              <a:buNone/>
            </a:pPr>
            <a:r>
              <a:rPr lang="en-US" sz="1100" b="1" dirty="0">
                <a:solidFill>
                  <a:schemeClr val="tx1"/>
                </a:solidFill>
              </a:rPr>
              <a:t>LATER · SUBSCRIPTION</a:t>
            </a:r>
            <a:endParaRPr lang="en-US" sz="1100" dirty="0"/>
          </a:p>
        </p:txBody>
      </p:sp>
      <p:sp>
        <p:nvSpPr>
          <p:cNvPr id="17" name="Text 13"/>
          <p:cNvSpPr txBox="1"/>
          <p:nvPr/>
        </p:nvSpPr>
        <p:spPr>
          <a:xfrm>
            <a:off x="777240" y="4864608"/>
            <a:ext cx="4069080" cy="868680"/>
          </a:xfrm>
          <a:prstGeom prst="rect">
            <a:avLst/>
          </a:prstGeom>
          <a:noFill/>
          <a:ln/>
        </p:spPr>
        <p:txBody>
          <a:bodyPr wrap="square" lIns="0" tIns="0" rIns="0" bIns="0" rtlCol="0" anchor="t"/>
          <a:lstStyle/>
          <a:p>
            <a:pPr indent="0" marL="0">
              <a:buNone/>
            </a:pPr>
            <a:r>
              <a:rPr lang="en-US" sz="1300" dirty="0">
                <a:solidFill>
                  <a:schemeClr val="tx1"/>
                </a:solidFill>
              </a:rPr>
              <a:t>Pay to list apartments and receive requests from ready groups. Premium adds top placement.</a:t>
            </a:r>
            <a:endParaRPr lang="en-US" sz="1300" dirty="0"/>
          </a:p>
        </p:txBody>
      </p:sp>
      <p:sp>
        <p:nvSpPr>
          <p:cNvPr id="18" name="Text 14"/>
          <p:cNvSpPr txBox="1"/>
          <p:nvPr/>
        </p:nvSpPr>
        <p:spPr>
          <a:xfrm>
            <a:off x="4892040" y="4114800"/>
            <a:ext cx="2148840" cy="685800"/>
          </a:xfrm>
          <a:prstGeom prst="rect">
            <a:avLst/>
          </a:prstGeom>
          <a:noFill/>
          <a:ln/>
        </p:spPr>
        <p:txBody>
          <a:bodyPr wrap="square" lIns="0" tIns="0" rIns="0" bIns="0" rtlCol="0" anchor="t"/>
          <a:lstStyle/>
          <a:p>
            <a:pPr algn="r" indent="0" marL="0">
              <a:buNone/>
            </a:pPr>
            <a:r>
              <a:rPr lang="en-US" sz="3600" b="1" dirty="0">
                <a:solidFill>
                  <a:schemeClr val="accent2"/>
                </a:solidFill>
              </a:rPr>
              <a:t>$15–20</a:t>
            </a:r>
            <a:endParaRPr lang="en-US" sz="3600" dirty="0"/>
          </a:p>
        </p:txBody>
      </p:sp>
      <p:sp>
        <p:nvSpPr>
          <p:cNvPr id="19" name="Text 15"/>
          <p:cNvSpPr txBox="1"/>
          <p:nvPr/>
        </p:nvSpPr>
        <p:spPr>
          <a:xfrm>
            <a:off x="4892040" y="4800600"/>
            <a:ext cx="2148840" cy="822960"/>
          </a:xfrm>
          <a:prstGeom prst="rect">
            <a:avLst/>
          </a:prstGeom>
          <a:noFill/>
          <a:ln/>
        </p:spPr>
        <p:txBody>
          <a:bodyPr wrap="square" lIns="0" tIns="0" rIns="0" bIns="0" rtlCol="0" anchor="t"/>
          <a:lstStyle/>
          <a:p>
            <a:pPr algn="r" indent="0" marL="0">
              <a:buNone/>
            </a:pPr>
            <a:r>
              <a:rPr lang="en-US" sz="1200" dirty="0">
                <a:solidFill>
                  <a:schemeClr val="accent5"/>
                </a:solidFill>
              </a:rPr>
              <a:t>per month: ordinary $15, premium $20</a:t>
            </a:r>
            <a:endParaRPr lang="en-US" sz="1200" dirty="0"/>
          </a:p>
        </p:txBody>
      </p:sp>
      <p:sp>
        <p:nvSpPr>
          <p:cNvPr id="20" name="Unit economics card"/>
          <p:cNvSpPr/>
          <p:nvPr/>
        </p:nvSpPr>
        <p:spPr>
          <a:xfrm>
            <a:off x="7498080" y="1737360"/>
            <a:ext cx="4160520" cy="4069080"/>
          </a:xfrm>
          <a:prstGeom prst="roundRect">
            <a:avLst>
              <a:gd name="adj" fmla="val 3146"/>
            </a:avLst>
          </a:prstGeom>
          <a:solidFill>
            <a:schemeClr val="bg1"/>
          </a:solidFill>
          <a:ln/>
          <a:effectLst>
            <a:outerShdw sx="100000" sy="100000" kx="0" ky="0" algn="bl" rotWithShape="0" blurRad="101600" dist="25400" dir="5400000">
              <a:srgbClr val="1B2A3A">
                <a:alpha val="12000"/>
              </a:srgbClr>
            </a:outerShdw>
          </a:effectLst>
        </p:spPr>
      </p:sp>
      <p:sp>
        <p:nvSpPr>
          <p:cNvPr id="21" name="Text 17"/>
          <p:cNvSpPr txBox="1"/>
          <p:nvPr/>
        </p:nvSpPr>
        <p:spPr>
          <a:xfrm>
            <a:off x="7726680" y="1874520"/>
            <a:ext cx="3749040" cy="320040"/>
          </a:xfrm>
          <a:prstGeom prst="rect">
            <a:avLst/>
          </a:prstGeom>
          <a:noFill/>
          <a:ln/>
        </p:spPr>
        <p:txBody>
          <a:bodyPr wrap="square" lIns="0" tIns="0" rIns="0" bIns="0" rtlCol="0" anchor="t"/>
          <a:lstStyle/>
          <a:p>
            <a:pPr indent="0" marL="0">
              <a:buNone/>
            </a:pPr>
            <a:r>
              <a:rPr lang="en-US" sz="1500" b="1" dirty="0">
                <a:solidFill>
                  <a:schemeClr val="tx2"/>
                </a:solidFill>
              </a:rPr>
              <a:t>Link to Task 2 unit economics</a:t>
            </a:r>
            <a:endParaRPr lang="en-US" sz="1500" dirty="0"/>
          </a:p>
        </p:txBody>
      </p:sp>
      <p:graphicFrame>
        <p:nvGraphicFramePr>
          <p:cNvPr id="7" name="Break-even table"/>
          <p:cNvGraphicFramePr>
            <a:graphicFrameLocks noGrp="1"/>
          </p:cNvGraphicFramePr>
          <p:nvPr>
            <p:extLst>
              <p:ext uri="{D42A27DB-BD31-4B8C-83A1-F6EECF244321}">
                <p14:modId xmlns:p14="http://schemas.microsoft.com/office/powerpoint/2010/main" val="1579011935"/>
              </p:ext>
            </p:extLst>
          </p:nvPr>
        </p:nvGraphicFramePr>
        <p:xfrm>
          <a:off x="7726680" y="2286000"/>
          <a:ext cx="3703320" cy="914400"/>
        </p:xfrm>
        <a:graphic>
          <a:graphicData uri="http://schemas.openxmlformats.org/drawingml/2006/table">
            <a:tbl>
              <a:tblPr/>
              <a:tblGrid>
                <a:gridCol w="1783080"/>
                <a:gridCol w="1005840"/>
                <a:gridCol w="914400"/>
              </a:tblGrid>
              <a:tr h="384048">
                <a:tc>
                  <a:txBody>
                    <a:bodyPr/>
                    <a:lstStyle/>
                    <a:p>
                      <a:pPr algn="l" indent="0" marL="0">
                        <a:buNone/>
                      </a:pPr>
                      <a:r>
                        <a:rPr lang="en-US" sz="1200" b="1" dirty="0">
                          <a:solidFill>
                            <a:schemeClr val="bg1"/>
                          </a:solidFill>
                        </a:rPr>
                        <a:t>Monthly costs</a:t>
                      </a:r>
                      <a:endParaRPr lang="en-US" sz="1200" dirty="0"/>
                    </a:p>
                  </a:txBody>
                  <a:tcPr marL="54864" marR="54864" marT="0" marB="0" anchor="ctr">
                    <a:lnL w="9525" cap="flat" cmpd="sng" algn="ctr">
                      <a:solidFill>
                        <a:srgbClr val="D0D7DD"/>
                      </a:solidFill>
                      <a:prstDash val="solid"/>
                      <a:round/>
                      <a:headEnd type="none" w="med" len="med"/>
                      <a:tailEnd type="none" w="med" len="med"/>
                    </a:lnL>
                    <a:lnR w="9525" cap="flat" cmpd="sng" algn="ctr">
                      <a:solidFill>
                        <a:srgbClr val="D0D7DD"/>
                      </a:solidFill>
                      <a:prstDash val="solid"/>
                      <a:round/>
                      <a:headEnd type="none" w="med" len="med"/>
                      <a:tailEnd type="none" w="med" len="med"/>
                    </a:lnR>
                    <a:lnT w="9525" cap="flat" cmpd="sng" algn="ctr">
                      <a:solidFill>
                        <a:srgbClr val="D0D7DD"/>
                      </a:solidFill>
                      <a:prstDash val="solid"/>
                      <a:round/>
                      <a:headEnd type="none" w="med" len="med"/>
                      <a:tailEnd type="none" w="med" len="med"/>
                    </a:lnT>
                    <a:lnB w="9525" cap="flat" cmpd="sng" algn="ctr">
                      <a:solidFill>
                        <a:srgbClr val="D0D7DD"/>
                      </a:solidFill>
                      <a:prstDash val="solid"/>
                      <a:round/>
                      <a:headEnd type="none" w="med" len="med"/>
                      <a:tailEnd type="none" w="med" len="med"/>
                    </a:lnB>
                    <a:solidFill>
                      <a:schemeClr val="tx2"/>
                    </a:solidFill>
                  </a:tcPr>
                </a:tc>
                <a:tc>
                  <a:txBody>
                    <a:bodyPr/>
                    <a:lstStyle/>
                    <a:p>
                      <a:pPr algn="r" indent="0" marL="0">
                        <a:buNone/>
                      </a:pPr>
                      <a:r>
                        <a:rPr lang="en-US" sz="1200" b="1" dirty="0">
                          <a:solidFill>
                            <a:schemeClr val="bg1"/>
                          </a:solidFill>
                        </a:rPr>
                        <a:t>Months 1–3</a:t>
                      </a:r>
                      <a:endParaRPr lang="en-US" sz="1200" dirty="0"/>
                    </a:p>
                  </a:txBody>
                  <a:tcPr marL="54864" marR="54864" marT="0" marB="0" anchor="ctr">
                    <a:lnL w="9525" cap="flat" cmpd="sng" algn="ctr">
                      <a:solidFill>
                        <a:srgbClr val="D0D7DD"/>
                      </a:solidFill>
                      <a:prstDash val="solid"/>
                      <a:round/>
                      <a:headEnd type="none" w="med" len="med"/>
                      <a:tailEnd type="none" w="med" len="med"/>
                    </a:lnL>
                    <a:lnR w="9525" cap="flat" cmpd="sng" algn="ctr">
                      <a:solidFill>
                        <a:srgbClr val="D0D7DD"/>
                      </a:solidFill>
                      <a:prstDash val="solid"/>
                      <a:round/>
                      <a:headEnd type="none" w="med" len="med"/>
                      <a:tailEnd type="none" w="med" len="med"/>
                    </a:lnR>
                    <a:lnT w="9525" cap="flat" cmpd="sng" algn="ctr">
                      <a:solidFill>
                        <a:srgbClr val="D0D7DD"/>
                      </a:solidFill>
                      <a:prstDash val="solid"/>
                      <a:round/>
                      <a:headEnd type="none" w="med" len="med"/>
                      <a:tailEnd type="none" w="med" len="med"/>
                    </a:lnT>
                    <a:lnB w="9525" cap="flat" cmpd="sng" algn="ctr">
                      <a:solidFill>
                        <a:srgbClr val="D0D7DD"/>
                      </a:solidFill>
                      <a:prstDash val="solid"/>
                      <a:round/>
                      <a:headEnd type="none" w="med" len="med"/>
                      <a:tailEnd type="none" w="med" len="med"/>
                    </a:lnB>
                    <a:solidFill>
                      <a:schemeClr val="tx2"/>
                    </a:solidFill>
                  </a:tcPr>
                </a:tc>
                <a:tc>
                  <a:txBody>
                    <a:bodyPr/>
                    <a:lstStyle/>
                    <a:p>
                      <a:pPr algn="r" indent="0" marL="0">
                        <a:buNone/>
                      </a:pPr>
                      <a:r>
                        <a:rPr lang="en-US" sz="1200" b="1" dirty="0">
                          <a:solidFill>
                            <a:schemeClr val="bg1"/>
                          </a:solidFill>
                        </a:rPr>
                        <a:t>Month 4+</a:t>
                      </a:r>
                      <a:endParaRPr lang="en-US" sz="1200" dirty="0"/>
                    </a:p>
                  </a:txBody>
                  <a:tcPr marL="54864" marR="54864" marT="0" marB="0" anchor="ctr">
                    <a:lnL w="9525" cap="flat" cmpd="sng" algn="ctr">
                      <a:solidFill>
                        <a:srgbClr val="D0D7DD"/>
                      </a:solidFill>
                      <a:prstDash val="solid"/>
                      <a:round/>
                      <a:headEnd type="none" w="med" len="med"/>
                      <a:tailEnd type="none" w="med" len="med"/>
                    </a:lnL>
                    <a:lnR w="9525" cap="flat" cmpd="sng" algn="ctr">
                      <a:solidFill>
                        <a:srgbClr val="D0D7DD"/>
                      </a:solidFill>
                      <a:prstDash val="solid"/>
                      <a:round/>
                      <a:headEnd type="none" w="med" len="med"/>
                      <a:tailEnd type="none" w="med" len="med"/>
                    </a:lnR>
                    <a:lnT w="9525" cap="flat" cmpd="sng" algn="ctr">
                      <a:solidFill>
                        <a:srgbClr val="D0D7DD"/>
                      </a:solidFill>
                      <a:prstDash val="solid"/>
                      <a:round/>
                      <a:headEnd type="none" w="med" len="med"/>
                      <a:tailEnd type="none" w="med" len="med"/>
                    </a:lnT>
                    <a:lnB w="9525" cap="flat" cmpd="sng" algn="ctr">
                      <a:solidFill>
                        <a:srgbClr val="D0D7DD"/>
                      </a:solidFill>
                      <a:prstDash val="solid"/>
                      <a:round/>
                      <a:headEnd type="none" w="med" len="med"/>
                      <a:tailEnd type="none" w="med" len="med"/>
                    </a:lnB>
                    <a:solidFill>
                      <a:schemeClr val="tx2"/>
                    </a:solidFill>
                  </a:tcPr>
                </a:tc>
              </a:tr>
              <a:tr h="384048">
                <a:tc>
                  <a:txBody>
                    <a:bodyPr/>
                    <a:lstStyle/>
                    <a:p>
                      <a:pPr algn="l" indent="0" marL="0">
                        <a:buNone/>
                      </a:pPr>
                      <a:r>
                        <a:rPr lang="en-US" sz="1200" dirty="0">
                          <a:solidFill>
                            <a:schemeClr val="tx1"/>
                          </a:solidFill>
                        </a:rPr>
                        <a:t>Bot support</a:t>
                      </a:r>
                      <a:endParaRPr lang="en-US" sz="1200" dirty="0"/>
                    </a:p>
                  </a:txBody>
                  <a:tcPr marL="54864" marR="54864" marT="0" marB="0" anchor="ctr">
                    <a:lnL w="9525" cap="flat" cmpd="sng" algn="ctr">
                      <a:solidFill>
                        <a:srgbClr val="D0D7DD"/>
                      </a:solidFill>
                      <a:prstDash val="solid"/>
                      <a:round/>
                      <a:headEnd type="none" w="med" len="med"/>
                      <a:tailEnd type="none" w="med" len="med"/>
                    </a:lnL>
                    <a:lnR w="9525" cap="flat" cmpd="sng" algn="ctr">
                      <a:solidFill>
                        <a:srgbClr val="D0D7DD"/>
                      </a:solidFill>
                      <a:prstDash val="solid"/>
                      <a:round/>
                      <a:headEnd type="none" w="med" len="med"/>
                      <a:tailEnd type="none" w="med" len="med"/>
                    </a:lnR>
                    <a:lnT w="9525" cap="flat" cmpd="sng" algn="ctr">
                      <a:solidFill>
                        <a:srgbClr val="D0D7DD"/>
                      </a:solidFill>
                      <a:prstDash val="solid"/>
                      <a:round/>
                      <a:headEnd type="none" w="med" len="med"/>
                      <a:tailEnd type="none" w="med" len="med"/>
                    </a:lnT>
                    <a:lnB w="9525" cap="flat" cmpd="sng" algn="ctr">
                      <a:solidFill>
                        <a:srgbClr val="D0D7DD"/>
                      </a:solidFill>
                      <a:prstDash val="solid"/>
                      <a:round/>
                      <a:headEnd type="none" w="med" len="med"/>
                      <a:tailEnd type="none" w="med" len="med"/>
                    </a:lnB>
                    <a:solidFill>
                      <a:schemeClr val="bg1"/>
                    </a:solidFill>
                  </a:tcPr>
                </a:tc>
                <a:tc>
                  <a:txBody>
                    <a:bodyPr/>
                    <a:lstStyle/>
                    <a:p>
                      <a:pPr algn="r" indent="0" marL="0">
                        <a:buNone/>
                      </a:pPr>
                      <a:r>
                        <a:rPr lang="en-US" sz="1200" dirty="0">
                          <a:solidFill>
                            <a:schemeClr val="tx1"/>
                          </a:solidFill>
                        </a:rPr>
                        <a:t>$20</a:t>
                      </a:r>
                      <a:endParaRPr lang="en-US" sz="1200" dirty="0"/>
                    </a:p>
                  </a:txBody>
                  <a:tcPr marL="54864" marR="54864" marT="0" marB="0" anchor="ctr">
                    <a:lnL w="9525" cap="flat" cmpd="sng" algn="ctr">
                      <a:solidFill>
                        <a:srgbClr val="D0D7DD"/>
                      </a:solidFill>
                      <a:prstDash val="solid"/>
                      <a:round/>
                      <a:headEnd type="none" w="med" len="med"/>
                      <a:tailEnd type="none" w="med" len="med"/>
                    </a:lnL>
                    <a:lnR w="9525" cap="flat" cmpd="sng" algn="ctr">
                      <a:solidFill>
                        <a:srgbClr val="D0D7DD"/>
                      </a:solidFill>
                      <a:prstDash val="solid"/>
                      <a:round/>
                      <a:headEnd type="none" w="med" len="med"/>
                      <a:tailEnd type="none" w="med" len="med"/>
                    </a:lnR>
                    <a:lnT w="9525" cap="flat" cmpd="sng" algn="ctr">
                      <a:solidFill>
                        <a:srgbClr val="D0D7DD"/>
                      </a:solidFill>
                      <a:prstDash val="solid"/>
                      <a:round/>
                      <a:headEnd type="none" w="med" len="med"/>
                      <a:tailEnd type="none" w="med" len="med"/>
                    </a:lnT>
                    <a:lnB w="9525" cap="flat" cmpd="sng" algn="ctr">
                      <a:solidFill>
                        <a:srgbClr val="D0D7DD"/>
                      </a:solidFill>
                      <a:prstDash val="solid"/>
                      <a:round/>
                      <a:headEnd type="none" w="med" len="med"/>
                      <a:tailEnd type="none" w="med" len="med"/>
                    </a:lnB>
                    <a:solidFill>
                      <a:schemeClr val="bg1"/>
                    </a:solidFill>
                  </a:tcPr>
                </a:tc>
                <a:tc>
                  <a:txBody>
                    <a:bodyPr/>
                    <a:lstStyle/>
                    <a:p>
                      <a:pPr algn="r" indent="0" marL="0">
                        <a:buNone/>
                      </a:pPr>
                      <a:r>
                        <a:rPr lang="en-US" sz="1200" dirty="0">
                          <a:solidFill>
                            <a:schemeClr val="tx1"/>
                          </a:solidFill>
                        </a:rPr>
                        <a:t>$20</a:t>
                      </a:r>
                      <a:endParaRPr lang="en-US" sz="1200" dirty="0"/>
                    </a:p>
                  </a:txBody>
                  <a:tcPr marL="54864" marR="54864" marT="0" marB="0" anchor="ctr">
                    <a:lnL w="9525" cap="flat" cmpd="sng" algn="ctr">
                      <a:solidFill>
                        <a:srgbClr val="D0D7DD"/>
                      </a:solidFill>
                      <a:prstDash val="solid"/>
                      <a:round/>
                      <a:headEnd type="none" w="med" len="med"/>
                      <a:tailEnd type="none" w="med" len="med"/>
                    </a:lnL>
                    <a:lnR w="9525" cap="flat" cmpd="sng" algn="ctr">
                      <a:solidFill>
                        <a:srgbClr val="D0D7DD"/>
                      </a:solidFill>
                      <a:prstDash val="solid"/>
                      <a:round/>
                      <a:headEnd type="none" w="med" len="med"/>
                      <a:tailEnd type="none" w="med" len="med"/>
                    </a:lnR>
                    <a:lnT w="9525" cap="flat" cmpd="sng" algn="ctr">
                      <a:solidFill>
                        <a:srgbClr val="D0D7DD"/>
                      </a:solidFill>
                      <a:prstDash val="solid"/>
                      <a:round/>
                      <a:headEnd type="none" w="med" len="med"/>
                      <a:tailEnd type="none" w="med" len="med"/>
                    </a:lnT>
                    <a:lnB w="9525" cap="flat" cmpd="sng" algn="ctr">
                      <a:solidFill>
                        <a:srgbClr val="D0D7DD"/>
                      </a:solidFill>
                      <a:prstDash val="solid"/>
                      <a:round/>
                      <a:headEnd type="none" w="med" len="med"/>
                      <a:tailEnd type="none" w="med" len="med"/>
                    </a:lnB>
                    <a:solidFill>
                      <a:schemeClr val="bg1"/>
                    </a:solidFill>
                  </a:tcPr>
                </a:tc>
              </a:tr>
              <a:tr h="384048">
                <a:tc>
                  <a:txBody>
                    <a:bodyPr/>
                    <a:lstStyle/>
                    <a:p>
                      <a:pPr algn="l" indent="0" marL="0">
                        <a:buNone/>
                      </a:pPr>
                      <a:r>
                        <a:rPr lang="en-US" sz="1200" dirty="0">
                          <a:solidFill>
                            <a:schemeClr val="tx1"/>
                          </a:solidFill>
                        </a:rPr>
                        <a:t>Server</a:t>
                      </a:r>
                      <a:endParaRPr lang="en-US" sz="1200" dirty="0"/>
                    </a:p>
                  </a:txBody>
                  <a:tcPr marL="54864" marR="54864" marT="0" marB="0" anchor="ctr">
                    <a:lnL w="9525" cap="flat" cmpd="sng" algn="ctr">
                      <a:solidFill>
                        <a:srgbClr val="D0D7DD"/>
                      </a:solidFill>
                      <a:prstDash val="solid"/>
                      <a:round/>
                      <a:headEnd type="none" w="med" len="med"/>
                      <a:tailEnd type="none" w="med" len="med"/>
                    </a:lnL>
                    <a:lnR w="9525" cap="flat" cmpd="sng" algn="ctr">
                      <a:solidFill>
                        <a:srgbClr val="D0D7DD"/>
                      </a:solidFill>
                      <a:prstDash val="solid"/>
                      <a:round/>
                      <a:headEnd type="none" w="med" len="med"/>
                      <a:tailEnd type="none" w="med" len="med"/>
                    </a:lnR>
                    <a:lnT w="9525" cap="flat" cmpd="sng" algn="ctr">
                      <a:solidFill>
                        <a:srgbClr val="D0D7DD"/>
                      </a:solidFill>
                      <a:prstDash val="solid"/>
                      <a:round/>
                      <a:headEnd type="none" w="med" len="med"/>
                      <a:tailEnd type="none" w="med" len="med"/>
                    </a:lnT>
                    <a:lnB w="9525" cap="flat" cmpd="sng" algn="ctr">
                      <a:solidFill>
                        <a:srgbClr val="D0D7DD"/>
                      </a:solidFill>
                      <a:prstDash val="solid"/>
                      <a:round/>
                      <a:headEnd type="none" w="med" len="med"/>
                      <a:tailEnd type="none" w="med" len="med"/>
                    </a:lnB>
                    <a:solidFill>
                      <a:schemeClr val="bg1"/>
                    </a:solidFill>
                  </a:tcPr>
                </a:tc>
                <a:tc>
                  <a:txBody>
                    <a:bodyPr/>
                    <a:lstStyle/>
                    <a:p>
                      <a:pPr algn="r" indent="0" marL="0">
                        <a:buNone/>
                      </a:pPr>
                      <a:r>
                        <a:rPr lang="en-US" sz="1200" dirty="0">
                          <a:solidFill>
                            <a:schemeClr val="tx1"/>
                          </a:solidFill>
                        </a:rPr>
                        <a:t>$10</a:t>
                      </a:r>
                      <a:endParaRPr lang="en-US" sz="1200" dirty="0"/>
                    </a:p>
                  </a:txBody>
                  <a:tcPr marL="54864" marR="54864" marT="0" marB="0" anchor="ctr">
                    <a:lnL w="9525" cap="flat" cmpd="sng" algn="ctr">
                      <a:solidFill>
                        <a:srgbClr val="D0D7DD"/>
                      </a:solidFill>
                      <a:prstDash val="solid"/>
                      <a:round/>
                      <a:headEnd type="none" w="med" len="med"/>
                      <a:tailEnd type="none" w="med" len="med"/>
                    </a:lnL>
                    <a:lnR w="9525" cap="flat" cmpd="sng" algn="ctr">
                      <a:solidFill>
                        <a:srgbClr val="D0D7DD"/>
                      </a:solidFill>
                      <a:prstDash val="solid"/>
                      <a:round/>
                      <a:headEnd type="none" w="med" len="med"/>
                      <a:tailEnd type="none" w="med" len="med"/>
                    </a:lnR>
                    <a:lnT w="9525" cap="flat" cmpd="sng" algn="ctr">
                      <a:solidFill>
                        <a:srgbClr val="D0D7DD"/>
                      </a:solidFill>
                      <a:prstDash val="solid"/>
                      <a:round/>
                      <a:headEnd type="none" w="med" len="med"/>
                      <a:tailEnd type="none" w="med" len="med"/>
                    </a:lnT>
                    <a:lnB w="9525" cap="flat" cmpd="sng" algn="ctr">
                      <a:solidFill>
                        <a:srgbClr val="D0D7DD"/>
                      </a:solidFill>
                      <a:prstDash val="solid"/>
                      <a:round/>
                      <a:headEnd type="none" w="med" len="med"/>
                      <a:tailEnd type="none" w="med" len="med"/>
                    </a:lnB>
                    <a:solidFill>
                      <a:schemeClr val="bg1"/>
                    </a:solidFill>
                  </a:tcPr>
                </a:tc>
                <a:tc>
                  <a:txBody>
                    <a:bodyPr/>
                    <a:lstStyle/>
                    <a:p>
                      <a:pPr algn="r" indent="0" marL="0">
                        <a:buNone/>
                      </a:pPr>
                      <a:r>
                        <a:rPr lang="en-US" sz="1200" dirty="0">
                          <a:solidFill>
                            <a:schemeClr val="tx1"/>
                          </a:solidFill>
                        </a:rPr>
                        <a:t>$10</a:t>
                      </a:r>
                      <a:endParaRPr lang="en-US" sz="1200" dirty="0"/>
                    </a:p>
                  </a:txBody>
                  <a:tcPr marL="54864" marR="54864" marT="0" marB="0" anchor="ctr">
                    <a:lnL w="9525" cap="flat" cmpd="sng" algn="ctr">
                      <a:solidFill>
                        <a:srgbClr val="D0D7DD"/>
                      </a:solidFill>
                      <a:prstDash val="solid"/>
                      <a:round/>
                      <a:headEnd type="none" w="med" len="med"/>
                      <a:tailEnd type="none" w="med" len="med"/>
                    </a:lnL>
                    <a:lnR w="9525" cap="flat" cmpd="sng" algn="ctr">
                      <a:solidFill>
                        <a:srgbClr val="D0D7DD"/>
                      </a:solidFill>
                      <a:prstDash val="solid"/>
                      <a:round/>
                      <a:headEnd type="none" w="med" len="med"/>
                      <a:tailEnd type="none" w="med" len="med"/>
                    </a:lnR>
                    <a:lnT w="9525" cap="flat" cmpd="sng" algn="ctr">
                      <a:solidFill>
                        <a:srgbClr val="D0D7DD"/>
                      </a:solidFill>
                      <a:prstDash val="solid"/>
                      <a:round/>
                      <a:headEnd type="none" w="med" len="med"/>
                      <a:tailEnd type="none" w="med" len="med"/>
                    </a:lnT>
                    <a:lnB w="9525" cap="flat" cmpd="sng" algn="ctr">
                      <a:solidFill>
                        <a:srgbClr val="D0D7DD"/>
                      </a:solidFill>
                      <a:prstDash val="solid"/>
                      <a:round/>
                      <a:headEnd type="none" w="med" len="med"/>
                      <a:tailEnd type="none" w="med" len="med"/>
                    </a:lnB>
                    <a:solidFill>
                      <a:schemeClr val="bg1"/>
                    </a:solidFill>
                  </a:tcPr>
                </a:tc>
              </a:tr>
              <a:tr h="384048">
                <a:tc>
                  <a:txBody>
                    <a:bodyPr/>
                    <a:lstStyle/>
                    <a:p>
                      <a:pPr algn="l" indent="0" marL="0">
                        <a:buNone/>
                      </a:pPr>
                      <a:r>
                        <a:rPr lang="en-US" sz="1200" dirty="0">
                          <a:solidFill>
                            <a:schemeClr val="tx1"/>
                          </a:solidFill>
                        </a:rPr>
                        <a:t>Marketing</a:t>
                      </a:r>
                      <a:endParaRPr lang="en-US" sz="1200" dirty="0"/>
                    </a:p>
                  </a:txBody>
                  <a:tcPr marL="54864" marR="54864" marT="0" marB="0" anchor="ctr">
                    <a:lnL w="9525" cap="flat" cmpd="sng" algn="ctr">
                      <a:solidFill>
                        <a:srgbClr val="D0D7DD"/>
                      </a:solidFill>
                      <a:prstDash val="solid"/>
                      <a:round/>
                      <a:headEnd type="none" w="med" len="med"/>
                      <a:tailEnd type="none" w="med" len="med"/>
                    </a:lnL>
                    <a:lnR w="9525" cap="flat" cmpd="sng" algn="ctr">
                      <a:solidFill>
                        <a:srgbClr val="D0D7DD"/>
                      </a:solidFill>
                      <a:prstDash val="solid"/>
                      <a:round/>
                      <a:headEnd type="none" w="med" len="med"/>
                      <a:tailEnd type="none" w="med" len="med"/>
                    </a:lnR>
                    <a:lnT w="9525" cap="flat" cmpd="sng" algn="ctr">
                      <a:solidFill>
                        <a:srgbClr val="D0D7DD"/>
                      </a:solidFill>
                      <a:prstDash val="solid"/>
                      <a:round/>
                      <a:headEnd type="none" w="med" len="med"/>
                      <a:tailEnd type="none" w="med" len="med"/>
                    </a:lnT>
                    <a:lnB w="9525" cap="flat" cmpd="sng" algn="ctr">
                      <a:solidFill>
                        <a:srgbClr val="D0D7DD"/>
                      </a:solidFill>
                      <a:prstDash val="solid"/>
                      <a:round/>
                      <a:headEnd type="none" w="med" len="med"/>
                      <a:tailEnd type="none" w="med" len="med"/>
                    </a:lnB>
                    <a:solidFill>
                      <a:schemeClr val="bg1"/>
                    </a:solidFill>
                  </a:tcPr>
                </a:tc>
                <a:tc>
                  <a:txBody>
                    <a:bodyPr/>
                    <a:lstStyle/>
                    <a:p>
                      <a:pPr algn="r" indent="0" marL="0">
                        <a:buNone/>
                      </a:pPr>
                      <a:r>
                        <a:rPr lang="en-US" sz="1200" dirty="0">
                          <a:solidFill>
                            <a:schemeClr val="tx1"/>
                          </a:solidFill>
                        </a:rPr>
                        <a:t>$200</a:t>
                      </a:r>
                      <a:endParaRPr lang="en-US" sz="1200" dirty="0"/>
                    </a:p>
                  </a:txBody>
                  <a:tcPr marL="54864" marR="54864" marT="0" marB="0" anchor="ctr">
                    <a:lnL w="9525" cap="flat" cmpd="sng" algn="ctr">
                      <a:solidFill>
                        <a:srgbClr val="D0D7DD"/>
                      </a:solidFill>
                      <a:prstDash val="solid"/>
                      <a:round/>
                      <a:headEnd type="none" w="med" len="med"/>
                      <a:tailEnd type="none" w="med" len="med"/>
                    </a:lnL>
                    <a:lnR w="9525" cap="flat" cmpd="sng" algn="ctr">
                      <a:solidFill>
                        <a:srgbClr val="D0D7DD"/>
                      </a:solidFill>
                      <a:prstDash val="solid"/>
                      <a:round/>
                      <a:headEnd type="none" w="med" len="med"/>
                      <a:tailEnd type="none" w="med" len="med"/>
                    </a:lnR>
                    <a:lnT w="9525" cap="flat" cmpd="sng" algn="ctr">
                      <a:solidFill>
                        <a:srgbClr val="D0D7DD"/>
                      </a:solidFill>
                      <a:prstDash val="solid"/>
                      <a:round/>
                      <a:headEnd type="none" w="med" len="med"/>
                      <a:tailEnd type="none" w="med" len="med"/>
                    </a:lnT>
                    <a:lnB w="9525" cap="flat" cmpd="sng" algn="ctr">
                      <a:solidFill>
                        <a:srgbClr val="D0D7DD"/>
                      </a:solidFill>
                      <a:prstDash val="solid"/>
                      <a:round/>
                      <a:headEnd type="none" w="med" len="med"/>
                      <a:tailEnd type="none" w="med" len="med"/>
                    </a:lnB>
                    <a:solidFill>
                      <a:schemeClr val="bg1"/>
                    </a:solidFill>
                  </a:tcPr>
                </a:tc>
                <a:tc>
                  <a:txBody>
                    <a:bodyPr/>
                    <a:lstStyle/>
                    <a:p>
                      <a:pPr algn="r" indent="0" marL="0">
                        <a:buNone/>
                      </a:pPr>
                      <a:r>
                        <a:rPr lang="en-US" sz="1200" dirty="0">
                          <a:solidFill>
                            <a:schemeClr val="tx1"/>
                          </a:solidFill>
                        </a:rPr>
                        <a:t>–</a:t>
                      </a:r>
                      <a:endParaRPr lang="en-US" sz="1200" dirty="0"/>
                    </a:p>
                  </a:txBody>
                  <a:tcPr marL="54864" marR="54864" marT="0" marB="0" anchor="ctr">
                    <a:lnL w="9525" cap="flat" cmpd="sng" algn="ctr">
                      <a:solidFill>
                        <a:srgbClr val="D0D7DD"/>
                      </a:solidFill>
                      <a:prstDash val="solid"/>
                      <a:round/>
                      <a:headEnd type="none" w="med" len="med"/>
                      <a:tailEnd type="none" w="med" len="med"/>
                    </a:lnL>
                    <a:lnR w="9525" cap="flat" cmpd="sng" algn="ctr">
                      <a:solidFill>
                        <a:srgbClr val="D0D7DD"/>
                      </a:solidFill>
                      <a:prstDash val="solid"/>
                      <a:round/>
                      <a:headEnd type="none" w="med" len="med"/>
                      <a:tailEnd type="none" w="med" len="med"/>
                    </a:lnR>
                    <a:lnT w="9525" cap="flat" cmpd="sng" algn="ctr">
                      <a:solidFill>
                        <a:srgbClr val="D0D7DD"/>
                      </a:solidFill>
                      <a:prstDash val="solid"/>
                      <a:round/>
                      <a:headEnd type="none" w="med" len="med"/>
                      <a:tailEnd type="none" w="med" len="med"/>
                    </a:lnT>
                    <a:lnB w="9525" cap="flat" cmpd="sng" algn="ctr">
                      <a:solidFill>
                        <a:srgbClr val="D0D7DD"/>
                      </a:solidFill>
                      <a:prstDash val="solid"/>
                      <a:round/>
                      <a:headEnd type="none" w="med" len="med"/>
                      <a:tailEnd type="none" w="med" len="med"/>
                    </a:lnB>
                    <a:solidFill>
                      <a:schemeClr val="bg1"/>
                    </a:solidFill>
                  </a:tcPr>
                </a:tc>
              </a:tr>
              <a:tr h="384048">
                <a:tc>
                  <a:txBody>
                    <a:bodyPr/>
                    <a:lstStyle/>
                    <a:p>
                      <a:pPr algn="l" indent="0" marL="0">
                        <a:buNone/>
                      </a:pPr>
                      <a:r>
                        <a:rPr lang="en-US" sz="1200" b="1" dirty="0">
                          <a:solidFill>
                            <a:schemeClr val="tx1"/>
                          </a:solidFill>
                        </a:rPr>
                        <a:t>Total</a:t>
                      </a:r>
                      <a:endParaRPr lang="en-US" sz="1200" dirty="0"/>
                    </a:p>
                  </a:txBody>
                  <a:tcPr marL="54864" marR="54864" marT="0" marB="0" anchor="ctr">
                    <a:lnL w="9525" cap="flat" cmpd="sng" algn="ctr">
                      <a:solidFill>
                        <a:srgbClr val="D0D7DD"/>
                      </a:solidFill>
                      <a:prstDash val="solid"/>
                      <a:round/>
                      <a:headEnd type="none" w="med" len="med"/>
                      <a:tailEnd type="none" w="med" len="med"/>
                    </a:lnL>
                    <a:lnR w="9525" cap="flat" cmpd="sng" algn="ctr">
                      <a:solidFill>
                        <a:srgbClr val="D0D7DD"/>
                      </a:solidFill>
                      <a:prstDash val="solid"/>
                      <a:round/>
                      <a:headEnd type="none" w="med" len="med"/>
                      <a:tailEnd type="none" w="med" len="med"/>
                    </a:lnR>
                    <a:lnT w="9525" cap="flat" cmpd="sng" algn="ctr">
                      <a:solidFill>
                        <a:srgbClr val="D0D7DD"/>
                      </a:solidFill>
                      <a:prstDash val="solid"/>
                      <a:round/>
                      <a:headEnd type="none" w="med" len="med"/>
                      <a:tailEnd type="none" w="med" len="med"/>
                    </a:lnT>
                    <a:lnB w="9525" cap="flat" cmpd="sng" algn="ctr">
                      <a:solidFill>
                        <a:srgbClr val="D0D7DD"/>
                      </a:solidFill>
                      <a:prstDash val="solid"/>
                      <a:round/>
                      <a:headEnd type="none" w="med" len="med"/>
                      <a:tailEnd type="none" w="med" len="med"/>
                    </a:lnB>
                    <a:solidFill>
                      <a:schemeClr val="bg1"/>
                    </a:solidFill>
                  </a:tcPr>
                </a:tc>
                <a:tc>
                  <a:txBody>
                    <a:bodyPr/>
                    <a:lstStyle/>
                    <a:p>
                      <a:pPr algn="r" indent="0" marL="0">
                        <a:buNone/>
                      </a:pPr>
                      <a:r>
                        <a:rPr lang="en-US" sz="1200" b="1" dirty="0">
                          <a:solidFill>
                            <a:schemeClr val="tx1"/>
                          </a:solidFill>
                        </a:rPr>
                        <a:t>$230</a:t>
                      </a:r>
                      <a:endParaRPr lang="en-US" sz="1200" dirty="0"/>
                    </a:p>
                  </a:txBody>
                  <a:tcPr marL="54864" marR="54864" marT="0" marB="0" anchor="ctr">
                    <a:lnL w="9525" cap="flat" cmpd="sng" algn="ctr">
                      <a:solidFill>
                        <a:srgbClr val="D0D7DD"/>
                      </a:solidFill>
                      <a:prstDash val="solid"/>
                      <a:round/>
                      <a:headEnd type="none" w="med" len="med"/>
                      <a:tailEnd type="none" w="med" len="med"/>
                    </a:lnL>
                    <a:lnR w="9525" cap="flat" cmpd="sng" algn="ctr">
                      <a:solidFill>
                        <a:srgbClr val="D0D7DD"/>
                      </a:solidFill>
                      <a:prstDash val="solid"/>
                      <a:round/>
                      <a:headEnd type="none" w="med" len="med"/>
                      <a:tailEnd type="none" w="med" len="med"/>
                    </a:lnR>
                    <a:lnT w="9525" cap="flat" cmpd="sng" algn="ctr">
                      <a:solidFill>
                        <a:srgbClr val="D0D7DD"/>
                      </a:solidFill>
                      <a:prstDash val="solid"/>
                      <a:round/>
                      <a:headEnd type="none" w="med" len="med"/>
                      <a:tailEnd type="none" w="med" len="med"/>
                    </a:lnT>
                    <a:lnB w="9525" cap="flat" cmpd="sng" algn="ctr">
                      <a:solidFill>
                        <a:srgbClr val="D0D7DD"/>
                      </a:solidFill>
                      <a:prstDash val="solid"/>
                      <a:round/>
                      <a:headEnd type="none" w="med" len="med"/>
                      <a:tailEnd type="none" w="med" len="med"/>
                    </a:lnB>
                    <a:solidFill>
                      <a:schemeClr val="bg1"/>
                    </a:solidFill>
                  </a:tcPr>
                </a:tc>
                <a:tc>
                  <a:txBody>
                    <a:bodyPr/>
                    <a:lstStyle/>
                    <a:p>
                      <a:pPr algn="r" indent="0" marL="0">
                        <a:buNone/>
                      </a:pPr>
                      <a:r>
                        <a:rPr lang="en-US" sz="1200" b="1" dirty="0">
                          <a:solidFill>
                            <a:schemeClr val="tx1"/>
                          </a:solidFill>
                        </a:rPr>
                        <a:t>$30</a:t>
                      </a:r>
                      <a:endParaRPr lang="en-US" sz="1200" dirty="0"/>
                    </a:p>
                  </a:txBody>
                  <a:tcPr marL="54864" marR="54864" marT="0" marB="0" anchor="ctr">
                    <a:lnL w="9525" cap="flat" cmpd="sng" algn="ctr">
                      <a:solidFill>
                        <a:srgbClr val="D0D7DD"/>
                      </a:solidFill>
                      <a:prstDash val="solid"/>
                      <a:round/>
                      <a:headEnd type="none" w="med" len="med"/>
                      <a:tailEnd type="none" w="med" len="med"/>
                    </a:lnL>
                    <a:lnR w="9525" cap="flat" cmpd="sng" algn="ctr">
                      <a:solidFill>
                        <a:srgbClr val="D0D7DD"/>
                      </a:solidFill>
                      <a:prstDash val="solid"/>
                      <a:round/>
                      <a:headEnd type="none" w="med" len="med"/>
                      <a:tailEnd type="none" w="med" len="med"/>
                    </a:lnR>
                    <a:lnT w="9525" cap="flat" cmpd="sng" algn="ctr">
                      <a:solidFill>
                        <a:srgbClr val="D0D7DD"/>
                      </a:solidFill>
                      <a:prstDash val="solid"/>
                      <a:round/>
                      <a:headEnd type="none" w="med" len="med"/>
                      <a:tailEnd type="none" w="med" len="med"/>
                    </a:lnT>
                    <a:lnB w="9525" cap="flat" cmpd="sng" algn="ctr">
                      <a:solidFill>
                        <a:srgbClr val="D0D7DD"/>
                      </a:solidFill>
                      <a:prstDash val="solid"/>
                      <a:round/>
                      <a:headEnd type="none" w="med" len="med"/>
                      <a:tailEnd type="none" w="med" len="med"/>
                    </a:lnB>
                    <a:solidFill>
                      <a:schemeClr val="bg1"/>
                    </a:solidFill>
                  </a:tcPr>
                </a:tc>
              </a:tr>
              <a:tr h="384048">
                <a:tc>
                  <a:txBody>
                    <a:bodyPr/>
                    <a:lstStyle/>
                    <a:p>
                      <a:pPr algn="l" indent="0" marL="0">
                        <a:buNone/>
                      </a:pPr>
                      <a:r>
                        <a:rPr lang="en-US" sz="1200" b="1" dirty="0">
                          <a:solidFill>
                            <a:schemeClr val="accent1"/>
                          </a:solidFill>
                        </a:rPr>
                        <a:t>Students at $10 to cover it</a:t>
                      </a:r>
                      <a:endParaRPr lang="en-US" sz="1200" dirty="0"/>
                    </a:p>
                  </a:txBody>
                  <a:tcPr marL="54864" marR="54864" marT="0" marB="0" anchor="ctr">
                    <a:lnL w="9525" cap="flat" cmpd="sng" algn="ctr">
                      <a:solidFill>
                        <a:srgbClr val="D0D7DD"/>
                      </a:solidFill>
                      <a:prstDash val="solid"/>
                      <a:round/>
                      <a:headEnd type="none" w="med" len="med"/>
                      <a:tailEnd type="none" w="med" len="med"/>
                    </a:lnL>
                    <a:lnR w="9525" cap="flat" cmpd="sng" algn="ctr">
                      <a:solidFill>
                        <a:srgbClr val="D0D7DD"/>
                      </a:solidFill>
                      <a:prstDash val="solid"/>
                      <a:round/>
                      <a:headEnd type="none" w="med" len="med"/>
                      <a:tailEnd type="none" w="med" len="med"/>
                    </a:lnR>
                    <a:lnT w="9525" cap="flat" cmpd="sng" algn="ctr">
                      <a:solidFill>
                        <a:srgbClr val="D0D7DD"/>
                      </a:solidFill>
                      <a:prstDash val="solid"/>
                      <a:round/>
                      <a:headEnd type="none" w="med" len="med"/>
                      <a:tailEnd type="none" w="med" len="med"/>
                    </a:lnT>
                    <a:lnB w="9525" cap="flat" cmpd="sng" algn="ctr">
                      <a:solidFill>
                        <a:srgbClr val="D0D7DD"/>
                      </a:solidFill>
                      <a:prstDash val="solid"/>
                      <a:round/>
                      <a:headEnd type="none" w="med" len="med"/>
                      <a:tailEnd type="none" w="med" len="med"/>
                    </a:lnB>
                    <a:solidFill>
                      <a:schemeClr val="bg1"/>
                    </a:solidFill>
                  </a:tcPr>
                </a:tc>
                <a:tc>
                  <a:txBody>
                    <a:bodyPr/>
                    <a:lstStyle/>
                    <a:p>
                      <a:pPr algn="r" indent="0" marL="0">
                        <a:buNone/>
                      </a:pPr>
                      <a:r>
                        <a:rPr lang="en-US" sz="1200" b="1" dirty="0">
                          <a:solidFill>
                            <a:schemeClr val="accent1"/>
                          </a:solidFill>
                        </a:rPr>
                        <a:t>23</a:t>
                      </a:r>
                      <a:endParaRPr lang="en-US" sz="1200" dirty="0"/>
                    </a:p>
                  </a:txBody>
                  <a:tcPr marL="54864" marR="54864" marT="0" marB="0" anchor="ctr">
                    <a:lnL w="9525" cap="flat" cmpd="sng" algn="ctr">
                      <a:solidFill>
                        <a:srgbClr val="D0D7DD"/>
                      </a:solidFill>
                      <a:prstDash val="solid"/>
                      <a:round/>
                      <a:headEnd type="none" w="med" len="med"/>
                      <a:tailEnd type="none" w="med" len="med"/>
                    </a:lnL>
                    <a:lnR w="9525" cap="flat" cmpd="sng" algn="ctr">
                      <a:solidFill>
                        <a:srgbClr val="D0D7DD"/>
                      </a:solidFill>
                      <a:prstDash val="solid"/>
                      <a:round/>
                      <a:headEnd type="none" w="med" len="med"/>
                      <a:tailEnd type="none" w="med" len="med"/>
                    </a:lnR>
                    <a:lnT w="9525" cap="flat" cmpd="sng" algn="ctr">
                      <a:solidFill>
                        <a:srgbClr val="D0D7DD"/>
                      </a:solidFill>
                      <a:prstDash val="solid"/>
                      <a:round/>
                      <a:headEnd type="none" w="med" len="med"/>
                      <a:tailEnd type="none" w="med" len="med"/>
                    </a:lnT>
                    <a:lnB w="9525" cap="flat" cmpd="sng" algn="ctr">
                      <a:solidFill>
                        <a:srgbClr val="D0D7DD"/>
                      </a:solidFill>
                      <a:prstDash val="solid"/>
                      <a:round/>
                      <a:headEnd type="none" w="med" len="med"/>
                      <a:tailEnd type="none" w="med" len="med"/>
                    </a:lnB>
                    <a:solidFill>
                      <a:schemeClr val="bg1"/>
                    </a:solidFill>
                  </a:tcPr>
                </a:tc>
                <a:tc>
                  <a:txBody>
                    <a:bodyPr/>
                    <a:lstStyle/>
                    <a:p>
                      <a:pPr algn="r" indent="0" marL="0">
                        <a:buNone/>
                      </a:pPr>
                      <a:r>
                        <a:rPr lang="en-US" sz="1200" b="1" dirty="0">
                          <a:solidFill>
                            <a:schemeClr val="accent1"/>
                          </a:solidFill>
                        </a:rPr>
                        <a:t>3</a:t>
                      </a:r>
                      <a:endParaRPr lang="en-US" sz="1200" dirty="0"/>
                    </a:p>
                  </a:txBody>
                  <a:tcPr marL="54864" marR="54864" marT="0" marB="0" anchor="ctr">
                    <a:lnL w="9525" cap="flat" cmpd="sng" algn="ctr">
                      <a:solidFill>
                        <a:srgbClr val="D0D7DD"/>
                      </a:solidFill>
                      <a:prstDash val="solid"/>
                      <a:round/>
                      <a:headEnd type="none" w="med" len="med"/>
                      <a:tailEnd type="none" w="med" len="med"/>
                    </a:lnL>
                    <a:lnR w="9525" cap="flat" cmpd="sng" algn="ctr">
                      <a:solidFill>
                        <a:srgbClr val="D0D7DD"/>
                      </a:solidFill>
                      <a:prstDash val="solid"/>
                      <a:round/>
                      <a:headEnd type="none" w="med" len="med"/>
                      <a:tailEnd type="none" w="med" len="med"/>
                    </a:lnR>
                    <a:lnT w="9525" cap="flat" cmpd="sng" algn="ctr">
                      <a:solidFill>
                        <a:srgbClr val="D0D7DD"/>
                      </a:solidFill>
                      <a:prstDash val="solid"/>
                      <a:round/>
                      <a:headEnd type="none" w="med" len="med"/>
                      <a:tailEnd type="none" w="med" len="med"/>
                    </a:lnT>
                    <a:lnB w="9525" cap="flat" cmpd="sng" algn="ctr">
                      <a:solidFill>
                        <a:srgbClr val="D0D7DD"/>
                      </a:solidFill>
                      <a:prstDash val="solid"/>
                      <a:round/>
                      <a:headEnd type="none" w="med" len="med"/>
                      <a:tailEnd type="none" w="med" len="med"/>
                    </a:lnB>
                    <a:solidFill>
                      <a:schemeClr val="bg1"/>
                    </a:solidFill>
                  </a:tcPr>
                </a:tc>
              </a:tr>
            </a:tbl>
          </a:graphicData>
        </a:graphic>
      </p:graphicFrame>
      <p:sp>
        <p:nvSpPr>
          <p:cNvPr id="23" name="Text 18"/>
          <p:cNvSpPr txBox="1"/>
          <p:nvPr/>
        </p:nvSpPr>
        <p:spPr>
          <a:xfrm>
            <a:off x="7726680" y="4709160"/>
            <a:ext cx="3703320" cy="457200"/>
          </a:xfrm>
          <a:prstGeom prst="rect">
            <a:avLst/>
          </a:prstGeom>
          <a:noFill/>
          <a:ln/>
        </p:spPr>
        <p:txBody>
          <a:bodyPr wrap="square" lIns="0" tIns="0" rIns="0" bIns="0" rtlCol="0" anchor="t"/>
          <a:lstStyle/>
          <a:p>
            <a:pPr indent="0" marL="0">
              <a:buNone/>
            </a:pPr>
            <a:r>
              <a:rPr lang="en-US" sz="1200" dirty="0">
                <a:solidFill>
                  <a:schemeClr val="accent5"/>
                </a:solidFill>
              </a:rPr>
              <a:t>Plus $100 once for the bot = 10 student-months.</a:t>
            </a:r>
            <a:endParaRPr lang="en-US" sz="1200" dirty="0"/>
          </a:p>
        </p:txBody>
      </p:sp>
      <p:sp>
        <p:nvSpPr>
          <p:cNvPr id="24" name="Text 19"/>
          <p:cNvSpPr txBox="1"/>
          <p:nvPr/>
        </p:nvSpPr>
        <p:spPr>
          <a:xfrm>
            <a:off x="7726680" y="5166360"/>
            <a:ext cx="3703320" cy="502920"/>
          </a:xfrm>
          <a:prstGeom prst="rect">
            <a:avLst/>
          </a:prstGeom>
          <a:noFill/>
          <a:ln/>
        </p:spPr>
        <p:txBody>
          <a:bodyPr wrap="square" lIns="0" tIns="0" rIns="0" bIns="0" rtlCol="0" anchor="t"/>
          <a:lstStyle/>
          <a:p>
            <a:pPr indent="0" marL="0">
              <a:buNone/>
            </a:pPr>
            <a:r>
              <a:rPr lang="en-US" sz="1200" b="1" dirty="0">
                <a:solidFill>
                  <a:schemeClr val="accent3"/>
                </a:solidFill>
              </a:rPr>
              <a:t>Risk: students may subscribe only while searching (1–2 months).</a:t>
            </a:r>
            <a:endParaRPr lang="en-US" sz="1200" dirty="0"/>
          </a:p>
        </p:txBody>
      </p:sp>
      <p:sp>
        <p:nvSpPr>
          <p:cNvPr id="25" name="Slide Number Placeholder 0"/>
          <p:cNvSpPr>
            <a:spLocks noGrp="1"/>
          </p:cNvSpPr>
          <p:nvPr>
            <p:ph type="sldNum" sz="quarter" idx="4294967295"/>
          </p:nvPr>
        </p:nvSpPr>
        <p:spPr>
          <a:xfrm>
            <a:off x="1120140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3"/>
          <p:cNvSpPr/>
          <p:nvPr>
            <p:ph idx="106" type="title" hasCustomPrompt="1"/>
          </p:nvPr>
        </p:nvSpPr>
        <p:spPr>
          <a:xfrm>
            <a:off x="4754880" y="301752"/>
            <a:ext cx="6903720" cy="548640"/>
          </a:xfrm>
          <a:prstGeom prst="rect">
            <a:avLst/>
          </a:prstGeom>
          <a:noFill/>
          <a:ln/>
        </p:spPr>
        <p:txBody>
          <a:bodyPr wrap="square" lIns="0" tIns="0" rIns="0" bIns="0" rtlCol="0" anchor="ctr"/>
          <a:lstStyle/>
          <a:p>
            <a:pPr algn="r" indent="0" marL="0">
              <a:buNone/>
            </a:pPr>
            <a:r>
              <a:rPr lang="en-US" sz="2600" b="1" dirty="0">
                <a:solidFill>
                  <a:schemeClr val="tx1"/>
                </a:solidFill>
              </a:rPr>
              <a:t>7 · WHAT WE ARE LEAST SURE ABOUT</a:t>
            </a:r>
            <a:endParaRPr lang="en-US" sz="2600" dirty="0"/>
          </a:p>
        </p:txBody>
      </p:sp>
      <p:sp>
        <p:nvSpPr>
          <p:cNvPr id="3" name="Text 1"/>
          <p:cNvSpPr txBox="1"/>
          <p:nvPr/>
        </p:nvSpPr>
        <p:spPr>
          <a:xfrm>
            <a:off x="548640" y="1115568"/>
            <a:ext cx="11109960" cy="457200"/>
          </a:xfrm>
          <a:prstGeom prst="rect">
            <a:avLst/>
          </a:prstGeom>
          <a:noFill/>
          <a:ln/>
        </p:spPr>
        <p:txBody>
          <a:bodyPr wrap="square" lIns="0" tIns="0" rIns="0" bIns="0" rtlCol="0" anchor="ctr"/>
          <a:lstStyle/>
          <a:p>
            <a:pPr indent="0" marL="0">
              <a:buNone/>
            </a:pPr>
            <a:r>
              <a:rPr lang="en-US" sz="1900" b="1" dirty="0">
                <a:solidFill>
                  <a:schemeClr val="tx2"/>
                </a:solidFill>
              </a:rPr>
              <a:t>Evidence from 5 interviews (3 students, 1 graduate, 1 young professional, 5–7 October)</a:t>
            </a:r>
            <a:endParaRPr lang="en-US" sz="1900" dirty="0"/>
          </a:p>
        </p:txBody>
      </p:sp>
      <p:sp>
        <p:nvSpPr>
          <p:cNvPr id="4" name="Text 2"/>
          <p:cNvSpPr txBox="1"/>
          <p:nvPr/>
        </p:nvSpPr>
        <p:spPr>
          <a:xfrm>
            <a:off x="777240" y="1691640"/>
            <a:ext cx="2011680" cy="274320"/>
          </a:xfrm>
          <a:prstGeom prst="rect">
            <a:avLst/>
          </a:prstGeom>
          <a:noFill/>
          <a:ln/>
        </p:spPr>
        <p:txBody>
          <a:bodyPr wrap="square" lIns="0" tIns="0" rIns="0" bIns="0" rtlCol="0" anchor="t"/>
          <a:lstStyle/>
          <a:p>
            <a:pPr indent="0" marL="0">
              <a:buNone/>
            </a:pPr>
            <a:r>
              <a:rPr lang="en-US" sz="1200" b="1" dirty="0">
                <a:solidFill>
                  <a:schemeClr val="accent5"/>
                </a:solidFill>
              </a:rPr>
              <a:t>Block</a:t>
            </a:r>
            <a:endParaRPr lang="en-US" sz="1200" dirty="0"/>
          </a:p>
        </p:txBody>
      </p:sp>
      <p:sp>
        <p:nvSpPr>
          <p:cNvPr id="5" name="Text 3"/>
          <p:cNvSpPr txBox="1"/>
          <p:nvPr/>
        </p:nvSpPr>
        <p:spPr>
          <a:xfrm>
            <a:off x="2788920" y="1691640"/>
            <a:ext cx="2926080" cy="274320"/>
          </a:xfrm>
          <a:prstGeom prst="rect">
            <a:avLst/>
          </a:prstGeom>
          <a:noFill/>
          <a:ln/>
        </p:spPr>
        <p:txBody>
          <a:bodyPr wrap="square" lIns="0" tIns="0" rIns="0" bIns="0" rtlCol="0" anchor="t"/>
          <a:lstStyle/>
          <a:p>
            <a:pPr indent="0" marL="0">
              <a:buNone/>
            </a:pPr>
            <a:r>
              <a:rPr lang="en-US" sz="1200" b="1" dirty="0">
                <a:solidFill>
                  <a:schemeClr val="accent5"/>
                </a:solidFill>
              </a:rPr>
              <a:t>Based on</a:t>
            </a:r>
            <a:endParaRPr lang="en-US" sz="1200" dirty="0"/>
          </a:p>
        </p:txBody>
      </p:sp>
      <p:sp>
        <p:nvSpPr>
          <p:cNvPr id="6" name="Text 4"/>
          <p:cNvSpPr txBox="1"/>
          <p:nvPr/>
        </p:nvSpPr>
        <p:spPr>
          <a:xfrm>
            <a:off x="5806440" y="1691640"/>
            <a:ext cx="1371600" cy="274320"/>
          </a:xfrm>
          <a:prstGeom prst="rect">
            <a:avLst/>
          </a:prstGeom>
          <a:noFill/>
          <a:ln/>
        </p:spPr>
        <p:txBody>
          <a:bodyPr wrap="square" lIns="0" tIns="0" rIns="0" bIns="0" rtlCol="0" anchor="t"/>
          <a:lstStyle/>
          <a:p>
            <a:pPr indent="0" marL="0">
              <a:buNone/>
            </a:pPr>
            <a:r>
              <a:rPr lang="en-US" sz="1200" b="1" dirty="0">
                <a:solidFill>
                  <a:schemeClr val="accent5"/>
                </a:solidFill>
              </a:rPr>
              <a:t>Confidence</a:t>
            </a:r>
            <a:endParaRPr lang="en-US" sz="1200" dirty="0"/>
          </a:p>
        </p:txBody>
      </p:sp>
      <p:sp>
        <p:nvSpPr>
          <p:cNvPr id="7" name="Evidence Customer segments"/>
          <p:cNvSpPr/>
          <p:nvPr/>
        </p:nvSpPr>
        <p:spPr>
          <a:xfrm>
            <a:off x="548640" y="2011680"/>
            <a:ext cx="6720840" cy="713232"/>
          </a:xfrm>
          <a:prstGeom prst="roundRect">
            <a:avLst>
              <a:gd name="adj" fmla="val 17949"/>
            </a:avLst>
          </a:prstGeom>
          <a:solidFill>
            <a:schemeClr val="bg1"/>
          </a:solidFill>
          <a:ln/>
        </p:spPr>
      </p:sp>
      <p:sp>
        <p:nvSpPr>
          <p:cNvPr id="8" name="Text 6"/>
          <p:cNvSpPr txBox="1"/>
          <p:nvPr/>
        </p:nvSpPr>
        <p:spPr>
          <a:xfrm>
            <a:off x="777240" y="2011680"/>
            <a:ext cx="1965960" cy="713232"/>
          </a:xfrm>
          <a:prstGeom prst="rect">
            <a:avLst/>
          </a:prstGeom>
          <a:noFill/>
          <a:ln/>
        </p:spPr>
        <p:txBody>
          <a:bodyPr wrap="square" lIns="0" tIns="0" rIns="0" bIns="0" rtlCol="0" anchor="ctr"/>
          <a:lstStyle/>
          <a:p>
            <a:pPr indent="0" marL="0">
              <a:buNone/>
            </a:pPr>
            <a:r>
              <a:rPr lang="en-US" sz="1500" b="1" dirty="0">
                <a:solidFill>
                  <a:schemeClr val="tx2"/>
                </a:solidFill>
              </a:rPr>
              <a:t>Customer segments</a:t>
            </a:r>
            <a:endParaRPr lang="en-US" sz="1500" dirty="0"/>
          </a:p>
        </p:txBody>
      </p:sp>
      <p:sp>
        <p:nvSpPr>
          <p:cNvPr id="9" name="Text 7"/>
          <p:cNvSpPr txBox="1"/>
          <p:nvPr/>
        </p:nvSpPr>
        <p:spPr>
          <a:xfrm>
            <a:off x="2788920" y="2011680"/>
            <a:ext cx="2880360" cy="713232"/>
          </a:xfrm>
          <a:prstGeom prst="rect">
            <a:avLst/>
          </a:prstGeom>
          <a:noFill/>
          <a:ln/>
        </p:spPr>
        <p:txBody>
          <a:bodyPr wrap="square" lIns="0" tIns="0" rIns="0" bIns="0" rtlCol="0" anchor="ctr"/>
          <a:lstStyle/>
          <a:p>
            <a:pPr indent="0" marL="0">
              <a:buNone/>
            </a:pPr>
            <a:r>
              <a:rPr lang="en-US" sz="1200" dirty="0">
                <a:solidFill>
                  <a:schemeClr val="tx1"/>
                </a:solidFill>
              </a:rPr>
              <a:t>Interviews: students struggle most; only 5 people so far</a:t>
            </a:r>
            <a:endParaRPr lang="en-US" sz="1200" dirty="0"/>
          </a:p>
        </p:txBody>
      </p:sp>
      <p:sp>
        <p:nvSpPr>
          <p:cNvPr id="10" name="Confidence Customer segments 1"/>
          <p:cNvSpPr/>
          <p:nvPr/>
        </p:nvSpPr>
        <p:spPr>
          <a:xfrm>
            <a:off x="5852160" y="2267712"/>
            <a:ext cx="201168" cy="201168"/>
          </a:xfrm>
          <a:prstGeom prst="ellipse">
            <a:avLst/>
          </a:prstGeom>
          <a:solidFill>
            <a:schemeClr val="accent1"/>
          </a:solidFill>
          <a:ln w="12700">
            <a:solidFill>
              <a:srgbClr val="004AAD"/>
            </a:solidFill>
            <a:prstDash val="solid"/>
          </a:ln>
        </p:spPr>
      </p:sp>
      <p:sp>
        <p:nvSpPr>
          <p:cNvPr id="11" name="Confidence Customer segments 2"/>
          <p:cNvSpPr/>
          <p:nvPr/>
        </p:nvSpPr>
        <p:spPr>
          <a:xfrm>
            <a:off x="6181344" y="2267712"/>
            <a:ext cx="201168" cy="201168"/>
          </a:xfrm>
          <a:prstGeom prst="ellipse">
            <a:avLst/>
          </a:prstGeom>
          <a:solidFill>
            <a:schemeClr val="accent1"/>
          </a:solidFill>
          <a:ln w="12700">
            <a:solidFill>
              <a:srgbClr val="004AAD"/>
            </a:solidFill>
            <a:prstDash val="solid"/>
          </a:ln>
        </p:spPr>
      </p:sp>
      <p:sp>
        <p:nvSpPr>
          <p:cNvPr id="12" name="Confidence Customer segments 3"/>
          <p:cNvSpPr/>
          <p:nvPr/>
        </p:nvSpPr>
        <p:spPr>
          <a:xfrm>
            <a:off x="6510528" y="2267712"/>
            <a:ext cx="201168" cy="201168"/>
          </a:xfrm>
          <a:prstGeom prst="ellipse">
            <a:avLst/>
          </a:prstGeom>
          <a:solidFill>
            <a:schemeClr val="accent1"/>
          </a:solidFill>
          <a:ln w="12700">
            <a:solidFill>
              <a:srgbClr val="004AAD"/>
            </a:solidFill>
            <a:prstDash val="solid"/>
          </a:ln>
        </p:spPr>
      </p:sp>
      <p:sp>
        <p:nvSpPr>
          <p:cNvPr id="13" name="Confidence Customer segments 4"/>
          <p:cNvSpPr/>
          <p:nvPr/>
        </p:nvSpPr>
        <p:spPr>
          <a:xfrm>
            <a:off x="6839712" y="2267712"/>
            <a:ext cx="201168" cy="201168"/>
          </a:xfrm>
          <a:prstGeom prst="ellipse">
            <a:avLst/>
          </a:prstGeom>
          <a:solidFill>
            <a:schemeClr val="bg1"/>
          </a:solidFill>
          <a:ln w="12700">
            <a:solidFill>
              <a:srgbClr val="004AAD"/>
            </a:solidFill>
            <a:prstDash val="solid"/>
          </a:ln>
        </p:spPr>
      </p:sp>
      <p:sp>
        <p:nvSpPr>
          <p:cNvPr id="14" name="Evidence Value proposition"/>
          <p:cNvSpPr/>
          <p:nvPr/>
        </p:nvSpPr>
        <p:spPr>
          <a:xfrm>
            <a:off x="548640" y="2834640"/>
            <a:ext cx="6720840" cy="713232"/>
          </a:xfrm>
          <a:prstGeom prst="roundRect">
            <a:avLst>
              <a:gd name="adj" fmla="val 17949"/>
            </a:avLst>
          </a:prstGeom>
          <a:solidFill>
            <a:schemeClr val="bg1"/>
          </a:solidFill>
          <a:ln/>
        </p:spPr>
      </p:sp>
      <p:sp>
        <p:nvSpPr>
          <p:cNvPr id="15" name="Text 13"/>
          <p:cNvSpPr txBox="1"/>
          <p:nvPr/>
        </p:nvSpPr>
        <p:spPr>
          <a:xfrm>
            <a:off x="777240" y="2834640"/>
            <a:ext cx="1965960" cy="713232"/>
          </a:xfrm>
          <a:prstGeom prst="rect">
            <a:avLst/>
          </a:prstGeom>
          <a:noFill/>
          <a:ln/>
        </p:spPr>
        <p:txBody>
          <a:bodyPr wrap="square" lIns="0" tIns="0" rIns="0" bIns="0" rtlCol="0" anchor="ctr"/>
          <a:lstStyle/>
          <a:p>
            <a:pPr indent="0" marL="0">
              <a:buNone/>
            </a:pPr>
            <a:r>
              <a:rPr lang="en-US" sz="1500" b="1" dirty="0">
                <a:solidFill>
                  <a:schemeClr val="tx2"/>
                </a:solidFill>
              </a:rPr>
              <a:t>Value proposition</a:t>
            </a:r>
            <a:endParaRPr lang="en-US" sz="1500" dirty="0"/>
          </a:p>
        </p:txBody>
      </p:sp>
      <p:sp>
        <p:nvSpPr>
          <p:cNvPr id="16" name="Text 14"/>
          <p:cNvSpPr txBox="1"/>
          <p:nvPr/>
        </p:nvSpPr>
        <p:spPr>
          <a:xfrm>
            <a:off x="2788920" y="2834640"/>
            <a:ext cx="2880360" cy="713232"/>
          </a:xfrm>
          <a:prstGeom prst="rect">
            <a:avLst/>
          </a:prstGeom>
          <a:noFill/>
          <a:ln/>
        </p:spPr>
        <p:txBody>
          <a:bodyPr wrap="square" lIns="0" tIns="0" rIns="0" bIns="0" rtlCol="0" anchor="ctr"/>
          <a:lstStyle/>
          <a:p>
            <a:pPr indent="0" marL="0">
              <a:buNone/>
            </a:pPr>
            <a:r>
              <a:rPr lang="en-US" sz="1200" dirty="0">
                <a:solidFill>
                  <a:schemeClr val="tx1"/>
                </a:solidFill>
              </a:rPr>
              <a:t>Interviews: 4/5 price, 3/5 too few compatible roommates</a:t>
            </a:r>
            <a:endParaRPr lang="en-US" sz="1200" dirty="0"/>
          </a:p>
        </p:txBody>
      </p:sp>
      <p:sp>
        <p:nvSpPr>
          <p:cNvPr id="17" name="Confidence Value proposition 1"/>
          <p:cNvSpPr/>
          <p:nvPr/>
        </p:nvSpPr>
        <p:spPr>
          <a:xfrm>
            <a:off x="5852160" y="3090672"/>
            <a:ext cx="201168" cy="201168"/>
          </a:xfrm>
          <a:prstGeom prst="ellipse">
            <a:avLst/>
          </a:prstGeom>
          <a:solidFill>
            <a:schemeClr val="accent1"/>
          </a:solidFill>
          <a:ln w="12700">
            <a:solidFill>
              <a:srgbClr val="004AAD"/>
            </a:solidFill>
            <a:prstDash val="solid"/>
          </a:ln>
        </p:spPr>
      </p:sp>
      <p:sp>
        <p:nvSpPr>
          <p:cNvPr id="18" name="Confidence Value proposition 2"/>
          <p:cNvSpPr/>
          <p:nvPr/>
        </p:nvSpPr>
        <p:spPr>
          <a:xfrm>
            <a:off x="6181344" y="3090672"/>
            <a:ext cx="201168" cy="201168"/>
          </a:xfrm>
          <a:prstGeom prst="ellipse">
            <a:avLst/>
          </a:prstGeom>
          <a:solidFill>
            <a:schemeClr val="accent1"/>
          </a:solidFill>
          <a:ln w="12700">
            <a:solidFill>
              <a:srgbClr val="004AAD"/>
            </a:solidFill>
            <a:prstDash val="solid"/>
          </a:ln>
        </p:spPr>
      </p:sp>
      <p:sp>
        <p:nvSpPr>
          <p:cNvPr id="19" name="Confidence Value proposition 3"/>
          <p:cNvSpPr/>
          <p:nvPr/>
        </p:nvSpPr>
        <p:spPr>
          <a:xfrm>
            <a:off x="6510528" y="3090672"/>
            <a:ext cx="201168" cy="201168"/>
          </a:xfrm>
          <a:prstGeom prst="ellipse">
            <a:avLst/>
          </a:prstGeom>
          <a:solidFill>
            <a:schemeClr val="accent1"/>
          </a:solidFill>
          <a:ln w="12700">
            <a:solidFill>
              <a:srgbClr val="004AAD"/>
            </a:solidFill>
            <a:prstDash val="solid"/>
          </a:ln>
        </p:spPr>
      </p:sp>
      <p:sp>
        <p:nvSpPr>
          <p:cNvPr id="20" name="Confidence Value proposition 4"/>
          <p:cNvSpPr/>
          <p:nvPr/>
        </p:nvSpPr>
        <p:spPr>
          <a:xfrm>
            <a:off x="6839712" y="3090672"/>
            <a:ext cx="201168" cy="201168"/>
          </a:xfrm>
          <a:prstGeom prst="ellipse">
            <a:avLst/>
          </a:prstGeom>
          <a:solidFill>
            <a:schemeClr val="bg1"/>
          </a:solidFill>
          <a:ln w="12700">
            <a:solidFill>
              <a:srgbClr val="004AAD"/>
            </a:solidFill>
            <a:prstDash val="solid"/>
          </a:ln>
        </p:spPr>
      </p:sp>
      <p:sp>
        <p:nvSpPr>
          <p:cNvPr id="21" name="Evidence Channels"/>
          <p:cNvSpPr/>
          <p:nvPr/>
        </p:nvSpPr>
        <p:spPr>
          <a:xfrm>
            <a:off x="548640" y="3657600"/>
            <a:ext cx="6720840" cy="713232"/>
          </a:xfrm>
          <a:prstGeom prst="roundRect">
            <a:avLst>
              <a:gd name="adj" fmla="val 17949"/>
            </a:avLst>
          </a:prstGeom>
          <a:solidFill>
            <a:schemeClr val="bg1"/>
          </a:solidFill>
          <a:ln/>
        </p:spPr>
      </p:sp>
      <p:sp>
        <p:nvSpPr>
          <p:cNvPr id="22" name="Text 20"/>
          <p:cNvSpPr txBox="1"/>
          <p:nvPr/>
        </p:nvSpPr>
        <p:spPr>
          <a:xfrm>
            <a:off x="777240" y="3657600"/>
            <a:ext cx="1965960" cy="713232"/>
          </a:xfrm>
          <a:prstGeom prst="rect">
            <a:avLst/>
          </a:prstGeom>
          <a:noFill/>
          <a:ln/>
        </p:spPr>
        <p:txBody>
          <a:bodyPr wrap="square" lIns="0" tIns="0" rIns="0" bIns="0" rtlCol="0" anchor="ctr"/>
          <a:lstStyle/>
          <a:p>
            <a:pPr indent="0" marL="0">
              <a:buNone/>
            </a:pPr>
            <a:r>
              <a:rPr lang="en-US" sz="1500" b="1" dirty="0">
                <a:solidFill>
                  <a:schemeClr val="tx2"/>
                </a:solidFill>
              </a:rPr>
              <a:t>Channels</a:t>
            </a:r>
            <a:endParaRPr lang="en-US" sz="1500" dirty="0"/>
          </a:p>
        </p:txBody>
      </p:sp>
      <p:sp>
        <p:nvSpPr>
          <p:cNvPr id="23" name="Text 21"/>
          <p:cNvSpPr txBox="1"/>
          <p:nvPr/>
        </p:nvSpPr>
        <p:spPr>
          <a:xfrm>
            <a:off x="2788920" y="3657600"/>
            <a:ext cx="2880360" cy="713232"/>
          </a:xfrm>
          <a:prstGeom prst="rect">
            <a:avLst/>
          </a:prstGeom>
          <a:noFill/>
          <a:ln/>
        </p:spPr>
        <p:txBody>
          <a:bodyPr wrap="square" lIns="0" tIns="0" rIns="0" bIns="0" rtlCol="0" anchor="ctr"/>
          <a:lstStyle/>
          <a:p>
            <a:pPr indent="0" marL="0">
              <a:buNone/>
            </a:pPr>
            <a:r>
              <a:rPr lang="en-US" sz="1200" dirty="0">
                <a:solidFill>
                  <a:schemeClr val="tx1"/>
                </a:solidFill>
              </a:rPr>
              <a:t>Interviews: 4/5 already use Telegram or friends</a:t>
            </a:r>
            <a:endParaRPr lang="en-US" sz="1200" dirty="0"/>
          </a:p>
        </p:txBody>
      </p:sp>
      <p:sp>
        <p:nvSpPr>
          <p:cNvPr id="24" name="Confidence Channels 1"/>
          <p:cNvSpPr/>
          <p:nvPr/>
        </p:nvSpPr>
        <p:spPr>
          <a:xfrm>
            <a:off x="5852160" y="3913632"/>
            <a:ext cx="201168" cy="201168"/>
          </a:xfrm>
          <a:prstGeom prst="ellipse">
            <a:avLst/>
          </a:prstGeom>
          <a:solidFill>
            <a:schemeClr val="accent1"/>
          </a:solidFill>
          <a:ln w="12700">
            <a:solidFill>
              <a:srgbClr val="004AAD"/>
            </a:solidFill>
            <a:prstDash val="solid"/>
          </a:ln>
        </p:spPr>
      </p:sp>
      <p:sp>
        <p:nvSpPr>
          <p:cNvPr id="25" name="Confidence Channels 2"/>
          <p:cNvSpPr/>
          <p:nvPr/>
        </p:nvSpPr>
        <p:spPr>
          <a:xfrm>
            <a:off x="6181344" y="3913632"/>
            <a:ext cx="201168" cy="201168"/>
          </a:xfrm>
          <a:prstGeom prst="ellipse">
            <a:avLst/>
          </a:prstGeom>
          <a:solidFill>
            <a:schemeClr val="accent1"/>
          </a:solidFill>
          <a:ln w="12700">
            <a:solidFill>
              <a:srgbClr val="004AAD"/>
            </a:solidFill>
            <a:prstDash val="solid"/>
          </a:ln>
        </p:spPr>
      </p:sp>
      <p:sp>
        <p:nvSpPr>
          <p:cNvPr id="26" name="Confidence Channels 3"/>
          <p:cNvSpPr/>
          <p:nvPr/>
        </p:nvSpPr>
        <p:spPr>
          <a:xfrm>
            <a:off x="6510528" y="3913632"/>
            <a:ext cx="201168" cy="201168"/>
          </a:xfrm>
          <a:prstGeom prst="ellipse">
            <a:avLst/>
          </a:prstGeom>
          <a:solidFill>
            <a:schemeClr val="accent1"/>
          </a:solidFill>
          <a:ln w="12700">
            <a:solidFill>
              <a:srgbClr val="004AAD"/>
            </a:solidFill>
            <a:prstDash val="solid"/>
          </a:ln>
        </p:spPr>
      </p:sp>
      <p:sp>
        <p:nvSpPr>
          <p:cNvPr id="27" name="Confidence Channels 4"/>
          <p:cNvSpPr/>
          <p:nvPr/>
        </p:nvSpPr>
        <p:spPr>
          <a:xfrm>
            <a:off x="6839712" y="3913632"/>
            <a:ext cx="201168" cy="201168"/>
          </a:xfrm>
          <a:prstGeom prst="ellipse">
            <a:avLst/>
          </a:prstGeom>
          <a:solidFill>
            <a:schemeClr val="bg1"/>
          </a:solidFill>
          <a:ln w="12700">
            <a:solidFill>
              <a:srgbClr val="004AAD"/>
            </a:solidFill>
            <a:prstDash val="solid"/>
          </a:ln>
        </p:spPr>
      </p:sp>
      <p:sp>
        <p:nvSpPr>
          <p:cNvPr id="28" name="Evidence Relationships"/>
          <p:cNvSpPr/>
          <p:nvPr/>
        </p:nvSpPr>
        <p:spPr>
          <a:xfrm>
            <a:off x="548640" y="4480560"/>
            <a:ext cx="6720840" cy="713232"/>
          </a:xfrm>
          <a:prstGeom prst="roundRect">
            <a:avLst>
              <a:gd name="adj" fmla="val 17949"/>
            </a:avLst>
          </a:prstGeom>
          <a:solidFill>
            <a:schemeClr val="bg1"/>
          </a:solidFill>
          <a:ln/>
        </p:spPr>
      </p:sp>
      <p:sp>
        <p:nvSpPr>
          <p:cNvPr id="29" name="Text 27"/>
          <p:cNvSpPr txBox="1"/>
          <p:nvPr/>
        </p:nvSpPr>
        <p:spPr>
          <a:xfrm>
            <a:off x="777240" y="4480560"/>
            <a:ext cx="1965960" cy="713232"/>
          </a:xfrm>
          <a:prstGeom prst="rect">
            <a:avLst/>
          </a:prstGeom>
          <a:noFill/>
          <a:ln/>
        </p:spPr>
        <p:txBody>
          <a:bodyPr wrap="square" lIns="0" tIns="0" rIns="0" bIns="0" rtlCol="0" anchor="ctr"/>
          <a:lstStyle/>
          <a:p>
            <a:pPr indent="0" marL="0">
              <a:buNone/>
            </a:pPr>
            <a:r>
              <a:rPr lang="en-US" sz="1500" b="1" dirty="0">
                <a:solidFill>
                  <a:schemeClr val="tx2"/>
                </a:solidFill>
              </a:rPr>
              <a:t>Relationships</a:t>
            </a:r>
            <a:endParaRPr lang="en-US" sz="1500" dirty="0"/>
          </a:p>
        </p:txBody>
      </p:sp>
      <p:sp>
        <p:nvSpPr>
          <p:cNvPr id="30" name="Text 28"/>
          <p:cNvSpPr txBox="1"/>
          <p:nvPr/>
        </p:nvSpPr>
        <p:spPr>
          <a:xfrm>
            <a:off x="2788920" y="4480560"/>
            <a:ext cx="2880360" cy="713232"/>
          </a:xfrm>
          <a:prstGeom prst="rect">
            <a:avLst/>
          </a:prstGeom>
          <a:noFill/>
          <a:ln/>
        </p:spPr>
        <p:txBody>
          <a:bodyPr wrap="square" lIns="0" tIns="0" rIns="0" bIns="0" rtlCol="0" anchor="ctr"/>
          <a:lstStyle/>
          <a:p>
            <a:pPr indent="0" marL="0">
              <a:buNone/>
            </a:pPr>
            <a:r>
              <a:rPr lang="en-US" sz="1200" dirty="0">
                <a:solidFill>
                  <a:schemeClr val="tx1"/>
                </a:solidFill>
              </a:rPr>
              <a:t>Assumption: will students trust strangers online?</a:t>
            </a:r>
            <a:endParaRPr lang="en-US" sz="1200" dirty="0"/>
          </a:p>
        </p:txBody>
      </p:sp>
      <p:sp>
        <p:nvSpPr>
          <p:cNvPr id="31" name="Confidence Relationships 1"/>
          <p:cNvSpPr/>
          <p:nvPr/>
        </p:nvSpPr>
        <p:spPr>
          <a:xfrm>
            <a:off x="5852160" y="4736592"/>
            <a:ext cx="201168" cy="201168"/>
          </a:xfrm>
          <a:prstGeom prst="ellipse">
            <a:avLst/>
          </a:prstGeom>
          <a:solidFill>
            <a:schemeClr val="accent1"/>
          </a:solidFill>
          <a:ln w="12700">
            <a:solidFill>
              <a:srgbClr val="004AAD"/>
            </a:solidFill>
            <a:prstDash val="solid"/>
          </a:ln>
        </p:spPr>
      </p:sp>
      <p:sp>
        <p:nvSpPr>
          <p:cNvPr id="32" name="Confidence Relationships 2"/>
          <p:cNvSpPr/>
          <p:nvPr/>
        </p:nvSpPr>
        <p:spPr>
          <a:xfrm>
            <a:off x="6181344" y="4736592"/>
            <a:ext cx="201168" cy="201168"/>
          </a:xfrm>
          <a:prstGeom prst="ellipse">
            <a:avLst/>
          </a:prstGeom>
          <a:solidFill>
            <a:schemeClr val="accent1"/>
          </a:solidFill>
          <a:ln w="12700">
            <a:solidFill>
              <a:srgbClr val="004AAD"/>
            </a:solidFill>
            <a:prstDash val="solid"/>
          </a:ln>
        </p:spPr>
      </p:sp>
      <p:sp>
        <p:nvSpPr>
          <p:cNvPr id="33" name="Confidence Relationships 3"/>
          <p:cNvSpPr/>
          <p:nvPr/>
        </p:nvSpPr>
        <p:spPr>
          <a:xfrm>
            <a:off x="6510528" y="4736592"/>
            <a:ext cx="201168" cy="201168"/>
          </a:xfrm>
          <a:prstGeom prst="ellipse">
            <a:avLst/>
          </a:prstGeom>
          <a:solidFill>
            <a:schemeClr val="bg1"/>
          </a:solidFill>
          <a:ln w="12700">
            <a:solidFill>
              <a:srgbClr val="004AAD"/>
            </a:solidFill>
            <a:prstDash val="solid"/>
          </a:ln>
        </p:spPr>
      </p:sp>
      <p:sp>
        <p:nvSpPr>
          <p:cNvPr id="34" name="Confidence Relationships 4"/>
          <p:cNvSpPr/>
          <p:nvPr/>
        </p:nvSpPr>
        <p:spPr>
          <a:xfrm>
            <a:off x="6839712" y="4736592"/>
            <a:ext cx="201168" cy="201168"/>
          </a:xfrm>
          <a:prstGeom prst="ellipse">
            <a:avLst/>
          </a:prstGeom>
          <a:solidFill>
            <a:schemeClr val="bg1"/>
          </a:solidFill>
          <a:ln w="12700">
            <a:solidFill>
              <a:srgbClr val="004AAD"/>
            </a:solidFill>
            <a:prstDash val="solid"/>
          </a:ln>
        </p:spPr>
      </p:sp>
      <p:sp>
        <p:nvSpPr>
          <p:cNvPr id="35" name="Evidence Revenue streams"/>
          <p:cNvSpPr/>
          <p:nvPr/>
        </p:nvSpPr>
        <p:spPr>
          <a:xfrm>
            <a:off x="548640" y="5303520"/>
            <a:ext cx="6720840" cy="713232"/>
          </a:xfrm>
          <a:prstGeom prst="roundRect">
            <a:avLst>
              <a:gd name="adj" fmla="val 17949"/>
            </a:avLst>
          </a:prstGeom>
          <a:solidFill>
            <a:schemeClr val="accent2"/>
          </a:solidFill>
          <a:ln/>
        </p:spPr>
      </p:sp>
      <p:sp>
        <p:nvSpPr>
          <p:cNvPr id="36" name="Text 34"/>
          <p:cNvSpPr txBox="1"/>
          <p:nvPr/>
        </p:nvSpPr>
        <p:spPr>
          <a:xfrm>
            <a:off x="777240" y="5303520"/>
            <a:ext cx="1965960" cy="713232"/>
          </a:xfrm>
          <a:prstGeom prst="rect">
            <a:avLst/>
          </a:prstGeom>
          <a:noFill/>
          <a:ln/>
        </p:spPr>
        <p:txBody>
          <a:bodyPr wrap="square" lIns="0" tIns="0" rIns="0" bIns="0" rtlCol="0" anchor="ctr"/>
          <a:lstStyle/>
          <a:p>
            <a:pPr indent="0" marL="0">
              <a:buNone/>
            </a:pPr>
            <a:r>
              <a:rPr lang="en-US" sz="1500" b="1" dirty="0">
                <a:solidFill>
                  <a:schemeClr val="bg1"/>
                </a:solidFill>
              </a:rPr>
              <a:t>Revenue streams</a:t>
            </a:r>
            <a:endParaRPr lang="en-US" sz="1500" dirty="0"/>
          </a:p>
        </p:txBody>
      </p:sp>
      <p:sp>
        <p:nvSpPr>
          <p:cNvPr id="37" name="Text 35"/>
          <p:cNvSpPr txBox="1"/>
          <p:nvPr/>
        </p:nvSpPr>
        <p:spPr>
          <a:xfrm>
            <a:off x="2788920" y="5303520"/>
            <a:ext cx="2880360" cy="713232"/>
          </a:xfrm>
          <a:prstGeom prst="rect">
            <a:avLst/>
          </a:prstGeom>
          <a:noFill/>
          <a:ln/>
        </p:spPr>
        <p:txBody>
          <a:bodyPr wrap="square" lIns="0" tIns="0" rIns="0" bIns="0" rtlCol="0" anchor="ctr"/>
          <a:lstStyle/>
          <a:p>
            <a:pPr indent="0" marL="0">
              <a:buNone/>
            </a:pPr>
            <a:r>
              <a:rPr lang="en-US" sz="1200" dirty="0">
                <a:solidFill>
                  <a:schemeClr val="bg1"/>
                </a:solidFill>
              </a:rPr>
              <a:t>Assumption: no one has paid; Telegram channels are free</a:t>
            </a:r>
            <a:endParaRPr lang="en-US" sz="1200" dirty="0"/>
          </a:p>
        </p:txBody>
      </p:sp>
      <p:sp>
        <p:nvSpPr>
          <p:cNvPr id="38" name="Confidence Revenue streams 1"/>
          <p:cNvSpPr/>
          <p:nvPr/>
        </p:nvSpPr>
        <p:spPr>
          <a:xfrm>
            <a:off x="5852160" y="5559552"/>
            <a:ext cx="201168" cy="201168"/>
          </a:xfrm>
          <a:prstGeom prst="ellipse">
            <a:avLst/>
          </a:prstGeom>
          <a:solidFill>
            <a:schemeClr val="bg1"/>
          </a:solidFill>
          <a:ln w="12700">
            <a:solidFill>
              <a:srgbClr val="FFFFFF"/>
            </a:solidFill>
            <a:prstDash val="solid"/>
          </a:ln>
        </p:spPr>
      </p:sp>
      <p:sp>
        <p:nvSpPr>
          <p:cNvPr id="39" name="Confidence Revenue streams 2"/>
          <p:cNvSpPr/>
          <p:nvPr/>
        </p:nvSpPr>
        <p:spPr>
          <a:xfrm>
            <a:off x="6181344" y="5559552"/>
            <a:ext cx="201168" cy="201168"/>
          </a:xfrm>
          <a:prstGeom prst="ellipse">
            <a:avLst/>
          </a:prstGeom>
          <a:solidFill>
            <a:schemeClr val="accent2"/>
          </a:solidFill>
          <a:ln w="12700">
            <a:solidFill>
              <a:srgbClr val="FFFFFF"/>
            </a:solidFill>
            <a:prstDash val="solid"/>
          </a:ln>
        </p:spPr>
      </p:sp>
      <p:sp>
        <p:nvSpPr>
          <p:cNvPr id="40" name="Confidence Revenue streams 3"/>
          <p:cNvSpPr/>
          <p:nvPr/>
        </p:nvSpPr>
        <p:spPr>
          <a:xfrm>
            <a:off x="6510528" y="5559552"/>
            <a:ext cx="201168" cy="201168"/>
          </a:xfrm>
          <a:prstGeom prst="ellipse">
            <a:avLst/>
          </a:prstGeom>
          <a:solidFill>
            <a:schemeClr val="accent2"/>
          </a:solidFill>
          <a:ln w="12700">
            <a:solidFill>
              <a:srgbClr val="FFFFFF"/>
            </a:solidFill>
            <a:prstDash val="solid"/>
          </a:ln>
        </p:spPr>
      </p:sp>
      <p:sp>
        <p:nvSpPr>
          <p:cNvPr id="41" name="Confidence Revenue streams 4"/>
          <p:cNvSpPr/>
          <p:nvPr/>
        </p:nvSpPr>
        <p:spPr>
          <a:xfrm>
            <a:off x="6839712" y="5559552"/>
            <a:ext cx="201168" cy="201168"/>
          </a:xfrm>
          <a:prstGeom prst="ellipse">
            <a:avLst/>
          </a:prstGeom>
          <a:solidFill>
            <a:schemeClr val="accent2"/>
          </a:solidFill>
          <a:ln w="12700">
            <a:solidFill>
              <a:srgbClr val="FFFFFF"/>
            </a:solidFill>
            <a:prstDash val="solid"/>
          </a:ln>
        </p:spPr>
      </p:sp>
      <p:sp>
        <p:nvSpPr>
          <p:cNvPr id="42" name="Least sure card"/>
          <p:cNvSpPr/>
          <p:nvPr/>
        </p:nvSpPr>
        <p:spPr>
          <a:xfrm>
            <a:off x="7543800" y="1691640"/>
            <a:ext cx="4114800" cy="4434840"/>
          </a:xfrm>
          <a:prstGeom prst="roundRect">
            <a:avLst>
              <a:gd name="adj" fmla="val 3111"/>
            </a:avLst>
          </a:prstGeom>
          <a:solidFill>
            <a:schemeClr val="tx2"/>
          </a:solidFill>
          <a:ln/>
        </p:spPr>
      </p:sp>
      <p:pic>
        <p:nvPicPr>
          <p:cNvPr id="43" name="Question icon" descr="preencoded.png">    </p:cNvPr>
          <p:cNvPicPr>
            <a:picLocks noChangeAspect="1"/>
          </p:cNvPicPr>
          <p:nvPr/>
        </p:nvPicPr>
        <p:blipFill>
          <a:blip r:embed="rId1"/>
          <a:stretch>
            <a:fillRect/>
          </a:stretch>
        </p:blipFill>
        <p:spPr>
          <a:xfrm>
            <a:off x="7772400" y="1901952"/>
            <a:ext cx="548640" cy="548640"/>
          </a:xfrm>
          <a:prstGeom prst="rect">
            <a:avLst/>
          </a:prstGeom>
        </p:spPr>
      </p:pic>
      <p:sp>
        <p:nvSpPr>
          <p:cNvPr id="44" name="Text 41"/>
          <p:cNvSpPr txBox="1"/>
          <p:nvPr/>
        </p:nvSpPr>
        <p:spPr>
          <a:xfrm>
            <a:off x="8458200" y="1901952"/>
            <a:ext cx="3063240" cy="548640"/>
          </a:xfrm>
          <a:prstGeom prst="rect">
            <a:avLst/>
          </a:prstGeom>
          <a:noFill/>
          <a:ln/>
        </p:spPr>
        <p:txBody>
          <a:bodyPr wrap="square" lIns="0" tIns="0" rIns="0" bIns="0" rtlCol="0" anchor="ctr"/>
          <a:lstStyle/>
          <a:p>
            <a:pPr indent="0" marL="0">
              <a:buNone/>
            </a:pPr>
            <a:r>
              <a:rPr lang="en-US" sz="1700" b="1" dirty="0">
                <a:solidFill>
                  <a:schemeClr val="accent6"/>
                </a:solidFill>
              </a:rPr>
              <a:t>Least sure: revenue streams</a:t>
            </a:r>
            <a:endParaRPr lang="en-US" sz="1700" dirty="0"/>
          </a:p>
        </p:txBody>
      </p:sp>
      <p:sp>
        <p:nvSpPr>
          <p:cNvPr id="45" name="Text 42"/>
          <p:cNvSpPr txBox="1"/>
          <p:nvPr/>
        </p:nvSpPr>
        <p:spPr>
          <a:xfrm>
            <a:off x="7772400" y="2651760"/>
            <a:ext cx="3657600" cy="868680"/>
          </a:xfrm>
          <a:prstGeom prst="rect">
            <a:avLst/>
          </a:prstGeom>
          <a:noFill/>
          <a:ln/>
        </p:spPr>
        <p:txBody>
          <a:bodyPr wrap="square" lIns="0" tIns="0" rIns="0" bIns="0" rtlCol="0" anchor="t"/>
          <a:lstStyle/>
          <a:p>
            <a:pPr indent="0" marL="0">
              <a:buNone/>
            </a:pPr>
            <a:r>
              <a:rPr lang="en-US" sz="1500" b="1" dirty="0">
                <a:solidFill>
                  <a:schemeClr val="bg1"/>
                </a:solidFill>
              </a:rPr>
              <a:t>Will students pay $10 a month when Telegram housing channels are free?</a:t>
            </a:r>
            <a:endParaRPr lang="en-US" sz="1500" dirty="0"/>
          </a:p>
        </p:txBody>
      </p:sp>
      <p:sp>
        <p:nvSpPr>
          <p:cNvPr id="46" name="Text 43"/>
          <p:cNvSpPr txBox="1"/>
          <p:nvPr/>
        </p:nvSpPr>
        <p:spPr>
          <a:xfrm>
            <a:off x="7772400" y="3520440"/>
            <a:ext cx="3657600" cy="777240"/>
          </a:xfrm>
          <a:prstGeom prst="rect">
            <a:avLst/>
          </a:prstGeom>
          <a:noFill/>
          <a:ln/>
        </p:spPr>
        <p:txBody>
          <a:bodyPr wrap="square" lIns="0" tIns="0" rIns="0" bIns="0" rtlCol="0" anchor="t"/>
          <a:lstStyle/>
          <a:p>
            <a:pPr indent="0" marL="0">
              <a:buNone/>
            </a:pPr>
            <a:r>
              <a:rPr lang="en-US" sz="1300" dirty="0">
                <a:solidFill>
                  <a:schemeClr val="bg2"/>
                </a:solidFill>
              </a:rPr>
              <a:t>Interviews showed the pain, not willingness to pay. None of the 5 has ever paid for roommate matching.</a:t>
            </a:r>
            <a:endParaRPr lang="en-US" sz="1300" dirty="0"/>
          </a:p>
        </p:txBody>
      </p:sp>
      <p:sp>
        <p:nvSpPr>
          <p:cNvPr id="47" name="Test circle"/>
          <p:cNvSpPr/>
          <p:nvPr/>
        </p:nvSpPr>
        <p:spPr>
          <a:xfrm>
            <a:off x="7772400" y="4434840"/>
            <a:ext cx="457200" cy="457200"/>
          </a:xfrm>
          <a:prstGeom prst="ellipse">
            <a:avLst/>
          </a:prstGeom>
          <a:solidFill>
            <a:schemeClr val="accent2"/>
          </a:solidFill>
          <a:ln/>
        </p:spPr>
      </p:sp>
      <p:pic>
        <p:nvPicPr>
          <p:cNvPr id="48" name="Test icon" descr="preencoded.png">    </p:cNvPr>
          <p:cNvPicPr>
            <a:picLocks noChangeAspect="1"/>
          </p:cNvPicPr>
          <p:nvPr/>
        </p:nvPicPr>
        <p:blipFill>
          <a:blip r:embed="rId2"/>
          <a:stretch>
            <a:fillRect/>
          </a:stretch>
        </p:blipFill>
        <p:spPr>
          <a:xfrm>
            <a:off x="7886700" y="4549140"/>
            <a:ext cx="228600" cy="228600"/>
          </a:xfrm>
          <a:prstGeom prst="rect">
            <a:avLst/>
          </a:prstGeom>
        </p:spPr>
      </p:pic>
      <p:sp>
        <p:nvSpPr>
          <p:cNvPr id="49" name="Text 45"/>
          <p:cNvSpPr txBox="1"/>
          <p:nvPr/>
        </p:nvSpPr>
        <p:spPr>
          <a:xfrm>
            <a:off x="8366760" y="4453128"/>
            <a:ext cx="3017520" cy="411480"/>
          </a:xfrm>
          <a:prstGeom prst="rect">
            <a:avLst/>
          </a:prstGeom>
          <a:noFill/>
          <a:ln/>
        </p:spPr>
        <p:txBody>
          <a:bodyPr wrap="square" lIns="0" tIns="0" rIns="0" bIns="0" rtlCol="0" anchor="ctr"/>
          <a:lstStyle/>
          <a:p>
            <a:pPr indent="0" marL="0">
              <a:buNone/>
            </a:pPr>
            <a:r>
              <a:rPr lang="en-US" sz="1500" b="1" dirty="0">
                <a:solidFill>
                  <a:schemeClr val="bg1"/>
                </a:solidFill>
              </a:rPr>
              <a:t>How we will test it</a:t>
            </a:r>
            <a:endParaRPr lang="en-US" sz="1500" dirty="0"/>
          </a:p>
        </p:txBody>
      </p:sp>
      <p:sp>
        <p:nvSpPr>
          <p:cNvPr id="50" name="Text 46"/>
          <p:cNvSpPr txBox="1"/>
          <p:nvPr/>
        </p:nvSpPr>
        <p:spPr>
          <a:xfrm>
            <a:off x="7772400" y="4983480"/>
            <a:ext cx="3657600" cy="1005840"/>
          </a:xfrm>
          <a:prstGeom prst="rect">
            <a:avLst/>
          </a:prstGeom>
          <a:noFill/>
          <a:ln/>
        </p:spPr>
        <p:txBody>
          <a:bodyPr wrap="square" lIns="0" tIns="0" rIns="0" bIns="0" rtlCol="0" anchor="t"/>
          <a:lstStyle/>
          <a:p>
            <a:pPr indent="0" marL="0">
              <a:buNone/>
            </a:pPr>
            <a:r>
              <a:rPr lang="en-US" sz="1300" dirty="0">
                <a:solidFill>
                  <a:schemeClr val="bg1"/>
                </a:solidFill>
              </a:rPr>
              <a:t>Run matching in the bot for 2 weeks at our university. Success: at least 10 of 30 active students pay to build a group.</a:t>
            </a:r>
            <a:endParaRPr lang="en-US" sz="1300" dirty="0"/>
          </a:p>
        </p:txBody>
      </p:sp>
      <p:sp>
        <p:nvSpPr>
          <p:cNvPr id="25" name="Slide Number Placeholder 0"/>
          <p:cNvSpPr>
            <a:spLocks noGrp="1"/>
          </p:cNvSpPr>
          <p:nvPr>
            <p:ph type="sldNum" sz="quarter" idx="4294967295"/>
          </p:nvPr>
        </p:nvSpPr>
        <p:spPr>
          <a:xfrm>
            <a:off x="1120140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1325880" y="320040"/>
            <a:ext cx="8686800" cy="594360"/>
          </a:xfrm>
          <a:prstGeom prst="rect">
            <a:avLst/>
          </a:prstGeom>
          <a:noFill/>
          <a:ln/>
        </p:spPr>
        <p:txBody>
          <a:bodyPr wrap="square" lIns="0" tIns="0" rIns="0" bIns="0" rtlCol="0" anchor="ctr"/>
          <a:lstStyle/>
          <a:p>
            <a:pPr algn="l" indent="0" marL="0">
              <a:buNone/>
            </a:pPr>
            <a:r>
              <a:rPr lang="en-US" sz="3000" b="1" dirty="0">
                <a:solidFill>
                  <a:schemeClr val="bg1"/>
                </a:solidFill>
              </a:rPr>
              <a:t>Our customer side on one page</a:t>
            </a:r>
            <a:endParaRPr lang="en-US" sz="3000" dirty="0"/>
          </a:p>
        </p:txBody>
      </p:sp>
      <p:sp>
        <p:nvSpPr>
          <p:cNvPr id="3" name="VP block"/>
          <p:cNvSpPr/>
          <p:nvPr/>
        </p:nvSpPr>
        <p:spPr>
          <a:xfrm>
            <a:off x="548640" y="1234440"/>
            <a:ext cx="3657600" cy="3337560"/>
          </a:xfrm>
          <a:prstGeom prst="roundRect">
            <a:avLst>
              <a:gd name="adj" fmla="val 3836"/>
            </a:avLst>
          </a:prstGeom>
          <a:solidFill>
            <a:schemeClr val="accent1"/>
          </a:solidFill>
          <a:ln/>
        </p:spPr>
      </p:sp>
      <p:sp>
        <p:nvSpPr>
          <p:cNvPr id="4" name="VP block circle"/>
          <p:cNvSpPr/>
          <p:nvPr/>
        </p:nvSpPr>
        <p:spPr>
          <a:xfrm>
            <a:off x="3429000" y="3794760"/>
            <a:ext cx="548640" cy="548640"/>
          </a:xfrm>
          <a:prstGeom prst="ellipse">
            <a:avLst/>
          </a:prstGeom>
          <a:solidFill>
            <a:schemeClr val="tx2"/>
          </a:solidFill>
          <a:ln/>
        </p:spPr>
      </p:sp>
      <p:pic>
        <p:nvPicPr>
          <p:cNvPr id="5" name="VP block icon" descr="preencoded.png">    </p:cNvPr>
          <p:cNvPicPr>
            <a:picLocks noChangeAspect="1"/>
          </p:cNvPicPr>
          <p:nvPr/>
        </p:nvPicPr>
        <p:blipFill>
          <a:blip r:embed="rId1"/>
          <a:stretch>
            <a:fillRect/>
          </a:stretch>
        </p:blipFill>
        <p:spPr>
          <a:xfrm>
            <a:off x="3566160" y="3931920"/>
            <a:ext cx="274320" cy="274320"/>
          </a:xfrm>
          <a:prstGeom prst="rect">
            <a:avLst/>
          </a:prstGeom>
        </p:spPr>
      </p:pic>
      <p:sp>
        <p:nvSpPr>
          <p:cNvPr id="6" name="Text 3"/>
          <p:cNvSpPr txBox="1"/>
          <p:nvPr/>
        </p:nvSpPr>
        <p:spPr>
          <a:xfrm>
            <a:off x="731520" y="1371600"/>
            <a:ext cx="3291840" cy="274320"/>
          </a:xfrm>
          <a:prstGeom prst="rect">
            <a:avLst/>
          </a:prstGeom>
          <a:noFill/>
          <a:ln/>
        </p:spPr>
        <p:txBody>
          <a:bodyPr wrap="square" lIns="0" tIns="0" rIns="0" bIns="0" rtlCol="0" anchor="t"/>
          <a:lstStyle/>
          <a:p>
            <a:pPr indent="0" marL="0">
              <a:buNone/>
            </a:pPr>
            <a:r>
              <a:rPr lang="en-US" sz="1100" b="1" spc="100" kern="0" dirty="0">
                <a:solidFill>
                  <a:schemeClr val="accent6"/>
                </a:solidFill>
              </a:rPr>
              <a:t>VALUE PROPOSITION</a:t>
            </a:r>
            <a:endParaRPr lang="en-US" sz="1100" dirty="0"/>
          </a:p>
        </p:txBody>
      </p:sp>
      <p:sp>
        <p:nvSpPr>
          <p:cNvPr id="7" name="Text 4"/>
          <p:cNvSpPr txBox="1"/>
          <p:nvPr/>
        </p:nvSpPr>
        <p:spPr>
          <a:xfrm>
            <a:off x="731520" y="1691640"/>
            <a:ext cx="3291840" cy="2788920"/>
          </a:xfrm>
          <a:prstGeom prst="rect">
            <a:avLst/>
          </a:prstGeom>
          <a:noFill/>
          <a:ln/>
        </p:spPr>
        <p:txBody>
          <a:bodyPr wrap="square" lIns="0" tIns="0" rIns="0" bIns="0" rtlCol="0" anchor="t"/>
          <a:lstStyle/>
          <a:p>
            <a:pPr indent="0" marL="0">
              <a:buNone/>
            </a:pPr>
            <a:r>
              <a:rPr lang="en-US" sz="1600" dirty="0">
                <a:solidFill>
                  <a:schemeClr val="bg1"/>
                </a:solidFill>
              </a:rPr>
              <a:t>Compatible roommates matched by budget, area and lifestyle, and a group of 3–5 ready to rent together. Not just listings.</a:t>
            </a:r>
            <a:endParaRPr lang="en-US" sz="1600" dirty="0"/>
          </a:p>
        </p:txBody>
      </p:sp>
      <p:sp>
        <p:nvSpPr>
          <p:cNvPr id="8" name="CR block"/>
          <p:cNvSpPr/>
          <p:nvPr/>
        </p:nvSpPr>
        <p:spPr>
          <a:xfrm>
            <a:off x="4343400" y="1234440"/>
            <a:ext cx="3611880" cy="1600200"/>
          </a:xfrm>
          <a:prstGeom prst="roundRect">
            <a:avLst>
              <a:gd name="adj" fmla="val 8000"/>
            </a:avLst>
          </a:prstGeom>
          <a:solidFill>
            <a:schemeClr val="bg1"/>
          </a:solidFill>
          <a:ln/>
        </p:spPr>
      </p:sp>
      <p:sp>
        <p:nvSpPr>
          <p:cNvPr id="9" name="Text 6"/>
          <p:cNvSpPr txBox="1"/>
          <p:nvPr/>
        </p:nvSpPr>
        <p:spPr>
          <a:xfrm>
            <a:off x="4526280" y="1371600"/>
            <a:ext cx="3246120" cy="274320"/>
          </a:xfrm>
          <a:prstGeom prst="rect">
            <a:avLst/>
          </a:prstGeom>
          <a:noFill/>
          <a:ln/>
        </p:spPr>
        <p:txBody>
          <a:bodyPr wrap="square" lIns="0" tIns="0" rIns="0" bIns="0" rtlCol="0" anchor="t"/>
          <a:lstStyle/>
          <a:p>
            <a:pPr indent="0" marL="0">
              <a:buNone/>
            </a:pPr>
            <a:r>
              <a:rPr lang="en-US" sz="1100" b="1" spc="100" kern="0" dirty="0">
                <a:solidFill>
                  <a:schemeClr val="accent2"/>
                </a:solidFill>
              </a:rPr>
              <a:t>CUSTOMER RELATIONSHIPS</a:t>
            </a:r>
            <a:endParaRPr lang="en-US" sz="1100" dirty="0"/>
          </a:p>
        </p:txBody>
      </p:sp>
      <p:sp>
        <p:nvSpPr>
          <p:cNvPr id="10" name="Text 7"/>
          <p:cNvSpPr txBox="1"/>
          <p:nvPr/>
        </p:nvSpPr>
        <p:spPr>
          <a:xfrm>
            <a:off x="4526280" y="1691640"/>
            <a:ext cx="3246120" cy="1051560"/>
          </a:xfrm>
          <a:prstGeom prst="rect">
            <a:avLst/>
          </a:prstGeom>
          <a:noFill/>
          <a:ln/>
        </p:spPr>
        <p:txBody>
          <a:bodyPr wrap="square" lIns="0" tIns="0" rIns="0" bIns="0" rtlCol="0" anchor="t"/>
          <a:lstStyle/>
          <a:p>
            <a:pPr indent="0" marL="0">
              <a:buNone/>
            </a:pPr>
            <a:r>
              <a:rPr lang="en-US" sz="1600" dirty="0">
                <a:solidFill>
                  <a:schemeClr val="tx1"/>
                </a:solidFill>
              </a:rPr>
              <a:t>Personal help for the first groups; automated matching, verification and community after.</a:t>
            </a:r>
            <a:endParaRPr lang="en-US" sz="1600" dirty="0"/>
          </a:p>
        </p:txBody>
      </p:sp>
      <p:sp>
        <p:nvSpPr>
          <p:cNvPr id="11" name="CH block"/>
          <p:cNvSpPr/>
          <p:nvPr/>
        </p:nvSpPr>
        <p:spPr>
          <a:xfrm>
            <a:off x="4343400" y="2971800"/>
            <a:ext cx="3611880" cy="1600200"/>
          </a:xfrm>
          <a:prstGeom prst="roundRect">
            <a:avLst>
              <a:gd name="adj" fmla="val 8000"/>
            </a:avLst>
          </a:prstGeom>
          <a:solidFill>
            <a:schemeClr val="bg1"/>
          </a:solidFill>
          <a:ln/>
        </p:spPr>
      </p:sp>
      <p:sp>
        <p:nvSpPr>
          <p:cNvPr id="12" name="Text 9"/>
          <p:cNvSpPr txBox="1"/>
          <p:nvPr/>
        </p:nvSpPr>
        <p:spPr>
          <a:xfrm>
            <a:off x="4526280" y="3108960"/>
            <a:ext cx="3246120" cy="274320"/>
          </a:xfrm>
          <a:prstGeom prst="rect">
            <a:avLst/>
          </a:prstGeom>
          <a:noFill/>
          <a:ln/>
        </p:spPr>
        <p:txBody>
          <a:bodyPr wrap="square" lIns="0" tIns="0" rIns="0" bIns="0" rtlCol="0" anchor="t"/>
          <a:lstStyle/>
          <a:p>
            <a:pPr indent="0" marL="0">
              <a:buNone/>
            </a:pPr>
            <a:r>
              <a:rPr lang="en-US" sz="1100" b="1" spc="100" kern="0" dirty="0">
                <a:solidFill>
                  <a:schemeClr val="accent2"/>
                </a:solidFill>
              </a:rPr>
              <a:t>CHANNELS</a:t>
            </a:r>
            <a:endParaRPr lang="en-US" sz="1100" dirty="0"/>
          </a:p>
        </p:txBody>
      </p:sp>
      <p:sp>
        <p:nvSpPr>
          <p:cNvPr id="13" name="Text 10"/>
          <p:cNvSpPr txBox="1"/>
          <p:nvPr/>
        </p:nvSpPr>
        <p:spPr>
          <a:xfrm>
            <a:off x="4526280" y="3429000"/>
            <a:ext cx="3246120" cy="1051560"/>
          </a:xfrm>
          <a:prstGeom prst="rect">
            <a:avLst/>
          </a:prstGeom>
          <a:noFill/>
          <a:ln/>
        </p:spPr>
        <p:txBody>
          <a:bodyPr wrap="square" lIns="0" tIns="0" rIns="0" bIns="0" rtlCol="0" anchor="t"/>
          <a:lstStyle/>
          <a:p>
            <a:pPr indent="0" marL="0">
              <a:buNone/>
            </a:pPr>
            <a:r>
              <a:rPr lang="en-US" sz="1600" dirty="0">
                <a:solidFill>
                  <a:schemeClr val="tx1"/>
                </a:solidFill>
              </a:rPr>
              <a:t>Telegram groups, Instagram and campus to reach; our Telegram bot to sell and deliver.</a:t>
            </a:r>
            <a:endParaRPr lang="en-US" sz="1600" dirty="0"/>
          </a:p>
        </p:txBody>
      </p:sp>
      <p:sp>
        <p:nvSpPr>
          <p:cNvPr id="14" name="CS block"/>
          <p:cNvSpPr/>
          <p:nvPr/>
        </p:nvSpPr>
        <p:spPr>
          <a:xfrm>
            <a:off x="8092440" y="1234440"/>
            <a:ext cx="3566160" cy="3337560"/>
          </a:xfrm>
          <a:prstGeom prst="roundRect">
            <a:avLst>
              <a:gd name="adj" fmla="val 3836"/>
            </a:avLst>
          </a:prstGeom>
          <a:solidFill>
            <a:schemeClr val="bg1"/>
          </a:solidFill>
          <a:ln/>
        </p:spPr>
      </p:sp>
      <p:sp>
        <p:nvSpPr>
          <p:cNvPr id="15" name="CS block circle"/>
          <p:cNvSpPr/>
          <p:nvPr/>
        </p:nvSpPr>
        <p:spPr>
          <a:xfrm>
            <a:off x="10881360" y="3794760"/>
            <a:ext cx="548640" cy="548640"/>
          </a:xfrm>
          <a:prstGeom prst="ellipse">
            <a:avLst/>
          </a:prstGeom>
          <a:solidFill>
            <a:schemeClr val="accent2"/>
          </a:solidFill>
          <a:ln/>
        </p:spPr>
      </p:sp>
      <p:pic>
        <p:nvPicPr>
          <p:cNvPr id="16" name="CS block icon" descr="preencoded.png">    </p:cNvPr>
          <p:cNvPicPr>
            <a:picLocks noChangeAspect="1"/>
          </p:cNvPicPr>
          <p:nvPr/>
        </p:nvPicPr>
        <p:blipFill>
          <a:blip r:embed="rId2"/>
          <a:stretch>
            <a:fillRect/>
          </a:stretch>
        </p:blipFill>
        <p:spPr>
          <a:xfrm>
            <a:off x="11018520" y="3931920"/>
            <a:ext cx="274320" cy="274320"/>
          </a:xfrm>
          <a:prstGeom prst="rect">
            <a:avLst/>
          </a:prstGeom>
        </p:spPr>
      </p:pic>
      <p:sp>
        <p:nvSpPr>
          <p:cNvPr id="17" name="Text 13"/>
          <p:cNvSpPr txBox="1"/>
          <p:nvPr/>
        </p:nvSpPr>
        <p:spPr>
          <a:xfrm>
            <a:off x="8275320" y="1371600"/>
            <a:ext cx="3200400" cy="274320"/>
          </a:xfrm>
          <a:prstGeom prst="rect">
            <a:avLst/>
          </a:prstGeom>
          <a:noFill/>
          <a:ln/>
        </p:spPr>
        <p:txBody>
          <a:bodyPr wrap="square" lIns="0" tIns="0" rIns="0" bIns="0" rtlCol="0" anchor="t"/>
          <a:lstStyle/>
          <a:p>
            <a:pPr indent="0" marL="0">
              <a:buNone/>
            </a:pPr>
            <a:r>
              <a:rPr lang="en-US" sz="1100" b="1" spc="100" kern="0" dirty="0">
                <a:solidFill>
                  <a:schemeClr val="accent2"/>
                </a:solidFill>
              </a:rPr>
              <a:t>CUSTOMER SEGMENTS</a:t>
            </a:r>
            <a:endParaRPr lang="en-US" sz="1100" dirty="0"/>
          </a:p>
        </p:txBody>
      </p:sp>
      <p:sp>
        <p:nvSpPr>
          <p:cNvPr id="18" name="Text 14"/>
          <p:cNvSpPr txBox="1"/>
          <p:nvPr/>
        </p:nvSpPr>
        <p:spPr>
          <a:xfrm>
            <a:off x="8275320" y="1691640"/>
            <a:ext cx="3200400" cy="2788920"/>
          </a:xfrm>
          <a:prstGeom prst="rect">
            <a:avLst/>
          </a:prstGeom>
          <a:noFill/>
          <a:ln/>
        </p:spPr>
        <p:txBody>
          <a:bodyPr wrap="square" lIns="0" tIns="0" rIns="0" bIns="0" rtlCol="0" anchor="t"/>
          <a:lstStyle/>
          <a:p>
            <a:pPr indent="0" marL="0">
              <a:buNone/>
            </a:pPr>
            <a:r>
              <a:rPr lang="en-US" sz="1600" dirty="0">
                <a:solidFill>
                  <a:schemeClr val="tx1"/>
                </a:solidFill>
              </a:rPr>
              <a:t>Multi-sided platform. First: university students looking for 3–5 roommates. Later: young professionals and landlords.</a:t>
            </a:r>
            <a:endParaRPr lang="en-US" sz="1600" dirty="0"/>
          </a:p>
        </p:txBody>
      </p:sp>
      <p:sp>
        <p:nvSpPr>
          <p:cNvPr id="19" name="RS block"/>
          <p:cNvSpPr/>
          <p:nvPr/>
        </p:nvSpPr>
        <p:spPr>
          <a:xfrm>
            <a:off x="548640" y="4709160"/>
            <a:ext cx="11109960" cy="1051560"/>
          </a:xfrm>
          <a:prstGeom prst="roundRect">
            <a:avLst>
              <a:gd name="adj" fmla="val 12174"/>
            </a:avLst>
          </a:prstGeom>
          <a:solidFill>
            <a:schemeClr val="bg1"/>
          </a:solidFill>
          <a:ln/>
        </p:spPr>
      </p:sp>
      <p:sp>
        <p:nvSpPr>
          <p:cNvPr id="20" name="Text 16"/>
          <p:cNvSpPr txBox="1"/>
          <p:nvPr/>
        </p:nvSpPr>
        <p:spPr>
          <a:xfrm>
            <a:off x="731520" y="4846320"/>
            <a:ext cx="10744200" cy="274320"/>
          </a:xfrm>
          <a:prstGeom prst="rect">
            <a:avLst/>
          </a:prstGeom>
          <a:noFill/>
          <a:ln/>
        </p:spPr>
        <p:txBody>
          <a:bodyPr wrap="square" lIns="0" tIns="0" rIns="0" bIns="0" rtlCol="0" anchor="t"/>
          <a:lstStyle/>
          <a:p>
            <a:pPr indent="0" marL="0">
              <a:buNone/>
            </a:pPr>
            <a:r>
              <a:rPr lang="en-US" sz="1100" b="1" spc="100" kern="0" dirty="0">
                <a:solidFill>
                  <a:schemeClr val="accent2"/>
                </a:solidFill>
              </a:rPr>
              <a:t>REVENUE STREAMS</a:t>
            </a:r>
            <a:endParaRPr lang="en-US" sz="1100" dirty="0"/>
          </a:p>
        </p:txBody>
      </p:sp>
      <p:sp>
        <p:nvSpPr>
          <p:cNvPr id="21" name="Text 17"/>
          <p:cNvSpPr txBox="1"/>
          <p:nvPr/>
        </p:nvSpPr>
        <p:spPr>
          <a:xfrm>
            <a:off x="731520" y="5166360"/>
            <a:ext cx="10744200" cy="502920"/>
          </a:xfrm>
          <a:prstGeom prst="rect">
            <a:avLst/>
          </a:prstGeom>
          <a:noFill/>
          <a:ln/>
        </p:spPr>
        <p:txBody>
          <a:bodyPr wrap="square" lIns="0" tIns="0" rIns="0" bIns="0" rtlCol="0" anchor="t"/>
          <a:lstStyle/>
          <a:p>
            <a:pPr indent="0" marL="0">
              <a:buNone/>
            </a:pPr>
            <a:r>
              <a:rPr lang="en-US" sz="1600" dirty="0">
                <a:solidFill>
                  <a:schemeClr val="tx1"/>
                </a:solidFill>
              </a:rPr>
              <a:t>Subscriptions: students $10 a month; landlords $15–20 a month later. 23 paying students a month cover launch costs.</a:t>
            </a:r>
            <a:endParaRPr lang="en-US" sz="1600" dirty="0"/>
          </a:p>
        </p:txBody>
      </p:sp>
      <p:sp>
        <p:nvSpPr>
          <p:cNvPr id="22" name="Text 18"/>
          <p:cNvSpPr txBox="1"/>
          <p:nvPr/>
        </p:nvSpPr>
        <p:spPr>
          <a:xfrm>
            <a:off x="8778240" y="5943600"/>
            <a:ext cx="2880360" cy="548640"/>
          </a:xfrm>
          <a:prstGeom prst="rect">
            <a:avLst/>
          </a:prstGeom>
          <a:noFill/>
          <a:ln/>
        </p:spPr>
        <p:txBody>
          <a:bodyPr wrap="square" lIns="0" tIns="0" rIns="0" bIns="0" rtlCol="0" anchor="ctr"/>
          <a:lstStyle/>
          <a:p>
            <a:pPr algn="r" indent="0" marL="0">
              <a:buNone/>
            </a:pPr>
            <a:r>
              <a:rPr lang="en-US" sz="2400" b="1" dirty="0">
                <a:solidFill>
                  <a:schemeClr val="accent6"/>
                </a:solidFill>
              </a:rPr>
              <a:t>Questions?</a:t>
            </a:r>
            <a:endParaRPr lang="en-US" sz="2400" dirty="0"/>
          </a:p>
        </p:txBody>
      </p:sp>
    </p:spTree>
  </p:cSld>
  <p:clrMapOvr>
    <a:masterClrMapping/>
  </p:clrMapOvr>
</p:sld>
</file>

<file path=ppt/theme/theme1.xml><?xml version="1.0" encoding="utf-8"?>
<a:theme xmlns:a="http://schemas.openxmlformats.org/drawingml/2006/main" name="RoomMatch">
  <a:themeElements>
    <a:clrScheme name="RoomMatch">
      <a:dk1>
        <a:srgbClr val="2B2B2B"/>
      </a:dk1>
      <a:lt1>
        <a:srgbClr val="FFFFFF"/>
      </a:lt1>
      <a:dk2>
        <a:srgbClr val="0F2557"/>
      </a:dk2>
      <a:lt2>
        <a:srgbClr val="D0D7DD"/>
      </a:lt2>
      <a:accent1>
        <a:srgbClr val="004AAD"/>
      </a:accent1>
      <a:accent2>
        <a:srgbClr val="8C52FF"/>
      </a:accent2>
      <a:accent3>
        <a:srgbClr val="D64545"/>
      </a:accent3>
      <a:accent4>
        <a:srgbClr val="23884F"/>
      </a:accent4>
      <a:accent5>
        <a:srgbClr val="56616B"/>
      </a:accent5>
      <a:accent6>
        <a:srgbClr val="5CE1E6"/>
      </a:accent6>
      <a:hlink>
        <a:srgbClr val="004AAD"/>
      </a:hlink>
      <a:folHlink>
        <a:srgbClr val="5E17EB"/>
      </a:folHlink>
    </a:clrScheme>
    <a:fontScheme name="RoomMatch">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RoomMatch – Business Model Canvas I (Customer side)</dc:title>
  <dc:subject>Entrepreneurship 2026–2027, Task 3</dc:subject>
  <dc:creator>Gulsevar Abdurasulova, Muqaddas Karamadinova, Ilhomjon Solijonov</dc:creator>
  <cp:lastModifiedBy>Gulsevar Abdurasulova, Muqaddas Karamadinova, Ilhomjon Solijonov</cp:lastModifiedBy>
  <cp:revision>1</cp:revision>
  <dcterms:created xsi:type="dcterms:W3CDTF">2026-10-14T15:27:08Z</dcterms:created>
  <dcterms:modified xsi:type="dcterms:W3CDTF">2026-10-14T15:27:08Z</dcterms:modified>
</cp:coreProperties>
</file>